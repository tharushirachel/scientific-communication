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2"/>
  </p:notesMasterIdLst>
  <p:handoutMasterIdLst>
    <p:handoutMasterId r:id="rId93"/>
  </p:handoutMasterIdLst>
  <p:sldIdLst>
    <p:sldId id="256" r:id="rId2"/>
    <p:sldId id="368" r:id="rId3"/>
    <p:sldId id="298" r:id="rId4"/>
    <p:sldId id="311" r:id="rId5"/>
    <p:sldId id="313" r:id="rId6"/>
    <p:sldId id="269" r:id="rId7"/>
    <p:sldId id="503" r:id="rId8"/>
    <p:sldId id="525" r:id="rId9"/>
    <p:sldId id="487" r:id="rId10"/>
    <p:sldId id="513" r:id="rId11"/>
    <p:sldId id="258" r:id="rId12"/>
    <p:sldId id="500" r:id="rId13"/>
    <p:sldId id="526" r:id="rId14"/>
    <p:sldId id="330" r:id="rId15"/>
    <p:sldId id="259" r:id="rId16"/>
    <p:sldId id="501" r:id="rId17"/>
    <p:sldId id="260" r:id="rId18"/>
    <p:sldId id="502" r:id="rId19"/>
    <p:sldId id="261" r:id="rId20"/>
    <p:sldId id="514" r:id="rId21"/>
    <p:sldId id="488" r:id="rId22"/>
    <p:sldId id="270" r:id="rId23"/>
    <p:sldId id="271" r:id="rId24"/>
    <p:sldId id="262" r:id="rId25"/>
    <p:sldId id="504" r:id="rId26"/>
    <p:sldId id="314" r:id="rId27"/>
    <p:sldId id="534" r:id="rId28"/>
    <p:sldId id="515" r:id="rId29"/>
    <p:sldId id="338" r:id="rId30"/>
    <p:sldId id="535" r:id="rId31"/>
    <p:sldId id="343" r:id="rId32"/>
    <p:sldId id="344" r:id="rId33"/>
    <p:sldId id="486" r:id="rId34"/>
    <p:sldId id="516" r:id="rId35"/>
    <p:sldId id="527" r:id="rId36"/>
    <p:sldId id="506" r:id="rId37"/>
    <p:sldId id="346" r:id="rId38"/>
    <p:sldId id="301" r:id="rId39"/>
    <p:sldId id="528" r:id="rId40"/>
    <p:sldId id="332" r:id="rId41"/>
    <p:sldId id="496" r:id="rId42"/>
    <p:sldId id="507" r:id="rId43"/>
    <p:sldId id="277" r:id="rId44"/>
    <p:sldId id="494" r:id="rId45"/>
    <p:sldId id="518" r:id="rId46"/>
    <p:sldId id="519" r:id="rId47"/>
    <p:sldId id="299" r:id="rId48"/>
    <p:sldId id="495" r:id="rId49"/>
    <p:sldId id="529" r:id="rId50"/>
    <p:sldId id="499" r:id="rId51"/>
    <p:sldId id="308" r:id="rId52"/>
    <p:sldId id="333" r:id="rId53"/>
    <p:sldId id="334" r:id="rId54"/>
    <p:sldId id="335" r:id="rId55"/>
    <p:sldId id="336" r:id="rId56"/>
    <p:sldId id="536" r:id="rId57"/>
    <p:sldId id="339" r:id="rId58"/>
    <p:sldId id="340" r:id="rId59"/>
    <p:sldId id="407" r:id="rId60"/>
    <p:sldId id="281" r:id="rId61"/>
    <p:sldId id="530" r:id="rId62"/>
    <p:sldId id="316" r:id="rId63"/>
    <p:sldId id="520" r:id="rId64"/>
    <p:sldId id="509" r:id="rId65"/>
    <p:sldId id="533" r:id="rId66"/>
    <p:sldId id="291" r:id="rId67"/>
    <p:sldId id="292" r:id="rId68"/>
    <p:sldId id="293" r:id="rId69"/>
    <p:sldId id="294" r:id="rId70"/>
    <p:sldId id="521" r:id="rId71"/>
    <p:sldId id="531" r:id="rId72"/>
    <p:sldId id="295" r:id="rId73"/>
    <p:sldId id="524" r:id="rId74"/>
    <p:sldId id="342" r:id="rId75"/>
    <p:sldId id="537" r:id="rId76"/>
    <p:sldId id="318" r:id="rId77"/>
    <p:sldId id="296" r:id="rId78"/>
    <p:sldId id="322" r:id="rId79"/>
    <p:sldId id="319" r:id="rId80"/>
    <p:sldId id="317" r:id="rId81"/>
    <p:sldId id="511" r:id="rId82"/>
    <p:sldId id="532" r:id="rId83"/>
    <p:sldId id="304" r:id="rId84"/>
    <p:sldId id="512" r:id="rId85"/>
    <p:sldId id="320" r:id="rId86"/>
    <p:sldId id="323" r:id="rId87"/>
    <p:sldId id="324" r:id="rId88"/>
    <p:sldId id="325" r:id="rId89"/>
    <p:sldId id="326" r:id="rId90"/>
    <p:sldId id="327" r:id="rId9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FF"/>
    <a:srgbClr val="66CC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744816B-3E93-A619-59C1-B1363DF92E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908B5DF-EC04-4602-5174-4793E9E0AA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2E24FD4-9420-4448-9D00-470A3264A9BA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053C972C-8255-7A37-0742-FB57FA0A1B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77E4C7A8-00E6-FED3-2F95-B6BA0F3860D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fld id="{D8A37D39-0D13-4553-B2C0-AE71070497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5T09:49:27.3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5087 240,'-52'-25,"0"1,-2 3,0 2,-1 2,-101-16,-444-56,532 82,0 2,-96 7,46 0,-2449-2,2523 3,1 1,-79 20,64-12,-1 1,28-5,-2-2,1-1,-46 1,23-7,3 0,-101 10,139-7,0 0,0 2,0-1,1 1,-1 1,1 1,0 0,1 0,0 2,0-1,0 1,-11 11,18-14,0 0,0 1,1 0,0 0,0 1,0-1,1 1,0 0,-3 10,-1 7,-5 38,9-41,-1 0,-11 31,-20 73,31-109,-1 3,2 0,0 1,1-1,0 1,2-1,0 1,2 0,0-1,1 1,1-1,0 0,2 0,0 0,1-1,1 0,1-1,16 26,2-4,-19-26,0 0,1-1,1 0,0 0,0-1,1-1,0 1,1-2,20 13,-2-4,-21-12,-1-1,1 0,0-1,0 0,0 0,1-1,14 4,46-1,-1-3,75-5,-21-1,1824 3,-1732-16,-109 6,2-1,131-5,-214 15,0-1,33-8,-30 5,42-3,42 8,-48 0,-1-2,68-11,-89 8,0 2,51 2,18-1,-18-12,-45 5,-20 3,51-18,-31 9,17 0,-44 12,-1-2,25-8,19-6,-50 16,0-1,0 0,0-1,-1 0,16-10,44-19,-57 27,0 0,-1 0,0-2,18-11,-26 14,-1 0,1-1,-1 0,0 0,-1 0,1-1,-1 0,-1 0,0 0,5-11,0-10,12-54,-15 51,12-32,-14 53,-1-1,0 0,1-15,-2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5T09:49:35.3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580 201,'-3'0,"0"1,-1 0,1 0,0 0,0 1,0-1,0 1,0 0,0 0,0 0,-4 4,-8 4,-124 57,94-47,-21 7,49-22,0 1,1 1,-1 1,2 0,-1 1,1 1,-14 11,25-17,-16 13,1 2,-26 31,40-43,0 0,0 0,1 1,0 0,0 0,1 0,0 0,1 0,-1 1,2-1,-2 16,1 18,7 74,-4-111,0-1,0 1,1 0,-1-1,1 1,0-1,0 0,1 0,-1 0,1 0,0 0,0 0,0-1,1 1,-1-1,1 0,0 0,0 0,4 2,11 6,1-2,0 0,22 7,16 7,-12 1,-16-8,2-1,38 13,-7-4,-44-16,0 0,40 8,44 8,22 4,-113-26,64 9,113 4,-54-17,127 3,-148 11,49 3,-86-14,86 13,-41-3,198-9,-151-4,23 0,213 4,-255 11,42 0,-111-12,225 13,-182-2,30 3,65 11,-144-18,1-4,85-5,42 0,-86 14,-72-6,59 0,-73-7,-1-2,0 0,0-2,0-2,-1 0,0-2,0-1,-1-2,0 0,-1-2,50-32,-40 18,-22 14,1 1,1 0,27-13,-34 19,0-1,0 0,-1 0,1-1,-2 0,1-1,-1 0,7-11,16-15,-22 24,-1 1,0-1,-1 0,0-1,-1 0,0 0,-1-1,0 1,-1-1,0 0,3-25,-2-8,-2 0,-2-50,-2 69,1 15,0 0,-1 0,-1 1,0-1,0 0,-1 1,-8-20,8 24,-1 1,0 0,0 0,0 0,-1 0,0 1,0 0,0 0,-1 0,1 0,-1 1,0 0,-13-6,-42-17,-1 2,-81-20,90 32,-106-9,106 17,1-3,-66-17,50 1,50 17,-1 0,1 1,-1 1,0 1,0 0,-28-1,-11 2,-98-19,97 12,-96-5,-804 14,439 3,482-4,-56-10,56 6,-52-1,-506 8,567-3,1 0,-29-7,27 3,-47-2,-140-5,-17-1,-128-16,361 29,-366-35,360 35,0 1,0 0,0 0,0 0,-1 1,1 0,0 1,1 0,-1 0,0 0,0 1,1 0,0 0,-1 1,1-1,0 1,1 1,-1-1,-8 11,1 0,-1 1,-25 20,22-21,1 0,-14 19,16-19,-2-3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5T09:49:45.8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579 81,'-11'1,"0"2,0-1,0 1,1 1,-1 0,1 1,0 0,0 0,-10 8,-7 2,23-13,-25 13,0 2,1 0,-39 33,66-49,-27 24,-28 32,48-47,0 0,1 0,0 0,1 1,0 0,1 1,-6 16,-2 7,-17 35,-11 27,29-57,1 0,2 0,2 1,1 0,1 62,4-62,-1-8,2-1,1 0,2 1,1-1,13 48,-6-38,11 81,-18-89,2-1,1 0,1 0,16 40,25 22,-8-19,14 21,-46-82,2 0,-1 0,2-1,0-1,0 0,26 20,-6-4,-23-22,0 0,1 0,0-1,0 0,0 0,12 3,72 23,-37-13,39 13,1-4,155 24,-184-39,-1 4,78 28,-126-39,0-1,1-1,0-1,28 1,83-6,-50-1,126-14,-124 7,126-16,-122 15,71-4,36 2,23-1,-38 2,-11 0,-64 9,267-11,-150 3,49-4,126 7,-63 5,-212-10,41-1,484 15,-610-3,54-9,15-1,-52 9,63-11,-49 6,1 3,117 6,-65 1,-78-2,0-2,67-12,-50 6,-47 7,1 0,-1-1,1 0,-1-1,0-1,0 0,0 0,0-1,-1-1,16-9,252-193,-260 191,-1 0,0-1,20-27,0 0,-29 35,-1-1,0 0,0 0,-1 0,-1-1,0 0,7-19,-6 5,0 0,4-45,-1 15,-7 43,0-1,-1 1,-1-1,0 1,-1-1,0 1,-1-1,-4-17,-5-11,-2 0,-1 1,-3 1,-40-75,36 77,-17-44,24 49,-2 1,-30-49,26 54,-6-12,-2 1,-2 1,-49-47,33 40,30 28,-1 1,0 0,-1 1,0 1,-34-18,-42-20,48 26,-52-22,-4 1,70 30,0 1,-1 2,-66-17,66 23,-9-2,0 2,-79-4,-587 13,685-2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0:24:48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1774 24575,'-1'0'0,"0"0"0,0-1 0,-1 1 0,1 0 0,0-1 0,0 0 0,0 1 0,0-1 0,0 1 0,0-1 0,0 0 0,1 0 0,-1 0 0,0 1 0,0-1 0,1 0 0,-1 0 0,0 0 0,1 0 0,-1 0 0,1 0 0,-1 0 0,1-1 0,-1 1 0,1 0 0,0 0 0,0 0 0,0 0 0,-1 0 0,1-1 0,0 1 0,0 0 0,1 0 0,-1-2 0,4-44 0,-3 45 0,4-24 0,2 0 0,1 1 0,21-49 0,-21 52 0,-1 1 0,9-45 0,5-20 0,11-16 0,-14 42 0,37-86 0,-29 85 0,30-112 0,-42 125 0,-7 27 0,2 1 0,15-29 0,-13 28 0,14-37 0,-14 30 0,2 0 0,16-26 0,2-5 0,0-6 0,-2 1 0,40-62 0,-56 103-316,-2 0 0,0-1 0,12-43 0,-22 65 215,6-22-6725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0:24:54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24351,'1269'226'0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0:27:30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0:27:31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0 24575,'-5'5'0,"-1"6"0,-5 1 0,0 4 0,-3-1 0,-4 1 0,-4-1 0,-3 1 0,-2 3 0,-6 3 0,-2-3 0,5-4-8191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0:27:35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24575,'0'-5'0,"5"-1"0,6 0 0,7 1 0,4 2 0,3 0 0,3 7 0,1 7 0,1 6 0,-1 5 0,-4 0 0,-7-5-8191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0T09:34:29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0T09:34:3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6BD5C98-1FEC-8A21-29CE-3AFF362B11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BE92400-3BAE-72D1-0DF8-66BDFEE41B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48A27CE-4A4A-F912-4A88-12E4411B40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BC6DCB73-76BB-0BBD-E627-E4B965CF4A8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B8F9A773-5FC3-84EB-4CB3-4F135E9219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59FBF041-6928-B0A1-3984-AC3FE6617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A617E48E-F66B-40A2-9D4B-0868E29F34A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FCB9C2D-801F-E9BC-5910-8B181220D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E578E15-DC0D-8708-223C-9AD3F4EA7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B743521B-CACB-0F48-8A41-537CE86DB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BE1A49-B2BD-4ECC-84CC-722BF99A6442}" type="slidenum">
              <a:rPr lang="en-GB" altLang="en-US" smtClean="0"/>
              <a:pPr>
                <a:spcBef>
                  <a:spcPct val="0"/>
                </a:spcBef>
              </a:pPr>
              <a:t>11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F8637F1-99CF-1DA0-8696-85B90028C8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153C1E2F-8E9C-D028-D565-3FC9295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14B7744-8E88-FC30-DC85-4107F693C8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1626CC-1A73-4F23-86AD-1AE35480B1E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F02F8A0E-CFF0-345C-5072-EF53EFCAF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29B750FE-6A3F-537C-A1D7-6673F5399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CA6BAEE7-7786-04AA-33B3-297A280C57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AFF82EB-A091-447D-AF43-A1690AC97035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ED49EA7E-5CE0-15D1-C8EC-27AF488410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635D3CB2-AD05-BD79-815C-6D89BF25F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664922E6-6C35-1442-EA9D-E0D5AD9D3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77CDDDB-7035-4202-A322-C351754E2097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C5455AB8-5AC6-C819-3709-4E9E0AF4E5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C672DDDB-24B6-7DAC-0A96-B279BC87F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FF6322C4-A062-4D65-3B66-59C8E7773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EE9160A-6ED1-4CA6-9AE3-7C9F96D08707}" type="slidenum">
              <a:rPr lang="en-GB" altLang="en-US" smtClean="0"/>
              <a:pPr/>
              <a:t>55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CF457A00-D907-17DC-63B0-2287FE9E0E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010A8639-1EBA-5491-2B76-653F971DC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B3D211BE-465C-5286-9C30-E50BD91E44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0F19F9-3367-4788-83EE-6B469E21C475}" type="slidenum">
              <a:rPr lang="en-GB" altLang="en-US" smtClean="0"/>
              <a:pPr/>
              <a:t>60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17E48E-F66B-40A2-9D4B-0868E29F34A0}" type="slidenum">
              <a:rPr lang="en-GB" altLang="en-US" smtClean="0"/>
              <a:pPr>
                <a:defRPr/>
              </a:pPr>
              <a:t>62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9688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8C717520-162E-37C4-3676-E4221B08F4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7C04250F-26B9-379C-F216-F16C69513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A1161C38-08F4-6000-E8AD-07E020A27F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E0E91A1-9479-4349-953A-F2F92D413353}" type="slidenum">
              <a:rPr lang="en-GB" altLang="en-US" smtClean="0"/>
              <a:pPr/>
              <a:t>78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37C30226-73B1-314D-6EDB-119B74CA8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8017AA63-2594-6775-7EC1-BC09430BA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308" name="Slide Number Placeholder 3">
            <a:extLst>
              <a:ext uri="{FF2B5EF4-FFF2-40B4-BE49-F238E27FC236}">
                <a16:creationId xmlns:a16="http://schemas.microsoft.com/office/drawing/2014/main" id="{1005509D-9115-2625-2C5F-128F3DE1B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4DEED7-3E0C-46E4-8991-33FEDD3A31F2}" type="slidenum">
              <a:rPr lang="en-GB" altLang="en-US" smtClean="0"/>
              <a:pPr/>
              <a:t>86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879EB38-B266-E39C-4E38-8FD50C21E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758A36E6-E493-6A43-D266-9AE27F604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A56632-3BE7-B102-7360-1E97CD62E6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3727E-8E72-34DA-8EED-BE5758549B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159B37-F545-7641-1A08-EF9E3143D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A18AA-D54C-4964-A468-AC67F7C615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627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CE4B20-BF1F-6E7B-B410-714359D071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899826-F732-86FB-247B-18C49E164F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7885D5-D5B8-94BD-17FB-3066D9254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09B37-8DF3-4B1C-B2AC-1043F89F8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81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1CDD1F-A82F-9CC5-450A-A7DF557C9A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E80A9E-326A-3146-FB0A-913E3F45C6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3A8CF1-9650-11B1-7357-79C263F14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C295E-613C-4532-9C62-5ECD844A99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67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F2DD8-AB98-F80B-F6A4-59F6B4011C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22819-9272-C4A3-BE14-E3C5289A85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53A5D-6BA4-5ECB-AEBC-CE1184270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59180-B0B1-4FE8-90DD-AAFF60BFB8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66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1A1167-D289-8197-5967-A7E29B814B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064C02-7494-8328-DFDF-FDAEFB3FF3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45AF2D4-C470-25A7-B4B7-815974C0C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20E15-4454-4461-94E6-13AF604DB8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32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50861BB-7E71-26AC-A116-28375756E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16E3F0-FEDC-58FB-0E43-3CC909B2AD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E0DB6F-5E34-A25C-6498-D5FF3F9C6C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01A5D-030E-4F9B-808B-0E73867BA5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74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852C6C6-8DEB-E38A-67E0-DDB5BF1143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2B9CD8-C9C7-4609-E3ED-67565508FE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D31C312-02B7-2968-F6D7-E23E7A4C9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E1D9F9-B290-46B1-B7A4-364D07E0CB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90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E9936-AC2D-879D-34EB-AB8F630003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F19721-21FC-5FDB-A9B9-F622C5945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F4E12-F563-626B-EC35-CE252DEF11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08205-0E36-468F-9F6C-714636F918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76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B48F58-AFE5-4C6D-AB67-BCBA7E495D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EBF0A2-B95F-8360-B495-9AABB789D8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9075B-7F67-1F55-3B00-683AD3A0F7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9A6AA-BED1-4117-A17A-6EA02DF9A0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36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A710CE-DF5E-3D62-A82D-E10962B91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115E21-5370-722E-A366-6BC2FA785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BA69F2-D608-0AE1-A189-12BA2A81A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AFDB4-811A-45A2-8832-617969FE73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9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44E270-0489-44C1-E31F-E2F7BB5C31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D9C971-03F1-0894-3946-B28248FE13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8A7DD5-254D-BEBE-4CD9-13660F523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C5A8F-DE20-4BF5-AAB0-EE4EB41751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20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2AB6F60-7F6A-1A2C-64F9-1E5AE33AD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02F7A6-5760-5CB9-FC88-7018B1F7E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5E13689A-57AE-B19E-CAFC-83D963CBC3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280F2185-9901-4BD5-0067-A15B7200FA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603ADD03-8B34-6E97-EF9B-51805D167D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6E0C0BB5-6174-4517-9D67-5EA70E7968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5056D764-78E8-A713-238B-4A1CB0782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87463AE5-0506-1CBB-39EE-E186C9128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0" r:id="rId1"/>
    <p:sldLayoutId id="2147484590" r:id="rId2"/>
    <p:sldLayoutId id="2147484591" r:id="rId3"/>
    <p:sldLayoutId id="2147484592" r:id="rId4"/>
    <p:sldLayoutId id="2147484593" r:id="rId5"/>
    <p:sldLayoutId id="2147484594" r:id="rId6"/>
    <p:sldLayoutId id="2147484595" r:id="rId7"/>
    <p:sldLayoutId id="2147484596" r:id="rId8"/>
    <p:sldLayoutId id="2147484597" r:id="rId9"/>
    <p:sldLayoutId id="2147484598" r:id="rId10"/>
    <p:sldLayoutId id="21474845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praweb.lib.uom.lk/" TargetMode="External"/><Relationship Id="rId2" Type="http://schemas.openxmlformats.org/officeDocument/2006/relationships/hyperlink" Target="https://www.youtube.com/watch?v=FNcjyrZuP_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openxmlformats.org/officeDocument/2006/relationships/customXml" Target="../ink/ink7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11.png"/><Relationship Id="rId10" Type="http://schemas.openxmlformats.org/officeDocument/2006/relationships/customXml" Target="../ink/ink6.xml"/><Relationship Id="rId9" Type="http://schemas.openxmlformats.org/officeDocument/2006/relationships/image" Target="../media/image8.png"/><Relationship Id="rId14" Type="http://schemas.openxmlformats.org/officeDocument/2006/relationships/customXml" Target="../ink/ink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0.xml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A251328-67C6-1935-64D4-E550A337C7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151891"/>
            <a:ext cx="8991600" cy="1470025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B050"/>
                </a:solidFill>
              </a:rPr>
              <a:t>IT 5913 – Scientific </a:t>
            </a:r>
            <a:r>
              <a:rPr lang="en-US" altLang="en-US" sz="4000" b="1" dirty="0">
                <a:solidFill>
                  <a:srgbClr val="00B050"/>
                </a:solidFill>
                <a:highlight>
                  <a:srgbClr val="FFFF00"/>
                </a:highlight>
              </a:rPr>
              <a:t>Communication</a:t>
            </a:r>
            <a:br>
              <a:rPr lang="en-US" altLang="en-US" b="1" dirty="0">
                <a:solidFill>
                  <a:srgbClr val="00B050"/>
                </a:solidFill>
              </a:rPr>
            </a:br>
            <a:r>
              <a:rPr lang="en-US" altLang="en-US" sz="2000" b="1" dirty="0">
                <a:solidFill>
                  <a:srgbClr val="00B050"/>
                </a:solidFill>
                <a:highlight>
                  <a:srgbClr val="FFFF00"/>
                </a:highlight>
              </a:rPr>
              <a:t>Problem + Solution </a:t>
            </a:r>
            <a:endParaRPr lang="en-US" altLang="en-US" b="1"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BF6ABB5-F967-01D5-8EFF-D410573034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7772400" cy="2743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Prof. Asoka S. Karunananda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Senior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Department of Computational Mathematics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3333FF"/>
                </a:solidFill>
              </a:rPr>
              <a:t>MSC/AI-B18                                               2026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900" dirty="0">
                <a:solidFill>
                  <a:srgbClr val="3333FF"/>
                </a:solidFill>
              </a:rPr>
              <a:t>                                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F7B743-2306-E3E8-9608-1936BD73D61E}"/>
              </a:ext>
            </a:extLst>
          </p:cNvPr>
          <p:cNvSpPr/>
          <p:nvPr/>
        </p:nvSpPr>
        <p:spPr>
          <a:xfrm>
            <a:off x="4876800" y="5791200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</a:t>
            </a:r>
          </a:p>
          <a:p>
            <a:pPr algn="ctr">
              <a:defRPr/>
            </a:pPr>
            <a:r>
              <a:rPr lang="en-US" sz="1400" dirty="0"/>
              <a:t>21/06/2026</a:t>
            </a:r>
          </a:p>
        </p:txBody>
      </p:sp>
      <p:sp>
        <p:nvSpPr>
          <p:cNvPr id="5125" name="TextBox 2">
            <a:extLst>
              <a:ext uri="{FF2B5EF4-FFF2-40B4-BE49-F238E27FC236}">
                <a16:creationId xmlns:a16="http://schemas.microsoft.com/office/drawing/2014/main" id="{881DA177-0EC3-2213-77EC-1956F463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9583" y="1730276"/>
            <a:ext cx="3929345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Einstein</a:t>
            </a:r>
          </a:p>
          <a:p>
            <a:r>
              <a:rPr lang="en-US" altLang="en-US" dirty="0"/>
              <a:t>Galileo (data collection)</a:t>
            </a:r>
          </a:p>
          <a:p>
            <a:r>
              <a:rPr lang="en-US" altLang="en-US" dirty="0"/>
              <a:t>Leibniz (calculus)</a:t>
            </a:r>
          </a:p>
          <a:p>
            <a:endParaRPr lang="en-US" altLang="en-US" sz="1200" dirty="0"/>
          </a:p>
          <a:p>
            <a:r>
              <a:rPr lang="en-US" altLang="en-US" dirty="0">
                <a:solidFill>
                  <a:srgbClr val="0070C0"/>
                </a:solidFill>
              </a:rPr>
              <a:t>Newton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Bertrand Russell (How I write)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Steven Harkin (Brief History of Time)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Richard Fayman (science/math)</a:t>
            </a:r>
          </a:p>
        </p:txBody>
      </p:sp>
      <p:sp>
        <p:nvSpPr>
          <p:cNvPr id="5126" name="TextBox 2">
            <a:extLst>
              <a:ext uri="{FF2B5EF4-FFF2-40B4-BE49-F238E27FC236}">
                <a16:creationId xmlns:a16="http://schemas.microsoft.com/office/drawing/2014/main" id="{D055A774-9925-446A-27B3-1DFFBFDCE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1524000"/>
            <a:ext cx="328771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FF00"/>
                </a:solidFill>
              </a:rPr>
              <a:t>Powerful nations are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the authority of </a:t>
            </a:r>
            <a:r>
              <a:rPr lang="en-US" altLang="en-US" dirty="0">
                <a:solidFill>
                  <a:srgbClr val="FFFF00"/>
                </a:solidFill>
                <a:highlight>
                  <a:srgbClr val="FF00FF"/>
                </a:highlight>
              </a:rPr>
              <a:t>knowledge</a:t>
            </a:r>
          </a:p>
          <a:p>
            <a:pPr lvl="1"/>
            <a:r>
              <a:rPr lang="en-US" altLang="en-US" dirty="0">
                <a:solidFill>
                  <a:srgbClr val="FFFF00"/>
                </a:solidFill>
              </a:rPr>
              <a:t>We generate </a:t>
            </a:r>
          </a:p>
          <a:p>
            <a:pPr lvl="1"/>
            <a:r>
              <a:rPr lang="en-US" altLang="en-US" dirty="0">
                <a:solidFill>
                  <a:srgbClr val="FFFF00"/>
                </a:solidFill>
              </a:rPr>
              <a:t>knowledge(money/power)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       through research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">
            <a:extLst>
              <a:ext uri="{FF2B5EF4-FFF2-40B4-BE49-F238E27FC236}">
                <a16:creationId xmlns:a16="http://schemas.microsoft.com/office/drawing/2014/main" id="{645D6EFB-8608-BAAE-7E3B-AF9F7F537318}"/>
              </a:ext>
            </a:extLst>
          </p:cNvPr>
          <p:cNvSpPr>
            <a:spLocks/>
          </p:cNvSpPr>
          <p:nvPr/>
        </p:nvSpPr>
        <p:spPr bwMode="auto">
          <a:xfrm>
            <a:off x="609600" y="838200"/>
            <a:ext cx="7924800" cy="4838700"/>
          </a:xfrm>
          <a:custGeom>
            <a:avLst/>
            <a:gdLst>
              <a:gd name="T0" fmla="*/ 0 w 15012384"/>
              <a:gd name="T1" fmla="*/ 0 h 8369404"/>
              <a:gd name="T2" fmla="*/ 1159 w 15012384"/>
              <a:gd name="T3" fmla="*/ 0 h 8369404"/>
              <a:gd name="T4" fmla="*/ 1159 w 15012384"/>
              <a:gd name="T5" fmla="*/ 1379 h 8369404"/>
              <a:gd name="T6" fmla="*/ 0 w 15012384"/>
              <a:gd name="T7" fmla="*/ 1379 h 8369404"/>
              <a:gd name="T8" fmla="*/ 0 w 15012384"/>
              <a:gd name="T9" fmla="*/ 0 h 83694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012384" h="8369404">
                <a:moveTo>
                  <a:pt x="0" y="0"/>
                </a:moveTo>
                <a:lnTo>
                  <a:pt x="15012384" y="0"/>
                </a:lnTo>
                <a:lnTo>
                  <a:pt x="15012384" y="8369404"/>
                </a:lnTo>
                <a:lnTo>
                  <a:pt x="0" y="836940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73243-F4BE-0D08-6FC5-FE6ADF8114EB}"/>
              </a:ext>
            </a:extLst>
          </p:cNvPr>
          <p:cNvSpPr txBox="1"/>
          <p:nvPr/>
        </p:nvSpPr>
        <p:spPr>
          <a:xfrm>
            <a:off x="9448800" y="1600200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Reading comprehension</a:t>
            </a:r>
          </a:p>
          <a:p>
            <a:r>
              <a:rPr lang="en-US" dirty="0">
                <a:solidFill>
                  <a:srgbClr val="FFFF00"/>
                </a:solidFill>
              </a:rPr>
              <a:t>Synthesize an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D9F4F3D-819D-E699-AF29-9318C5139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Resource required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D272A-BBE2-41B7-7B49-00B4F0B58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417638"/>
            <a:ext cx="8991600" cy="4525962"/>
          </a:xfrm>
        </p:spPr>
        <p:txBody>
          <a:bodyPr/>
          <a:lstStyle/>
          <a:p>
            <a:pPr eaLnBrk="1" hangingPunct="1"/>
            <a:r>
              <a:rPr lang="en-GB" altLang="en-US">
                <a:solidFill>
                  <a:srgbClr val="0070C0"/>
                </a:solidFill>
              </a:rPr>
              <a:t>Artificial Intelligence (</a:t>
            </a:r>
            <a:r>
              <a:rPr lang="si-LK" altLang="en-US">
                <a:solidFill>
                  <a:srgbClr val="0070C0"/>
                </a:solidFill>
              </a:rPr>
              <a:t>බුද්ධිමය යාන්ත්‍ර විද්‍යාව)</a:t>
            </a:r>
            <a:r>
              <a:rPr lang="en-GB" altLang="en-US">
                <a:solidFill>
                  <a:srgbClr val="0070C0"/>
                </a:solidFill>
              </a:rPr>
              <a:t> </a:t>
            </a:r>
            <a:r>
              <a:rPr lang="en-GB" altLang="en-US">
                <a:solidFill>
                  <a:srgbClr val="0070C0"/>
                </a:solidFill>
                <a:hlinkClick r:id="rId2"/>
              </a:rPr>
              <a:t>https://www.youtube.com/watch?v=FNcjyrZuP_0</a:t>
            </a:r>
            <a:endParaRPr lang="en-GB" altLang="en-US">
              <a:solidFill>
                <a:srgbClr val="0070C0"/>
              </a:solidFill>
            </a:endParaRPr>
          </a:p>
          <a:p>
            <a:pPr eaLnBrk="1" hangingPunct="1"/>
            <a:r>
              <a:rPr lang="en-GB" altLang="en-US">
                <a:solidFill>
                  <a:srgbClr val="FF0000"/>
                </a:solidFill>
              </a:rPr>
              <a:t>How to write your thesis, by Asoka Karunananda</a:t>
            </a:r>
            <a:endParaRPr lang="si-LK" altLang="en-US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How to Research, Asoka Karunananda</a:t>
            </a:r>
            <a:endParaRPr lang="en-GB" altLang="en-US">
              <a:solidFill>
                <a:srgbClr val="0070C0"/>
              </a:solidFill>
            </a:endParaRPr>
          </a:p>
          <a:p>
            <a:pPr eaLnBrk="1" hangingPunct="1"/>
            <a:r>
              <a:rPr lang="en-GB" altLang="en-US">
                <a:solidFill>
                  <a:srgbClr val="FF0000"/>
                </a:solidFill>
              </a:rPr>
              <a:t>InPRAWeb (</a:t>
            </a:r>
            <a:r>
              <a:rPr lang="en-GB" altLang="en-US">
                <a:solidFill>
                  <a:srgbClr val="FF0000"/>
                </a:solidFill>
                <a:hlinkClick r:id="rId3"/>
              </a:rPr>
              <a:t>https://inpraweb.lib.uom.lk/</a:t>
            </a:r>
            <a:r>
              <a:rPr lang="en-GB" altLang="en-US">
                <a:solidFill>
                  <a:srgbClr val="FF0000"/>
                </a:solidFill>
              </a:rPr>
              <a:t>)</a:t>
            </a:r>
          </a:p>
          <a:p>
            <a:pPr eaLnBrk="1" hangingPunct="1"/>
            <a:endParaRPr lang="en-GB" altLang="en-US">
              <a:solidFill>
                <a:srgbClr val="FF0000"/>
              </a:solidFill>
            </a:endParaRPr>
          </a:p>
          <a:p>
            <a:pPr eaLnBrk="1" hangingPunct="1"/>
            <a:endParaRPr lang="en-GB" altLang="en-US">
              <a:solidFill>
                <a:srgbClr val="3333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EE1A930-1DAB-3EB5-9BF8-A024C4614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Overview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C1557FB-9281-79D8-CF2C-2BB9D891C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FF3300"/>
                </a:solidFill>
              </a:rPr>
              <a:t>Introduction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Means of Communication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Elements of  a language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Some questions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FF3300"/>
                </a:solidFill>
                <a:highlight>
                  <a:srgbClr val="FFFF00"/>
                </a:highlight>
              </a:rPr>
              <a:t>Reading</a:t>
            </a:r>
            <a:r>
              <a:rPr lang="en-US" altLang="en-US" sz="2300" dirty="0">
                <a:solidFill>
                  <a:srgbClr val="FF3300"/>
                </a:solidFill>
              </a:rPr>
              <a:t> (Literature Review)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Getting into writing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FF3300"/>
                </a:solidFill>
                <a:highlight>
                  <a:srgbClr val="FFFF00"/>
                </a:highlight>
              </a:rPr>
              <a:t>Writing </a:t>
            </a:r>
            <a:r>
              <a:rPr lang="en-US" altLang="en-US" sz="2300" dirty="0">
                <a:solidFill>
                  <a:srgbClr val="FF3300"/>
                </a:solidFill>
              </a:rPr>
              <a:t>(Proposal/Report/Thesis/Papers)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  <a:highlight>
                  <a:srgbClr val="FFFF00"/>
                </a:highlight>
              </a:rPr>
              <a:t>Types of writing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  <a:highlight>
                  <a:srgbClr val="FFFF00"/>
                </a:highlight>
              </a:rPr>
              <a:t>Walk through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FF3300"/>
                </a:solidFill>
              </a:rPr>
              <a:t>Presentations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Structure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Contents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300" dirty="0">
                <a:solidFill>
                  <a:srgbClr val="FF3300"/>
                </a:solidFill>
              </a:rPr>
              <a:t>Viva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Key points to emphasize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Depending yourself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2300" dirty="0">
              <a:solidFill>
                <a:srgbClr val="3333FF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800" dirty="0">
              <a:solidFill>
                <a:srgbClr val="3333F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800" dirty="0"/>
          </a:p>
        </p:txBody>
      </p:sp>
      <p:sp>
        <p:nvSpPr>
          <p:cNvPr id="7172" name="TextBox 1">
            <a:extLst>
              <a:ext uri="{FF2B5EF4-FFF2-40B4-BE49-F238E27FC236}">
                <a16:creationId xmlns:a16="http://schemas.microsoft.com/office/drawing/2014/main" id="{A84A690D-0FB5-B359-5FA2-68EADEE6A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1066800"/>
            <a:ext cx="344203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FF00"/>
                </a:solidFill>
              </a:rPr>
              <a:t>ACM/IEEE Computing curricula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CS, CE, IS, IT, </a:t>
            </a:r>
            <a:r>
              <a:rPr lang="en-US" altLang="en-US" dirty="0">
                <a:solidFill>
                  <a:srgbClr val="FFFF00"/>
                </a:solidFill>
                <a:highlight>
                  <a:srgbClr val="FF00FF"/>
                </a:highlight>
              </a:rPr>
              <a:t>SE</a:t>
            </a:r>
            <a:r>
              <a:rPr lang="en-US" altLang="en-US" dirty="0">
                <a:solidFill>
                  <a:srgbClr val="FFFF00"/>
                </a:solidFill>
              </a:rPr>
              <a:t>, </a:t>
            </a:r>
            <a:r>
              <a:rPr lang="en-US" altLang="en-US" dirty="0" err="1">
                <a:solidFill>
                  <a:srgbClr val="FFFF00"/>
                </a:solidFill>
              </a:rPr>
              <a:t>Cyb</a:t>
            </a:r>
            <a:r>
              <a:rPr lang="en-US" altLang="en-US" dirty="0">
                <a:solidFill>
                  <a:srgbClr val="FFFF00"/>
                </a:solidFill>
              </a:rPr>
              <a:t> Se, DS,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AI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B16F9-BE60-FAB3-AD70-E6566054C465}"/>
              </a:ext>
            </a:extLst>
          </p:cNvPr>
          <p:cNvSpPr txBox="1"/>
          <p:nvPr/>
        </p:nvSpPr>
        <p:spPr>
          <a:xfrm>
            <a:off x="9677400" y="2514600"/>
            <a:ext cx="2121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BSc Hons in AI  - 4</a:t>
            </a:r>
          </a:p>
          <a:p>
            <a:r>
              <a:rPr lang="en-US" dirty="0">
                <a:solidFill>
                  <a:srgbClr val="FFFF00"/>
                </a:solidFill>
              </a:rPr>
              <a:t>MSc in AI          – 2</a:t>
            </a:r>
          </a:p>
          <a:p>
            <a:r>
              <a:rPr lang="en-US" dirty="0">
                <a:solidFill>
                  <a:srgbClr val="FFFF00"/>
                </a:solidFill>
              </a:rPr>
              <a:t>CS/IT/SE+AI     - 1</a:t>
            </a:r>
          </a:p>
          <a:p>
            <a:r>
              <a:rPr lang="en-US" dirty="0">
                <a:solidFill>
                  <a:srgbClr val="FFFF00"/>
                </a:solidFill>
              </a:rPr>
              <a:t>DS + AI               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D7F73CF-1FA2-F9F8-65D4-3905FA1AF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816011E-72FC-AB86-D672-FCEE6A54F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2" name="Flowchart: Extract 1">
            <a:extLst>
              <a:ext uri="{FF2B5EF4-FFF2-40B4-BE49-F238E27FC236}">
                <a16:creationId xmlns:a16="http://schemas.microsoft.com/office/drawing/2014/main" id="{AD122D1B-B820-1729-0E74-366DE0E091E9}"/>
              </a:ext>
            </a:extLst>
          </p:cNvPr>
          <p:cNvSpPr/>
          <p:nvPr/>
        </p:nvSpPr>
        <p:spPr>
          <a:xfrm>
            <a:off x="762000" y="1943100"/>
            <a:ext cx="1524000" cy="10668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BB7AA4-F4B3-9E38-0B09-8F7B42539141}"/>
              </a:ext>
            </a:extLst>
          </p:cNvPr>
          <p:cNvCxnSpPr>
            <a:cxnSpLocks/>
          </p:cNvCxnSpPr>
          <p:nvPr/>
        </p:nvCxnSpPr>
        <p:spPr>
          <a:xfrm flipV="1">
            <a:off x="609600" y="1828800"/>
            <a:ext cx="914400" cy="1295400"/>
          </a:xfrm>
          <a:prstGeom prst="line">
            <a:avLst/>
          </a:prstGeom>
          <a:ln w="317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Extract 9">
            <a:extLst>
              <a:ext uri="{FF2B5EF4-FFF2-40B4-BE49-F238E27FC236}">
                <a16:creationId xmlns:a16="http://schemas.microsoft.com/office/drawing/2014/main" id="{0EC23502-D7D7-ED71-BD22-1C2175D30F99}"/>
              </a:ext>
            </a:extLst>
          </p:cNvPr>
          <p:cNvSpPr/>
          <p:nvPr/>
        </p:nvSpPr>
        <p:spPr>
          <a:xfrm>
            <a:off x="685800" y="3543300"/>
            <a:ext cx="1524000" cy="10668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103BED-95B0-E641-3570-53F49700FEE3}"/>
              </a:ext>
            </a:extLst>
          </p:cNvPr>
          <p:cNvCxnSpPr>
            <a:cxnSpLocks/>
          </p:cNvCxnSpPr>
          <p:nvPr/>
        </p:nvCxnSpPr>
        <p:spPr>
          <a:xfrm flipV="1">
            <a:off x="762000" y="3856831"/>
            <a:ext cx="1447800" cy="8731"/>
          </a:xfrm>
          <a:prstGeom prst="line">
            <a:avLst/>
          </a:prstGeom>
          <a:ln w="317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Extract 19">
            <a:extLst>
              <a:ext uri="{FF2B5EF4-FFF2-40B4-BE49-F238E27FC236}">
                <a16:creationId xmlns:a16="http://schemas.microsoft.com/office/drawing/2014/main" id="{315B2AB8-DAF4-BF04-1178-278E29C47C75}"/>
              </a:ext>
            </a:extLst>
          </p:cNvPr>
          <p:cNvSpPr/>
          <p:nvPr/>
        </p:nvSpPr>
        <p:spPr>
          <a:xfrm>
            <a:off x="2971800" y="3543300"/>
            <a:ext cx="1524000" cy="10668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9D35E8-5176-17BC-D9D3-BA5F3CFCD010}"/>
              </a:ext>
            </a:extLst>
          </p:cNvPr>
          <p:cNvCxnSpPr>
            <a:cxnSpLocks/>
          </p:cNvCxnSpPr>
          <p:nvPr/>
        </p:nvCxnSpPr>
        <p:spPr>
          <a:xfrm flipV="1">
            <a:off x="2976880" y="3543300"/>
            <a:ext cx="1595120" cy="703580"/>
          </a:xfrm>
          <a:prstGeom prst="line">
            <a:avLst/>
          </a:prstGeom>
          <a:ln w="317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Extract 23">
            <a:extLst>
              <a:ext uri="{FF2B5EF4-FFF2-40B4-BE49-F238E27FC236}">
                <a16:creationId xmlns:a16="http://schemas.microsoft.com/office/drawing/2014/main" id="{B07A20B3-7580-0EAE-6996-B71FBD99D35E}"/>
              </a:ext>
            </a:extLst>
          </p:cNvPr>
          <p:cNvSpPr/>
          <p:nvPr/>
        </p:nvSpPr>
        <p:spPr>
          <a:xfrm>
            <a:off x="7421880" y="3332162"/>
            <a:ext cx="1524000" cy="10668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90A232-2D01-85FE-59BB-40C2279122BE}"/>
              </a:ext>
            </a:extLst>
          </p:cNvPr>
          <p:cNvCxnSpPr>
            <a:cxnSpLocks/>
          </p:cNvCxnSpPr>
          <p:nvPr/>
        </p:nvCxnSpPr>
        <p:spPr>
          <a:xfrm flipH="1" flipV="1">
            <a:off x="7101840" y="3446462"/>
            <a:ext cx="1562100" cy="1066800"/>
          </a:xfrm>
          <a:prstGeom prst="line">
            <a:avLst/>
          </a:prstGeom>
          <a:ln w="317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Extract 26">
            <a:extLst>
              <a:ext uri="{FF2B5EF4-FFF2-40B4-BE49-F238E27FC236}">
                <a16:creationId xmlns:a16="http://schemas.microsoft.com/office/drawing/2014/main" id="{F9933103-25DE-28D6-08F3-42861535C3D1}"/>
              </a:ext>
            </a:extLst>
          </p:cNvPr>
          <p:cNvSpPr/>
          <p:nvPr/>
        </p:nvSpPr>
        <p:spPr>
          <a:xfrm>
            <a:off x="5181600" y="3499009"/>
            <a:ext cx="1524000" cy="10668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CCB234-9160-2CB8-714A-4938003D4DCF}"/>
              </a:ext>
            </a:extLst>
          </p:cNvPr>
          <p:cNvCxnSpPr>
            <a:cxnSpLocks/>
          </p:cNvCxnSpPr>
          <p:nvPr/>
        </p:nvCxnSpPr>
        <p:spPr>
          <a:xfrm flipV="1">
            <a:off x="5491480" y="3429000"/>
            <a:ext cx="5080" cy="1286669"/>
          </a:xfrm>
          <a:prstGeom prst="line">
            <a:avLst/>
          </a:prstGeom>
          <a:ln w="317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55E7F4-9728-C79D-409D-1C4BC8FDAADC}"/>
              </a:ext>
            </a:extLst>
          </p:cNvPr>
          <p:cNvSpPr txBox="1"/>
          <p:nvPr/>
        </p:nvSpPr>
        <p:spPr>
          <a:xfrm>
            <a:off x="1104900" y="5486400"/>
            <a:ext cx="361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</a:t>
            </a:r>
            <a:r>
              <a:rPr lang="en-US" baseline="30000" dirty="0"/>
              <a:t>2</a:t>
            </a:r>
            <a:r>
              <a:rPr lang="en-US" dirty="0"/>
              <a:t>+By</a:t>
            </a:r>
            <a:r>
              <a:rPr lang="en-US" baseline="30000" dirty="0"/>
              <a:t>2</a:t>
            </a:r>
            <a:r>
              <a:rPr lang="en-US" dirty="0"/>
              <a:t>+Cxy +Dx</a:t>
            </a:r>
            <a:r>
              <a:rPr lang="en-US" baseline="30000" dirty="0"/>
              <a:t> </a:t>
            </a:r>
            <a:r>
              <a:rPr lang="en-US" dirty="0"/>
              <a:t>+Ey + F 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91E9BBA-894F-A2DE-125F-66E1D6E27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Why we communicate?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A1BD0F3-FE23-A1B0-9F8B-DFB51A72D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1066800"/>
            <a:ext cx="9144000" cy="55133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3300"/>
                </a:solidFill>
              </a:rPr>
              <a:t>Why do we want to communicate?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We need </a:t>
            </a:r>
            <a:r>
              <a:rPr lang="en-GB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to express our ideas</a:t>
            </a:r>
            <a:r>
              <a:rPr lang="en-GB" altLang="en-US" sz="2200" dirty="0">
                <a:highlight>
                  <a:srgbClr val="FFFF00"/>
                </a:highlight>
              </a:rPr>
              <a:t> </a:t>
            </a:r>
            <a:r>
              <a:rPr lang="en-GB" altLang="en-US" sz="2200" dirty="0">
                <a:solidFill>
                  <a:srgbClr val="3333FF"/>
                </a:solidFill>
              </a:rPr>
              <a:t>to: doctor, teacher, boss, servant,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share knowledge. (Papers/thesis)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Decision making by discussion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 Convincing the people (supervisor, reviewer, audience,  examiner,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understanding</a:t>
            </a:r>
            <a:r>
              <a:rPr lang="en-GB" altLang="en-US" sz="2200" dirty="0">
                <a:solidFill>
                  <a:srgbClr val="3333FF"/>
                </a:solidFill>
              </a:rPr>
              <a:t> what others say (authors, examiners, lectures,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Learning discovered knowledge (Education)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discover new knowledge (do research)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Need to request, demand, negotiate, argue, influence, command, </a:t>
            </a:r>
            <a:endParaRPr lang="en-GB" altLang="en-US" sz="2200" u="sng" dirty="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600" dirty="0">
                <a:solidFill>
                  <a:srgbClr val="FF0000"/>
                </a:solidFill>
              </a:rPr>
              <a:t>Humanity has become so capable over other animals due to our ability to communicate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GB" altLang="en-US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5D3770B0-7100-4CEF-C155-4A271F901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en-GB" altLang="en-US" b="1">
                <a:solidFill>
                  <a:srgbClr val="00B050"/>
                </a:solidFill>
              </a:rPr>
              <a:t>Why do we communicate?</a:t>
            </a:r>
            <a:endParaRPr lang="en-US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424F5517-35E1-C6E3-CEBC-A97E6F3796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296400" cy="55895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3300"/>
                </a:solidFill>
              </a:rPr>
              <a:t>Communication needs</a:t>
            </a:r>
            <a:r>
              <a:rPr lang="en-GB" altLang="en-US" dirty="0">
                <a:solidFill>
                  <a:srgbClr val="FF3300"/>
                </a:solidFill>
                <a:highlight>
                  <a:srgbClr val="FFFF00"/>
                </a:highlight>
              </a:rPr>
              <a:t>: Languages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Language</a:t>
            </a:r>
            <a:r>
              <a:rPr lang="en-US" altLang="en-US" sz="2200" dirty="0">
                <a:solidFill>
                  <a:srgbClr val="3333FF"/>
                </a:solidFill>
              </a:rPr>
              <a:t> is an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artifact/device</a:t>
            </a:r>
            <a:r>
              <a:rPr lang="en-US" altLang="en-US" sz="2200" dirty="0">
                <a:solidFill>
                  <a:srgbClr val="3333FF"/>
                </a:solidFill>
              </a:rPr>
              <a:t> for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communication</a:t>
            </a:r>
            <a:r>
              <a:rPr lang="si-LK" altLang="en-US" sz="2200" dirty="0">
                <a:solidFill>
                  <a:srgbClr val="3333FF"/>
                </a:solidFill>
              </a:rPr>
              <a:t>     නෑ     බෑ</a:t>
            </a:r>
            <a:endParaRPr lang="en-US" altLang="en-US" sz="2200" dirty="0">
              <a:solidFill>
                <a:srgbClr val="3333FF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It is installed in our brains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It is the most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amazing artifact </a:t>
            </a:r>
            <a:r>
              <a:rPr lang="en-US" altLang="en-US" sz="2200" dirty="0">
                <a:solidFill>
                  <a:srgbClr val="3333FF"/>
                </a:solidFill>
              </a:rPr>
              <a:t>ever invented (computer, spacecraft, autonomous vehicle,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language</a:t>
            </a:r>
            <a:r>
              <a:rPr lang="en-US" altLang="en-US" sz="2200" dirty="0">
                <a:solidFill>
                  <a:srgbClr val="3333FF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Why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are computers </a:t>
            </a:r>
            <a:r>
              <a:rPr lang="en-US" altLang="en-US" sz="2200" dirty="0">
                <a:solidFill>
                  <a:srgbClr val="3333FF"/>
                </a:solidFill>
              </a:rPr>
              <a:t>so powerful among other machines?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1800" dirty="0">
                <a:solidFill>
                  <a:srgbClr val="3333FF"/>
                </a:solidFill>
              </a:rPr>
              <a:t>Using languages, computers can communicate (programming)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1800" dirty="0">
                <a:solidFill>
                  <a:srgbClr val="3333FF"/>
                </a:solidFill>
              </a:rPr>
              <a:t>Now, machine-to-machine communication without humans is also possible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1800" dirty="0">
                <a:solidFill>
                  <a:srgbClr val="3333FF"/>
                </a:solidFill>
              </a:rPr>
              <a:t>Heading towards communication with plants and animals (Biological computing)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How we use language is about communication!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Languages</a:t>
            </a:r>
            <a:r>
              <a:rPr lang="en-US" altLang="en-US" sz="2200" dirty="0">
                <a:solidFill>
                  <a:srgbClr val="3333FF"/>
                </a:solidFill>
              </a:rPr>
              <a:t> use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symbols</a:t>
            </a:r>
            <a:r>
              <a:rPr lang="en-US" altLang="en-US" sz="2200" dirty="0">
                <a:solidFill>
                  <a:srgbClr val="3333FF"/>
                </a:solidFill>
              </a:rPr>
              <a:t> like letters, words, etc.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Symbolic manipulation of languages enables forming intelligence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Intelligence symbolic manipulation is with math, science, </a:t>
            </a:r>
            <a:r>
              <a:rPr lang="en-US" altLang="en-US" sz="2200" dirty="0" err="1">
                <a:solidFill>
                  <a:srgbClr val="3333FF"/>
                </a:solidFill>
              </a:rPr>
              <a:t>eng.</a:t>
            </a:r>
            <a:r>
              <a:rPr lang="en-US" altLang="en-US" sz="2200" dirty="0">
                <a:solidFill>
                  <a:srgbClr val="3333FF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 Animals that can be instructed by language (dog, elephant, cow, cat) are also intelligence over other animals. 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2773D2A-ADF5-3EA0-86DA-304B2F91A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>
                <a:solidFill>
                  <a:srgbClr val="00B050"/>
                </a:solidFill>
              </a:rPr>
              <a:t>Why do we communicate?</a:t>
            </a:r>
            <a:endParaRPr lang="en-US" altLang="en-U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81D648B-3E03-6923-1527-9C45292E2D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63638"/>
            <a:ext cx="88392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The left brain </a:t>
            </a:r>
            <a:r>
              <a:rPr lang="en-US" altLang="en-US" sz="2600" dirty="0">
                <a:solidFill>
                  <a:srgbClr val="3333FF"/>
                </a:solidFill>
                <a:highlight>
                  <a:srgbClr val="FFFF00"/>
                </a:highlight>
              </a:rPr>
              <a:t>dominates</a:t>
            </a:r>
            <a:r>
              <a:rPr lang="en-US" altLang="en-US" sz="2600" dirty="0">
                <a:solidFill>
                  <a:srgbClr val="3333FF"/>
                </a:solidFill>
              </a:rPr>
              <a:t> language manipulation (tasks requiring thinking)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Language manipulation soon becomes an activity of the right brain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Recall that NLP can be modelled as Rules-logic (ELIZA) /ML(ChatGPT)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EEG (discovered in 1935), an experiment  shows that both brains do language manipulation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A language describes a certain environment/culture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For example, English can describe Western culture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Ice, hail, snow, frost, …..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Cats and dogs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In Sinhala - </a:t>
            </a:r>
            <a:r>
              <a:rPr lang="si-LK" altLang="en-US" sz="2600" dirty="0">
                <a:solidFill>
                  <a:srgbClr val="3333FF"/>
                </a:solidFill>
              </a:rPr>
              <a:t>ගරනවා </a:t>
            </a:r>
            <a:r>
              <a:rPr lang="en-US" altLang="en-US" sz="2600" dirty="0">
                <a:solidFill>
                  <a:srgbClr val="3333FF"/>
                </a:solidFill>
              </a:rPr>
              <a:t>is not a synonym for wash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altLang="en-US" sz="2600" dirty="0">
              <a:solidFill>
                <a:srgbClr val="3333FF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  <p:sp>
        <p:nvSpPr>
          <p:cNvPr id="11268" name="TextBox 1">
            <a:extLst>
              <a:ext uri="{FF2B5EF4-FFF2-40B4-BE49-F238E27FC236}">
                <a16:creationId xmlns:a16="http://schemas.microsoft.com/office/drawing/2014/main" id="{2DCC6392-2379-3C54-5E10-C790FCB2C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0" y="4572000"/>
            <a:ext cx="2108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FF00"/>
                </a:solidFill>
              </a:rPr>
              <a:t>Cool and dry 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1711728-4BFB-A57C-DAB5-D3376926A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2291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5698599-2E8D-4CA4-64F6-D4C172C2AB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09550"/>
            <a:ext cx="8175625" cy="57912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B93792-80F2-7328-F083-9F4531CEE536}"/>
                  </a:ext>
                </a:extLst>
              </p14:cNvPr>
              <p14:cNvContentPartPr/>
              <p14:nvPr/>
            </p14:nvContentPartPr>
            <p14:xfrm>
              <a:off x="572437" y="1742252"/>
              <a:ext cx="1850040" cy="41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B93792-80F2-7328-F083-9F4531CEE5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437" y="1733252"/>
                <a:ext cx="18676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34446B-916F-69A3-B522-10B1B2082ABD}"/>
                  </a:ext>
                </a:extLst>
              </p14:cNvPr>
              <p14:cNvContentPartPr/>
              <p14:nvPr/>
            </p14:nvContentPartPr>
            <p14:xfrm>
              <a:off x="525997" y="4056332"/>
              <a:ext cx="2132640" cy="478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34446B-916F-69A3-B522-10B1B2082A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999" y="4047332"/>
                <a:ext cx="2150277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E8BB97-6606-0973-AF5E-93B291E598BE}"/>
                  </a:ext>
                </a:extLst>
              </p14:cNvPr>
              <p14:cNvContentPartPr/>
              <p14:nvPr/>
            </p14:nvContentPartPr>
            <p14:xfrm>
              <a:off x="582877" y="4458092"/>
              <a:ext cx="2724840" cy="832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E8BB97-6606-0973-AF5E-93B291E598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877" y="4449092"/>
                <a:ext cx="2742480" cy="849960"/>
              </a:xfrm>
              <a:prstGeom prst="rect">
                <a:avLst/>
              </a:prstGeom>
            </p:spPr>
          </p:pic>
        </mc:Fallback>
      </mc:AlternateContent>
      <p:sp>
        <p:nvSpPr>
          <p:cNvPr id="12295" name="TextBox 1">
            <a:extLst>
              <a:ext uri="{FF2B5EF4-FFF2-40B4-BE49-F238E27FC236}">
                <a16:creationId xmlns:a16="http://schemas.microsoft.com/office/drawing/2014/main" id="{6CF5D8B4-B012-9899-07C7-F0542029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9850"/>
            <a:ext cx="540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Language manipulation (cognitive task) in the brain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6FBE98C-2AF4-8A5C-EE55-3440183E4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8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9C3E9123-B12F-DEC6-1BDA-316D790C86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70267"/>
            <a:ext cx="8229600" cy="453072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Do you agree with “When language manipulation is predominantly a left-brain task, but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fluency</a:t>
            </a:r>
            <a:r>
              <a:rPr lang="en-US" altLang="en-US" sz="2800" dirty="0">
                <a:solidFill>
                  <a:srgbClr val="0070C0"/>
                </a:solidFill>
              </a:rPr>
              <a:t> in communication is training-based, it leads to a paradox”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(No) – According to Neuroscience, any task starts with the left-brain, and gradually becomes a trained skill. Fluency (efficiency) requires training. </a:t>
            </a:r>
            <a:endParaRPr lang="en-US" altLang="en-US" sz="2200" dirty="0">
              <a:solidFill>
                <a:srgbClr val="0070C0"/>
              </a:solidFill>
            </a:endParaRPr>
          </a:p>
          <a:p>
            <a:pPr lvl="1" algn="just">
              <a:defRPr/>
            </a:pPr>
            <a:endParaRPr lang="en-US" altLang="en-US" sz="2200" dirty="0">
              <a:solidFill>
                <a:srgbClr val="0070C0"/>
              </a:solidFill>
            </a:endParaRPr>
          </a:p>
          <a:p>
            <a:pPr marL="344487" lvl="1" indent="0" algn="just">
              <a:buFont typeface="Wingdings" panose="05000000000000000000" pitchFamily="2" charset="2"/>
              <a:buNone/>
              <a:defRPr/>
            </a:pPr>
            <a:endParaRPr lang="en-US" alt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4E331A-CD4E-5814-3A52-97C7EC248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800" b="1">
                <a:solidFill>
                  <a:srgbClr val="00B050"/>
                </a:solidFill>
              </a:rPr>
              <a:t>Means of communication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9127159-26D0-680B-35AE-D955EB8BE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486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Just like other natural phenomena, communication also evolves</a:t>
            </a:r>
          </a:p>
          <a:p>
            <a:pPr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Basic means of communication involves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3300"/>
                </a:solidFill>
              </a:rPr>
              <a:t>Verbal 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3300"/>
                </a:solidFill>
              </a:rPr>
              <a:t>Body/Sign 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3300"/>
                </a:solidFill>
                <a:highlight>
                  <a:srgbClr val="FFFF00"/>
                </a:highlight>
              </a:rPr>
              <a:t>Written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3300"/>
                </a:solidFill>
              </a:rPr>
              <a:t>Visuals </a:t>
            </a:r>
            <a:endParaRPr lang="en-US" altLang="en-US" sz="2000" dirty="0">
              <a:solidFill>
                <a:srgbClr val="3333FF"/>
              </a:solidFill>
            </a:endParaRPr>
          </a:p>
          <a:p>
            <a:pPr eaLnBrk="1" hangingPunct="1">
              <a:defRPr/>
            </a:pPr>
            <a:r>
              <a:rPr lang="en-US" altLang="en-US" sz="2000" dirty="0">
                <a:solidFill>
                  <a:srgbClr val="FF3300"/>
                </a:solidFill>
              </a:rPr>
              <a:t>Why is </a:t>
            </a:r>
            <a:r>
              <a:rPr lang="en-US" altLang="en-US" sz="2000" dirty="0">
                <a:solidFill>
                  <a:srgbClr val="FF3300"/>
                </a:solidFill>
                <a:highlight>
                  <a:srgbClr val="FFFF00"/>
                </a:highlight>
              </a:rPr>
              <a:t>writing</a:t>
            </a:r>
            <a:r>
              <a:rPr lang="en-US" altLang="en-US" sz="2000" dirty="0">
                <a:solidFill>
                  <a:srgbClr val="FF3300"/>
                </a:solidFill>
              </a:rPr>
              <a:t> so powerful?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It can be preserved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It can be improved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It can be supported by pictures, tables, etc.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Discuss features of web-based/Google Doc</a:t>
            </a: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 communication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>
              <a:solidFill>
                <a:srgbClr val="3333FF"/>
              </a:solidFill>
            </a:endParaRPr>
          </a:p>
          <a:p>
            <a:pPr eaLnBrk="1" hangingPunct="1">
              <a:defRPr/>
            </a:pPr>
            <a:endParaRPr lang="en-US" altLang="en-US" sz="2600" dirty="0">
              <a:solidFill>
                <a:srgbClr val="3333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9478D9F-6668-E0AE-B29B-6C177D2B7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r>
              <a:rPr lang="en-US" altLang="en-US" sz="4400" b="1">
                <a:solidFill>
                  <a:srgbClr val="00B050"/>
                </a:solidFill>
              </a:rPr>
              <a:t>Means of communication….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F10F-73D7-F7DD-BC37-EF857B024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85522"/>
            <a:ext cx="8915400" cy="4779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>
                <a:solidFill>
                  <a:srgbClr val="FF0000"/>
                </a:solidFill>
              </a:rPr>
              <a:t>Evolution in communications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Verbal (Byheart) 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Writing/Printing 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Simulations (text, voice, pictures, motion)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 The influence of </a:t>
            </a: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computers on communication </a:t>
            </a:r>
            <a:r>
              <a:rPr lang="en-US" altLang="en-US" sz="2000" dirty="0">
                <a:solidFill>
                  <a:srgbClr val="3333FF"/>
                </a:solidFill>
              </a:rPr>
              <a:t>is incomparable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Simulation</a:t>
            </a:r>
            <a:r>
              <a:rPr lang="en-US" altLang="en-US" sz="2000" dirty="0">
                <a:solidFill>
                  <a:srgbClr val="3333FF"/>
                </a:solidFill>
              </a:rPr>
              <a:t> plays a key role in communication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Many AI technologies emphasize </a:t>
            </a: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communication</a:t>
            </a:r>
            <a:r>
              <a:rPr lang="en-US" altLang="en-US" sz="2000" dirty="0">
                <a:solidFill>
                  <a:srgbClr val="3333FF"/>
                </a:solidFill>
              </a:rPr>
              <a:t> (MAS, NLP/Chatbot, ES, EEG, BCI) 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After Turing, people program computers; nowadays, people program plants and animals by Biological programming.  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FF0000"/>
                </a:solidFill>
              </a:rPr>
              <a:t>Mathematics is a Universal Language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Computability, algorithms are concepts in mathematics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Turing, McCarthy, and Minsky all did their PhDs in the Princeton University mathematics department. 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Anything (biology, physics, music) can be modeled mathematically.</a:t>
            </a: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1400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8BCECF4-1352-50EF-A5B5-89E1086D7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Storytelling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F9C740CE-5375-8F1B-B406-522A2F8E35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524000"/>
            <a:ext cx="9448800" cy="4530725"/>
          </a:xfrm>
        </p:spPr>
        <p:txBody>
          <a:bodyPr/>
          <a:lstStyle/>
          <a:p>
            <a:r>
              <a:rPr lang="en-US" altLang="en-US" sz="2800" dirty="0">
                <a:solidFill>
                  <a:srgbClr val="FF0000"/>
                </a:solidFill>
              </a:rPr>
              <a:t>In communication, we tell stories (Yuval Harari)</a:t>
            </a:r>
          </a:p>
          <a:p>
            <a:pPr lvl="1"/>
            <a:r>
              <a:rPr lang="en-US" altLang="en-US" sz="2400" dirty="0">
                <a:solidFill>
                  <a:srgbClr val="0070C0"/>
                </a:solidFill>
              </a:rPr>
              <a:t>Newtonian theory is a story of F, m, and a.</a:t>
            </a:r>
          </a:p>
          <a:p>
            <a:pPr lvl="1"/>
            <a:r>
              <a:rPr lang="en-US" altLang="en-US" sz="2400" dirty="0">
                <a:solidFill>
                  <a:srgbClr val="0070C0"/>
                </a:solidFill>
              </a:rPr>
              <a:t>Any knowledge of research findings is a story</a:t>
            </a:r>
          </a:p>
          <a:p>
            <a:pPr lvl="1"/>
            <a:r>
              <a:rPr lang="en-US" altLang="en-US" sz="2300" dirty="0">
                <a:solidFill>
                  <a:srgbClr val="0070C0"/>
                </a:solidFill>
              </a:rPr>
              <a:t>Thesis, Papers. Presentation and viva are modes of storytelling</a:t>
            </a:r>
          </a:p>
          <a:p>
            <a:r>
              <a:rPr lang="en-US" altLang="en-US" sz="2800" dirty="0">
                <a:solidFill>
                  <a:srgbClr val="FF3300"/>
                </a:solidFill>
              </a:rPr>
              <a:t>Humanity developed over other animals because of </a:t>
            </a:r>
            <a:r>
              <a:rPr lang="en-US" altLang="en-US" sz="2800" dirty="0">
                <a:solidFill>
                  <a:srgbClr val="FF3300"/>
                </a:solidFill>
                <a:highlight>
                  <a:srgbClr val="FFFF00"/>
                </a:highlight>
              </a:rPr>
              <a:t>storytelling for the next generation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B7C4FE0-4867-1C5F-26E7-7B3F3BDB3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36588"/>
          </a:xfrm>
        </p:spPr>
        <p:txBody>
          <a:bodyPr/>
          <a:lstStyle/>
          <a:p>
            <a:r>
              <a:rPr lang="en-US" altLang="en-US" sz="3600" b="1">
                <a:solidFill>
                  <a:srgbClr val="00B050"/>
                </a:solidFill>
              </a:rPr>
              <a:t>Aspects of Communications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86C0F17-EBA8-6FA1-8DC6-DB78484735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805814"/>
            <a:ext cx="8534400" cy="5389563"/>
          </a:xfrm>
        </p:spPr>
        <p:txBody>
          <a:bodyPr/>
          <a:lstStyle/>
          <a:p>
            <a:pPr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Generally, communication stands for 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00FF00"/>
                </a:highlight>
              </a:rPr>
              <a:t>how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en-US" sz="2200" dirty="0">
                <a:solidFill>
                  <a:srgbClr val="FF0000"/>
                </a:solidFill>
              </a:rPr>
              <a:t>to communicate</a:t>
            </a:r>
          </a:p>
          <a:p>
            <a:pPr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But other aspects, </a:t>
            </a:r>
            <a:r>
              <a:rPr lang="en-US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when, where, what, who,</a:t>
            </a:r>
            <a:r>
              <a:rPr lang="en-US" altLang="en-US" sz="2200" dirty="0">
                <a:solidFill>
                  <a:srgbClr val="0070C0"/>
                </a:solidFill>
              </a:rPr>
              <a:t> etc. are also important</a:t>
            </a:r>
          </a:p>
          <a:p>
            <a:pPr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In research communications, these aspects also have space</a:t>
            </a:r>
          </a:p>
          <a:p>
            <a:pPr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A research document brings many aspects together</a:t>
            </a:r>
          </a:p>
          <a:p>
            <a:pPr lvl="1"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What (introduction, literature review) </a:t>
            </a:r>
          </a:p>
          <a:p>
            <a:pPr lvl="1"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Who (literature review)</a:t>
            </a:r>
          </a:p>
          <a:p>
            <a:pPr lvl="1">
              <a:defRPr/>
            </a:pPr>
            <a:r>
              <a:rPr lang="en-US" altLang="en-US" sz="2200" dirty="0">
                <a:solidFill>
                  <a:srgbClr val="00B050"/>
                </a:solidFill>
              </a:rPr>
              <a:t>How</a:t>
            </a:r>
            <a:r>
              <a:rPr lang="en-US" altLang="en-US" sz="2200" dirty="0">
                <a:solidFill>
                  <a:srgbClr val="FF0000"/>
                </a:solidFill>
              </a:rPr>
              <a:t> (methodology)</a:t>
            </a:r>
          </a:p>
          <a:p>
            <a:pPr lvl="1"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Where (abstract, introduction, body, summary )</a:t>
            </a:r>
          </a:p>
          <a:p>
            <a:pPr lvl="1"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When (literature, year) </a:t>
            </a:r>
          </a:p>
          <a:p>
            <a:pPr lvl="1"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Why (discussion, summary) </a:t>
            </a:r>
          </a:p>
          <a:p>
            <a:pPr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 The 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reference</a:t>
            </a:r>
            <a:r>
              <a:rPr lang="en-US" altLang="en-US" sz="2200" dirty="0">
                <a:solidFill>
                  <a:srgbClr val="FF0000"/>
                </a:solidFill>
              </a:rPr>
              <a:t> also has these aspects</a:t>
            </a:r>
          </a:p>
          <a:p>
            <a:pPr lvl="1">
              <a:defRPr/>
            </a:pP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dirty="0">
                <a:solidFill>
                  <a:srgbClr val="00B050"/>
                </a:solidFill>
              </a:rPr>
              <a:t>who</a:t>
            </a:r>
            <a:r>
              <a:rPr lang="en-US" altLang="en-US" sz="1800" dirty="0">
                <a:solidFill>
                  <a:srgbClr val="FF0000"/>
                </a:solidFill>
              </a:rPr>
              <a:t> (author) </a:t>
            </a:r>
            <a:r>
              <a:rPr lang="en-US" altLang="en-US" sz="1800" dirty="0">
                <a:solidFill>
                  <a:srgbClr val="00B050"/>
                </a:solidFill>
              </a:rPr>
              <a:t>did when </a:t>
            </a:r>
            <a:r>
              <a:rPr lang="en-US" altLang="en-US" sz="1800" dirty="0">
                <a:solidFill>
                  <a:srgbClr val="FF0000"/>
                </a:solidFill>
              </a:rPr>
              <a:t>(year) </a:t>
            </a:r>
            <a:r>
              <a:rPr lang="en-US" altLang="en-US" sz="1800" u="sng" dirty="0">
                <a:solidFill>
                  <a:srgbClr val="00B050"/>
                </a:solidFill>
              </a:rPr>
              <a:t>what</a:t>
            </a:r>
            <a:r>
              <a:rPr lang="en-US" altLang="en-US" sz="1800" dirty="0">
                <a:solidFill>
                  <a:srgbClr val="FF0000"/>
                </a:solidFill>
              </a:rPr>
              <a:t> (title of article) </a:t>
            </a:r>
            <a:r>
              <a:rPr lang="en-US" altLang="en-US" sz="1800" dirty="0">
                <a:solidFill>
                  <a:srgbClr val="00B050"/>
                </a:solidFill>
              </a:rPr>
              <a:t>which</a:t>
            </a:r>
            <a:r>
              <a:rPr lang="en-US" altLang="en-US" sz="1800" dirty="0">
                <a:solidFill>
                  <a:srgbClr val="FF0000"/>
                </a:solidFill>
              </a:rPr>
              <a:t> (Name of journal) </a:t>
            </a:r>
            <a:r>
              <a:rPr lang="en-US" altLang="en-US" sz="1800" dirty="0">
                <a:solidFill>
                  <a:srgbClr val="00B050"/>
                </a:solidFill>
              </a:rPr>
              <a:t>where</a:t>
            </a:r>
            <a:r>
              <a:rPr lang="en-US" altLang="en-US" sz="1800" dirty="0">
                <a:solidFill>
                  <a:srgbClr val="FF0000"/>
                </a:solidFill>
              </a:rPr>
              <a:t> (publisher)</a:t>
            </a:r>
          </a:p>
          <a:p>
            <a:pPr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In a paper/thesis we communicate 5W and 1H (5-wives and 1 husband</a:t>
            </a:r>
          </a:p>
          <a:p>
            <a:pPr>
              <a:defRPr/>
            </a:pPr>
            <a:endParaRPr lang="en-US" altLang="en-US" sz="2200" dirty="0">
              <a:solidFill>
                <a:srgbClr val="FF0000"/>
              </a:solidFill>
            </a:endParaRPr>
          </a:p>
        </p:txBody>
      </p:sp>
      <p:sp>
        <p:nvSpPr>
          <p:cNvPr id="19460" name="TextBox 1">
            <a:extLst>
              <a:ext uri="{FF2B5EF4-FFF2-40B4-BE49-F238E27FC236}">
                <a16:creationId xmlns:a16="http://schemas.microsoft.com/office/drawing/2014/main" id="{54D0FC85-FBCB-CEBA-D13E-1586C1003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0" y="1066800"/>
            <a:ext cx="24034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FFF00"/>
                </a:solidFill>
              </a:rPr>
              <a:t>In MAS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Correct message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Correct agent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Correct time</a:t>
            </a:r>
          </a:p>
          <a:p>
            <a:pPr lvl="1"/>
            <a:endParaRPr lang="en-US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CD29205-30FA-9F3E-BD4B-F5983BB4F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Elements of a language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3D00532-708C-2F2A-B48A-0D615C5A9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9154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There are four major aspects of a language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Lexicon/Words (vocabulary)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Syntax (grammar – rules to connect words)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Semantic (meaning of sentences)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Pragmatic</a:t>
            </a:r>
            <a:r>
              <a:rPr lang="en-US" altLang="en-US" dirty="0">
                <a:solidFill>
                  <a:srgbClr val="3333FF"/>
                </a:solidFill>
              </a:rPr>
              <a:t> (flow/order of meaningful sentences)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All four must be developed</a:t>
            </a:r>
            <a:endParaRPr lang="en-US" altLang="en-US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Coding is a nice example to demonstrate the importance of the above four aspects of a language.</a:t>
            </a:r>
          </a:p>
          <a:p>
            <a:pPr marL="1014412" lvl="3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3333FF"/>
                </a:solidFill>
              </a:rPr>
              <a:t>begin   </a:t>
            </a:r>
          </a:p>
          <a:p>
            <a:pPr marL="1014412" lvl="3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3333FF"/>
                </a:solidFill>
              </a:rPr>
              <a:t>sum = sum+1;</a:t>
            </a:r>
          </a:p>
          <a:p>
            <a:pPr marL="1014412" lvl="3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3333FF"/>
                </a:solidFill>
              </a:rPr>
              <a:t>   Int sum</a:t>
            </a:r>
          </a:p>
          <a:p>
            <a:pPr marL="1023937" lvl="3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 err="1">
                <a:solidFill>
                  <a:srgbClr val="3333FF"/>
                </a:solidFill>
              </a:rPr>
              <a:t>Edn</a:t>
            </a:r>
            <a:r>
              <a:rPr lang="en-US" altLang="en-US" dirty="0">
                <a:solidFill>
                  <a:srgbClr val="3333FF"/>
                </a:solidFill>
              </a:rPr>
              <a:t>   (Lexicon)</a:t>
            </a: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3333FF"/>
                </a:solidFill>
              </a:rPr>
              <a:t>           </a:t>
            </a:r>
          </a:p>
          <a:p>
            <a:pPr lvl="1" eaLnBrk="1" hangingPunct="1"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eaLnBrk="1" hangingPunct="1">
              <a:defRPr/>
            </a:pPr>
            <a:endParaRPr lang="en-US" altLang="en-US" sz="20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endParaRPr lang="en-US" altLang="en-US" sz="2000" dirty="0">
              <a:solidFill>
                <a:srgbClr val="0070C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FDB49357-9BB7-9354-C29F-6CB98C52E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 1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26C58EF-AC4B-B88A-8AC9-90B032BDC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63638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FF3300"/>
                </a:solidFill>
              </a:rPr>
              <a:t>Write sentences</a:t>
            </a:r>
          </a:p>
          <a:p>
            <a:pPr lvl="1" eaLnBrk="1" hangingPunct="1"/>
            <a:r>
              <a:rPr lang="en-US" altLang="en-US" sz="2200" dirty="0">
                <a:solidFill>
                  <a:srgbClr val="0070C0"/>
                </a:solidFill>
              </a:rPr>
              <a:t>Lexically wrong</a:t>
            </a:r>
          </a:p>
          <a:p>
            <a:pPr lvl="2" eaLnBrk="1" hangingPunct="1"/>
            <a:r>
              <a:rPr lang="en-US" altLang="en-US" dirty="0">
                <a:solidFill>
                  <a:srgbClr val="0070C0"/>
                </a:solidFill>
              </a:rPr>
              <a:t>What is </a:t>
            </a:r>
            <a:r>
              <a:rPr lang="si-LK" altLang="en-US" dirty="0">
                <a:solidFill>
                  <a:srgbClr val="0070C0"/>
                </a:solidFill>
              </a:rPr>
              <a:t>ටයිම්</a:t>
            </a:r>
            <a:r>
              <a:rPr lang="en-US" altLang="en-US" dirty="0">
                <a:solidFill>
                  <a:srgbClr val="0070C0"/>
                </a:solidFill>
              </a:rPr>
              <a:t> </a:t>
            </a:r>
            <a:r>
              <a:rPr lang="en-US" altLang="en-US" dirty="0" err="1">
                <a:solidFill>
                  <a:srgbClr val="0070C0"/>
                </a:solidFill>
              </a:rPr>
              <a:t>tmei</a:t>
            </a:r>
            <a:r>
              <a:rPr lang="si-LK" altLang="en-US" dirty="0">
                <a:solidFill>
                  <a:srgbClr val="0070C0"/>
                </a:solidFill>
              </a:rPr>
              <a:t>?</a:t>
            </a:r>
            <a:endParaRPr lang="en-US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en-US" altLang="en-US" sz="2200" dirty="0">
                <a:solidFill>
                  <a:srgbClr val="0070C0"/>
                </a:solidFill>
              </a:rPr>
              <a:t>Lexically correct, syntactically wrong sentence </a:t>
            </a:r>
          </a:p>
          <a:p>
            <a:pPr lvl="2" eaLnBrk="1" hangingPunct="1"/>
            <a:r>
              <a:rPr lang="en-US" altLang="en-US" dirty="0">
                <a:solidFill>
                  <a:srgbClr val="0070C0"/>
                </a:solidFill>
              </a:rPr>
              <a:t>I bicycle ride.   (I ride a bicycle)</a:t>
            </a:r>
          </a:p>
          <a:p>
            <a:pPr lvl="1" eaLnBrk="1" hangingPunct="1"/>
            <a:r>
              <a:rPr lang="en-US" altLang="en-US" sz="2200" dirty="0">
                <a:solidFill>
                  <a:srgbClr val="0070C0"/>
                </a:solidFill>
              </a:rPr>
              <a:t>Syntactically correct but semantically wrong</a:t>
            </a:r>
          </a:p>
          <a:p>
            <a:pPr lvl="2" eaLnBrk="1" hangingPunct="1"/>
            <a:r>
              <a:rPr lang="en-US" altLang="en-US" dirty="0">
                <a:solidFill>
                  <a:srgbClr val="0070C0"/>
                </a:solidFill>
              </a:rPr>
              <a:t>Elephants can fly.  One plus one is three.</a:t>
            </a:r>
          </a:p>
          <a:p>
            <a:pPr lvl="1" eaLnBrk="1" hangingPunct="1"/>
            <a:r>
              <a:rPr lang="en-US" altLang="en-US" sz="2200" dirty="0">
                <a:solidFill>
                  <a:srgbClr val="0070C0"/>
                </a:solidFill>
              </a:rPr>
              <a:t>Lexically, syntactically, and semantically correct but pragmatically wrong.</a:t>
            </a:r>
          </a:p>
          <a:p>
            <a:pPr lvl="2" eaLnBrk="1" hangingPunct="1"/>
            <a:r>
              <a:rPr lang="en-US" altLang="en-US" dirty="0">
                <a:solidFill>
                  <a:srgbClr val="0070C0"/>
                </a:solidFill>
              </a:rPr>
              <a:t>Get down at the </a:t>
            </a:r>
            <a:r>
              <a:rPr lang="en-US" altLang="en-US" dirty="0" err="1">
                <a:solidFill>
                  <a:srgbClr val="0070C0"/>
                </a:solidFill>
              </a:rPr>
              <a:t>Maharagama</a:t>
            </a:r>
            <a:r>
              <a:rPr lang="en-US" altLang="en-US" dirty="0">
                <a:solidFill>
                  <a:srgbClr val="0070C0"/>
                </a:solidFill>
              </a:rPr>
              <a:t> </a:t>
            </a:r>
            <a:r>
              <a:rPr lang="en-US" altLang="en-US" dirty="0" err="1">
                <a:solidFill>
                  <a:srgbClr val="0070C0"/>
                </a:solidFill>
              </a:rPr>
              <a:t>Bustand</a:t>
            </a:r>
            <a:r>
              <a:rPr lang="en-US" altLang="en-US" dirty="0">
                <a:solidFill>
                  <a:srgbClr val="0070C0"/>
                </a:solidFill>
              </a:rPr>
              <a:t>. Pick up the train from Anuradhapura at midnight. Catch a bus from Fort railway station at 2.00 pm to </a:t>
            </a:r>
            <a:r>
              <a:rPr lang="en-US" altLang="en-US" dirty="0" err="1">
                <a:solidFill>
                  <a:srgbClr val="0070C0"/>
                </a:solidFill>
              </a:rPr>
              <a:t>Maharagama</a:t>
            </a:r>
            <a:r>
              <a:rPr lang="en-US" altLang="en-US" dirty="0">
                <a:solidFill>
                  <a:srgbClr val="0070C0"/>
                </a:solidFill>
              </a:rPr>
              <a:t>. 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14910CD-E48C-45DB-20A9-2C271E2A6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Some questions about writing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2A5848-7FC7-1A16-643D-B972D409E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295400"/>
            <a:ext cx="9067800" cy="39624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3333FF"/>
                </a:solidFill>
              </a:rPr>
              <a:t>Is writing an Art or a Science? </a:t>
            </a:r>
          </a:p>
          <a:p>
            <a:pPr lvl="1" eaLnBrk="1" hangingPunct="1"/>
            <a:r>
              <a:rPr lang="en-US" altLang="en-US" sz="2400" dirty="0">
                <a:solidFill>
                  <a:srgbClr val="3333FF"/>
                </a:solidFill>
              </a:rPr>
              <a:t>Any language has an artistic side. The same scientific material can be expressed differently from an artistic viewpoint. </a:t>
            </a:r>
          </a:p>
          <a:p>
            <a:pPr eaLnBrk="1" hangingPunct="1"/>
            <a:r>
              <a:rPr lang="en-US" altLang="en-US" sz="2400" dirty="0">
                <a:solidFill>
                  <a:srgbClr val="3333FF"/>
                </a:solidFill>
              </a:rPr>
              <a:t>Can writing be taught? Technically Yes, </a:t>
            </a:r>
          </a:p>
          <a:p>
            <a:pPr lvl="1" eaLnBrk="1" hangingPunct="1"/>
            <a:r>
              <a:rPr lang="en-US" altLang="en-US" sz="2400" dirty="0">
                <a:solidFill>
                  <a:srgbClr val="FF3300"/>
                </a:solidFill>
              </a:rPr>
              <a:t>Is writing a born talent? Maybe, but it can be developed</a:t>
            </a:r>
          </a:p>
          <a:p>
            <a:pPr lvl="1" eaLnBrk="1" hangingPunct="1"/>
            <a:r>
              <a:rPr lang="en-US" altLang="en-US" sz="2400" dirty="0">
                <a:solidFill>
                  <a:srgbClr val="FF3300"/>
                </a:solidFill>
              </a:rPr>
              <a:t>Can we write to everybody? (academics/general public)</a:t>
            </a:r>
          </a:p>
          <a:p>
            <a:pPr lvl="1" eaLnBrk="1" hangingPunct="1"/>
            <a:r>
              <a:rPr lang="en-US" altLang="en-US" sz="2400" dirty="0">
                <a:solidFill>
                  <a:srgbClr val="FF3300"/>
                </a:solidFill>
              </a:rPr>
              <a:t>Can we write in one shot? (Rewriting improves writing)</a:t>
            </a:r>
          </a:p>
          <a:p>
            <a:pPr eaLnBrk="1" hangingPunct="1"/>
            <a:r>
              <a:rPr lang="en-US" altLang="en-US" sz="2400" dirty="0">
                <a:solidFill>
                  <a:srgbClr val="3333FF"/>
                </a:solidFill>
              </a:rPr>
              <a:t>How does knowledge of English affect this? </a:t>
            </a:r>
          </a:p>
          <a:p>
            <a:pPr algn="just" eaLnBrk="1" hangingPunct="1"/>
            <a:r>
              <a:rPr lang="en-US" altLang="en-US" sz="2400" dirty="0">
                <a:solidFill>
                  <a:srgbClr val="FF0000"/>
                </a:solidFill>
              </a:rPr>
              <a:t>What is the ratio between the annual research publications in English by native English people and non-native English people? 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3333FF"/>
              </a:solidFill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29488-BA9A-907C-1346-CB1649479EE9}"/>
              </a:ext>
            </a:extLst>
          </p:cNvPr>
          <p:cNvSpPr txBox="1"/>
          <p:nvPr/>
        </p:nvSpPr>
        <p:spPr>
          <a:xfrm>
            <a:off x="9525000" y="1295400"/>
            <a:ext cx="296747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The computer program has</a:t>
            </a:r>
          </a:p>
          <a:p>
            <a:r>
              <a:rPr lang="en-US" dirty="0">
                <a:solidFill>
                  <a:srgbClr val="FFFF00"/>
                </a:solidFill>
              </a:rPr>
              <a:t>    Science (algorithm)</a:t>
            </a:r>
          </a:p>
          <a:p>
            <a:r>
              <a:rPr lang="en-US" dirty="0">
                <a:solidFill>
                  <a:srgbClr val="FFFF00"/>
                </a:solidFill>
              </a:rPr>
              <a:t>    Art (coding)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        Idiots</a:t>
            </a:r>
          </a:p>
          <a:p>
            <a:r>
              <a:rPr lang="en-US" dirty="0">
                <a:solidFill>
                  <a:srgbClr val="FFFF00"/>
                </a:solidFill>
              </a:rPr>
              <a:t>Official Language</a:t>
            </a:r>
          </a:p>
          <a:p>
            <a:r>
              <a:rPr lang="en-US" dirty="0">
                <a:solidFill>
                  <a:srgbClr val="FFFF00"/>
                </a:solidFill>
              </a:rPr>
              <a:t>O/L math exception</a:t>
            </a:r>
          </a:p>
          <a:p>
            <a:r>
              <a:rPr lang="en-US" dirty="0">
                <a:solidFill>
                  <a:srgbClr val="FFFF00"/>
                </a:solidFill>
              </a:rPr>
              <a:t>Combine math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19ACA0A-9C1B-3154-D6F6-5CB220947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Translation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9AA7-6B73-4F37-A791-363F1D3F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9200"/>
            <a:ext cx="9220200" cy="495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We translate the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meaning</a:t>
            </a:r>
            <a:r>
              <a:rPr lang="en-US" dirty="0">
                <a:solidFill>
                  <a:srgbClr val="FF0000"/>
                </a:solidFill>
              </a:rPr>
              <a:t> but not the words</a:t>
            </a: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</a:rPr>
              <a:t>Biology – </a:t>
            </a:r>
            <a:r>
              <a:rPr lang="si-LK" dirty="0">
                <a:solidFill>
                  <a:srgbClr val="0070C0"/>
                </a:solidFill>
              </a:rPr>
              <a:t>ජීව විද්‍යාව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</a:rPr>
              <a:t>Computer Science</a:t>
            </a:r>
            <a:r>
              <a:rPr lang="si-LK" dirty="0">
                <a:solidFill>
                  <a:srgbClr val="0070C0"/>
                </a:solidFill>
              </a:rPr>
              <a:t> - පරිගණක විද්‍යාව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</a:rPr>
              <a:t>Civil Engineering</a:t>
            </a:r>
            <a:r>
              <a:rPr lang="si-LK" dirty="0">
                <a:solidFill>
                  <a:srgbClr val="0070C0"/>
                </a:solidFill>
              </a:rPr>
              <a:t>  - සිවිල් ඉංජිනේරු විද්‍යාව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Intelligent Machines </a:t>
            </a:r>
            <a:r>
              <a:rPr lang="en-US" dirty="0">
                <a:solidFill>
                  <a:srgbClr val="0070C0"/>
                </a:solidFill>
              </a:rPr>
              <a:t>- 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Artificial</a:t>
            </a:r>
            <a:r>
              <a:rPr lang="en-US" dirty="0">
                <a:solidFill>
                  <a:srgbClr val="0070C0"/>
                </a:solidFill>
              </a:rPr>
              <a:t> Intelligence(???) (Computational Intelligence, Machine Intelligence, Intelligent Systems)  </a:t>
            </a:r>
            <a:r>
              <a:rPr lang="si-LK" dirty="0">
                <a:solidFill>
                  <a:srgbClr val="FF0000"/>
                </a:solidFill>
                <a:highlight>
                  <a:srgbClr val="FFFF00"/>
                </a:highlight>
              </a:rPr>
              <a:t>කෘතිම</a:t>
            </a:r>
            <a:r>
              <a:rPr lang="si-LK" dirty="0">
                <a:solidFill>
                  <a:srgbClr val="FF0000"/>
                </a:solidFill>
              </a:rPr>
              <a:t> බුද්ධිය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si-LK" dirty="0">
                <a:solidFill>
                  <a:srgbClr val="0070C0"/>
                </a:solidFill>
              </a:rPr>
              <a:t>බුද්ධිමය යාන්ත්‍ර විද්‍යාව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</a:rPr>
              <a:t>After introducing Artificial Intelligence, what are the areas?</a:t>
            </a:r>
          </a:p>
          <a:p>
            <a:pPr lvl="2">
              <a:defRPr/>
            </a:pPr>
            <a:r>
              <a:rPr lang="en-US" dirty="0">
                <a:solidFill>
                  <a:srgbClr val="0070C0"/>
                </a:solidFill>
              </a:rPr>
              <a:t>Multi-Agent Systems, Natural Language Processing, Robotics, Computer Vision, ANN (Machine Learning)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si-LK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u="sng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546C04-75C4-487B-2927-397592235077}"/>
              </a:ext>
            </a:extLst>
          </p:cNvPr>
          <p:cNvSpPr/>
          <p:nvPr/>
        </p:nvSpPr>
        <p:spPr>
          <a:xfrm>
            <a:off x="7315200" y="5867400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2</a:t>
            </a:r>
          </a:p>
          <a:p>
            <a:pPr algn="ctr">
              <a:defRPr/>
            </a:pPr>
            <a:r>
              <a:rPr lang="en-US" sz="1400" dirty="0"/>
              <a:t>28/06/2026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347F0E-7FF3-354C-889F-33060E6F4F90}"/>
              </a:ext>
            </a:extLst>
          </p:cNvPr>
          <p:cNvSpPr txBox="1"/>
          <p:nvPr/>
        </p:nvSpPr>
        <p:spPr>
          <a:xfrm>
            <a:off x="9753600" y="1905000"/>
            <a:ext cx="254428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Name</a:t>
            </a:r>
          </a:p>
          <a:p>
            <a:r>
              <a:rPr lang="en-US" dirty="0">
                <a:solidFill>
                  <a:srgbClr val="FFFF00"/>
                </a:solidFill>
              </a:rPr>
              <a:t>   AI/CI/IS/MI</a:t>
            </a:r>
          </a:p>
          <a:p>
            <a:r>
              <a:rPr lang="en-US" dirty="0">
                <a:solidFill>
                  <a:srgbClr val="FFFF00"/>
                </a:solidFill>
              </a:rPr>
              <a:t>   LISP/Prolog</a:t>
            </a:r>
          </a:p>
          <a:p>
            <a:r>
              <a:rPr lang="en-US" dirty="0">
                <a:solidFill>
                  <a:srgbClr val="FFFF00"/>
                </a:solidFill>
              </a:rPr>
              <a:t>   logic-based/anti-logic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Colleges/Institutes</a:t>
            </a:r>
          </a:p>
          <a:p>
            <a:r>
              <a:rPr lang="en-US" dirty="0">
                <a:solidFill>
                  <a:srgbClr val="FFFF00"/>
                </a:solidFill>
              </a:rPr>
              <a:t>Schools</a:t>
            </a:r>
          </a:p>
          <a:p>
            <a:r>
              <a:rPr lang="en-US" dirty="0">
                <a:solidFill>
                  <a:srgbClr val="FFFF00"/>
                </a:solidFill>
              </a:rPr>
              <a:t>Faculties</a:t>
            </a:r>
          </a:p>
          <a:p>
            <a:r>
              <a:rPr lang="en-US" dirty="0">
                <a:solidFill>
                  <a:srgbClr val="FFFF00"/>
                </a:solidFill>
              </a:rPr>
              <a:t>Departments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Shortsighted – </a:t>
            </a:r>
            <a:endParaRPr lang="si-LK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X  </a:t>
            </a:r>
            <a:r>
              <a:rPr lang="si-LK" dirty="0">
                <a:solidFill>
                  <a:srgbClr val="FFFF00"/>
                </a:solidFill>
              </a:rPr>
              <a:t>අවිඅදුර දෘෂ්දටිකත්වය</a:t>
            </a:r>
          </a:p>
          <a:p>
            <a:r>
              <a:rPr lang="en-US" dirty="0">
                <a:solidFill>
                  <a:srgbClr val="FFFF00"/>
                </a:solidFill>
              </a:rPr>
              <a:t>     </a:t>
            </a:r>
            <a:r>
              <a:rPr lang="si-LK" dirty="0">
                <a:solidFill>
                  <a:srgbClr val="FFFF00"/>
                </a:solidFill>
              </a:rPr>
              <a:t>දුර නොපෙනීම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013997E-8201-E484-2BFF-B13125940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800" b="1" dirty="0">
                <a:solidFill>
                  <a:srgbClr val="00B050"/>
                </a:solidFill>
              </a:rPr>
              <a:t>Why are some reluctant to </a:t>
            </a:r>
            <a:r>
              <a:rPr lang="en-US" altLang="en-US" sz="3800" b="1" dirty="0">
                <a:solidFill>
                  <a:srgbClr val="00B050"/>
                </a:solidFill>
                <a:highlight>
                  <a:srgbClr val="FFFF00"/>
                </a:highlight>
              </a:rPr>
              <a:t>write</a:t>
            </a:r>
            <a:r>
              <a:rPr lang="en-US" altLang="en-US" sz="3800" b="1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8C3B1C9-E307-9B2A-92FD-E45D6A61D8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6063" y="914400"/>
            <a:ext cx="89154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>
                <a:solidFill>
                  <a:srgbClr val="0070C0"/>
                </a:solidFill>
              </a:rPr>
              <a:t>They do not </a:t>
            </a:r>
            <a:r>
              <a:rPr lang="en-US" altLang="en-US" sz="2600" dirty="0">
                <a:solidFill>
                  <a:srgbClr val="FF0000"/>
                </a:solidFill>
              </a:rPr>
              <a:t>write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0070C0"/>
                </a:solidFill>
              </a:rPr>
              <a:t>They do not </a:t>
            </a:r>
            <a:r>
              <a:rPr lang="en-US" altLang="en-US" sz="2600" dirty="0">
                <a:solidFill>
                  <a:srgbClr val="FF0000"/>
                </a:solidFill>
                <a:highlight>
                  <a:srgbClr val="FFFF00"/>
                </a:highlight>
              </a:rPr>
              <a:t>read</a:t>
            </a:r>
            <a:r>
              <a:rPr lang="en-US" altLang="en-US" sz="2600" dirty="0">
                <a:solidFill>
                  <a:srgbClr val="FF0000"/>
                </a:solidFill>
              </a:rPr>
              <a:t> (reading comprehension is an issue)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Tuition and online education made reading less important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Read about great minds in history (scientists)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 Students from the math stream are not encouraged to read (prove that, show that,..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They have bad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reading habits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Browsing, navigation  (will not remember)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They do not try to express in </a:t>
            </a:r>
            <a:r>
              <a:rPr lang="en-US" altLang="en-US" sz="2600" dirty="0">
                <a:solidFill>
                  <a:srgbClr val="3333FF"/>
                </a:solidFill>
                <a:highlight>
                  <a:srgbClr val="FFFF00"/>
                </a:highlight>
              </a:rPr>
              <a:t>their own words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 Surprisingly, we are very good at making 1 as 7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Yet they do not write summaries/notes in their own words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They do not know about successful writers (Russell, Hawking, Feynman) 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Inappropriate (unknowing) use of technologies?</a:t>
            </a:r>
          </a:p>
          <a:p>
            <a:pPr eaLnBrk="1" hangingPunct="1">
              <a:defRPr/>
            </a:pPr>
            <a:endParaRPr lang="en-US" altLang="en-US" sz="2600" dirty="0">
              <a:solidFill>
                <a:srgbClr val="3333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90F2E-E196-A4C9-1EA2-8730A585AC9B}"/>
              </a:ext>
            </a:extLst>
          </p:cNvPr>
          <p:cNvSpPr txBox="1"/>
          <p:nvPr/>
        </p:nvSpPr>
        <p:spPr>
          <a:xfrm>
            <a:off x="9677400" y="1752600"/>
            <a:ext cx="3224213" cy="20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Today communication is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an issue than ever before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for humanity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00"/>
                </a:solidFill>
              </a:rPr>
              <a:t> The machine has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outperformed humanity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in reading comprehension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BC5FD5B-E3D5-CC56-DBC6-7180A7625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 altLang="en-US" sz="4400" b="1">
                <a:solidFill>
                  <a:srgbClr val="00B050"/>
                </a:solidFill>
              </a:rPr>
              <a:t>Why are some reluctant to write?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40043-8B29-46E3-8223-4422646D5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3637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>
                <a:solidFill>
                  <a:srgbClr val="3333FF"/>
                </a:solidFill>
              </a:rPr>
              <a:t>Attitudes toward </a:t>
            </a:r>
            <a:r>
              <a:rPr lang="en-US" altLang="en-US" sz="2600" dirty="0">
                <a:solidFill>
                  <a:srgbClr val="3333FF"/>
                </a:solidFill>
                <a:highlight>
                  <a:srgbClr val="FFFF00"/>
                </a:highlight>
              </a:rPr>
              <a:t>revisions 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Does not want to change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Word-level modification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Discuss what Russell said about revision</a:t>
            </a:r>
            <a:r>
              <a:rPr lang="si-LK" altLang="en-US" sz="2200" dirty="0">
                <a:solidFill>
                  <a:srgbClr val="FF3300"/>
                </a:solidFill>
              </a:rPr>
              <a:t> (</a:t>
            </a:r>
            <a:r>
              <a:rPr lang="en-US" altLang="en-US" sz="2200" dirty="0">
                <a:solidFill>
                  <a:srgbClr val="FF3300"/>
                </a:solidFill>
              </a:rPr>
              <a:t>How I write)</a:t>
            </a:r>
          </a:p>
          <a:p>
            <a:pPr lvl="2" eaLnBrk="1" hangingPunct="1">
              <a:defRPr/>
            </a:pPr>
            <a:r>
              <a:rPr lang="en-US" altLang="en-US" sz="1800" dirty="0">
                <a:solidFill>
                  <a:srgbClr val="FF3300"/>
                </a:solidFill>
              </a:rPr>
              <a:t>Read, get the idea, write a new one, delete the old one?</a:t>
            </a:r>
          </a:p>
          <a:p>
            <a:pPr lvl="2" eaLnBrk="1" hangingPunct="1">
              <a:defRPr/>
            </a:pPr>
            <a:r>
              <a:rPr lang="en-US" altLang="en-US" sz="1800" dirty="0">
                <a:solidFill>
                  <a:srgbClr val="FF3300"/>
                </a:solidFill>
              </a:rPr>
              <a:t>Read, get the idea, delete the old one, write a new one?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Sri Lanka </a:t>
            </a:r>
            <a:r>
              <a:rPr lang="en-US" altLang="en-US" sz="2200" dirty="0">
                <a:solidFill>
                  <a:srgbClr val="0070C0"/>
                </a:solidFill>
              </a:rPr>
              <a:t>is a tropical country </a:t>
            </a:r>
            <a:r>
              <a:rPr lang="en-US" altLang="en-US" sz="2200" dirty="0">
                <a:solidFill>
                  <a:srgbClr val="FF3300"/>
                </a:solidFill>
              </a:rPr>
              <a:t>with many fruits and vegetables containing vitamins and minerals.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Sri Lanka with many fruits and vegetables containing vitamins and minerals. (</a:t>
            </a:r>
            <a:r>
              <a:rPr lang="en-US" altLang="en-US" sz="2200" dirty="0">
                <a:solidFill>
                  <a:srgbClr val="FF3300"/>
                </a:solidFill>
                <a:highlight>
                  <a:srgbClr val="FFFF00"/>
                </a:highlight>
              </a:rPr>
              <a:t>deleted</a:t>
            </a:r>
            <a:r>
              <a:rPr lang="en-US" altLang="en-US" sz="2200" dirty="0">
                <a:solidFill>
                  <a:srgbClr val="FF3300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As a tropical country, Sri Lanka has many fruits and vegetables containing vitamins and minerals. (added)</a:t>
            </a:r>
          </a:p>
          <a:p>
            <a:pPr lvl="1" eaLnBrk="1" hangingPunct="1">
              <a:defRPr/>
            </a:pPr>
            <a:endParaRPr lang="en-US" altLang="en-US" sz="2200" dirty="0">
              <a:solidFill>
                <a:srgbClr val="FF3300"/>
              </a:solidFill>
            </a:endParaRPr>
          </a:p>
          <a:p>
            <a:pPr lvl="1" eaLnBrk="1" hangingPunct="1">
              <a:defRPr/>
            </a:pPr>
            <a:endParaRPr lang="en-US" altLang="en-US" sz="2200" dirty="0">
              <a:solidFill>
                <a:srgbClr val="FF3300"/>
              </a:solidFill>
            </a:endParaRPr>
          </a:p>
          <a:p>
            <a:pPr lvl="1" eaLnBrk="1" hangingPunct="1">
              <a:defRPr/>
            </a:pPr>
            <a:endParaRPr lang="en-US" altLang="en-US" sz="2200" dirty="0">
              <a:solidFill>
                <a:srgbClr val="FF33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2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E0839E7-D9FC-1056-6D2C-362263E17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 1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6550866-6AFA-A1B0-B44D-9D08E65138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>
                <a:solidFill>
                  <a:srgbClr val="0070C0"/>
                </a:solidFill>
              </a:rPr>
              <a:t>Read the article ‘How I Write’ by Bertrand Russell (logician, philosopher, writer) and describe your findings for the next lecture.</a:t>
            </a:r>
          </a:p>
          <a:p>
            <a:pPr marL="342900" lvl="1" indent="0" algn="just">
              <a:buFont typeface="Wingdings" panose="05000000000000000000" pitchFamily="2" charset="2"/>
              <a:buNone/>
            </a:pP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3C0152E-0D4E-A190-E54D-483E89058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174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Issues with our own students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CBA6D1A-E72B-D526-825C-61A28C34B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06488"/>
            <a:ext cx="8774112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FF3300"/>
                </a:solidFill>
              </a:rPr>
              <a:t>Language issue (should this be an issue?)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Lack of reading </a:t>
            </a:r>
            <a:r>
              <a:rPr lang="en-US" altLang="en-US" sz="2400" dirty="0">
                <a:solidFill>
                  <a:srgbClr val="00B050"/>
                </a:solidFill>
              </a:rPr>
              <a:t>is a serious problem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>
                <a:solidFill>
                  <a:srgbClr val="00B050"/>
                </a:solidFill>
              </a:rPr>
              <a:t>Reading comprehension is so weak, as reflected in the exam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FF3300"/>
                </a:solidFill>
              </a:rPr>
              <a:t>Bad reading habits or no reading habits at all [3].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Lack of reading or writing culture in Sri Lanka.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Unable to </a:t>
            </a:r>
            <a:r>
              <a:rPr lang="en-US" alt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take notes/summaries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Poor expression ability: tends to </a:t>
            </a:r>
            <a:r>
              <a:rPr lang="en-US" alt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write in point form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Unnecessary, </a:t>
            </a: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irrelevant, repetitive </a:t>
            </a:r>
            <a:r>
              <a:rPr lang="en-US" altLang="en-US" sz="2400" dirty="0">
                <a:solidFill>
                  <a:srgbClr val="0070C0"/>
                </a:solidFill>
              </a:rPr>
              <a:t>details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Poor vocabulary </a:t>
            </a:r>
            <a:r>
              <a:rPr lang="en-US" altLang="en-US" sz="2400" dirty="0">
                <a:solidFill>
                  <a:srgbClr val="00B050"/>
                </a:solidFill>
              </a:rPr>
              <a:t>(why? – lack of reading)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Careless</a:t>
            </a:r>
            <a:r>
              <a:rPr lang="en-US" altLang="en-US" sz="2400" dirty="0">
                <a:solidFill>
                  <a:srgbClr val="00B050"/>
                </a:solidFill>
              </a:rPr>
              <a:t> grammatical mistakes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Cannot maintain the flow of a write-up (</a:t>
            </a:r>
            <a:r>
              <a:rPr lang="en-US" alt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pragmatic</a:t>
            </a:r>
            <a:r>
              <a:rPr lang="en-US" altLang="en-US" sz="2400" dirty="0">
                <a:solidFill>
                  <a:srgbClr val="00B050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Telling directions is a good exercise to practice pragmatic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7747496-4510-69F8-DAE7-906634D01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Issues with our students…..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45E1C8E-0428-EC8C-3950-15BEB0E5B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440" y="1417638"/>
            <a:ext cx="89154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3333FF"/>
                </a:solidFill>
              </a:rPr>
              <a:t>Ignorance of appropriate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words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FF3300"/>
                </a:solidFill>
              </a:rPr>
              <a:t>Describe, analyze, review, explain, conclude, propose,  investigate, suggest, highlight, present, discuss, argue, claim, state, respond,…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3333FF"/>
                </a:solidFill>
              </a:rPr>
              <a:t>Incorrect use of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connecting words</a:t>
            </a:r>
            <a:r>
              <a:rPr lang="en-US" altLang="en-US" dirty="0">
                <a:solidFill>
                  <a:srgbClr val="3333FF"/>
                </a:solidFill>
              </a:rPr>
              <a:t> such as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FF3300"/>
                </a:solidFill>
              </a:rPr>
              <a:t>Therefore, because, instead, despite, in spite of the fact that, in this sense, besides, as such, in contrast, In doing so, also, further, in addition, although, Nevertheless, but, yet, in fact, …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3333FF"/>
                </a:solidFill>
              </a:rPr>
              <a:t>Get More details from “How to write your thesis”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8221157-2C00-02E9-0A8D-129AD5581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Issues with our own students…..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5BFBCE1-E8DA-B3A7-5BC2-739426A45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16000"/>
            <a:ext cx="8839200" cy="49879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Inappropriate use of technologies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Spell checkers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Grammar checkers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Word processors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Reference managers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ChatGPT</a:t>
            </a:r>
            <a:endParaRPr lang="en-US" altLang="en-US" dirty="0">
              <a:solidFill>
                <a:srgbClr val="FF3300"/>
              </a:solidFill>
            </a:endParaRP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If you know how to write, then technology improves you. Otherwise, technology kills your ability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Reading questions </a:t>
            </a:r>
            <a:r>
              <a:rPr lang="en-US" altLang="en-US" sz="2600" dirty="0">
                <a:solidFill>
                  <a:srgbClr val="0070C0"/>
                </a:solidFill>
              </a:rPr>
              <a:t>by </a:t>
            </a:r>
            <a:r>
              <a:rPr lang="en-US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a lecturer </a:t>
            </a:r>
            <a:r>
              <a:rPr lang="en-US" altLang="en-US" sz="2600" dirty="0">
                <a:solidFill>
                  <a:srgbClr val="0070C0"/>
                </a:solidFill>
              </a:rPr>
              <a:t>for a student and reading questions by the student himself have an impact.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Effect of PDF reader?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Tuition culture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>
              <a:solidFill>
                <a:srgbClr val="FF0000"/>
              </a:solidFill>
            </a:endParaRPr>
          </a:p>
        </p:txBody>
      </p:sp>
      <p:sp>
        <p:nvSpPr>
          <p:cNvPr id="30724" name="TextBox 3">
            <a:extLst>
              <a:ext uri="{FF2B5EF4-FFF2-40B4-BE49-F238E27FC236}">
                <a16:creationId xmlns:a16="http://schemas.microsoft.com/office/drawing/2014/main" id="{E2EC016C-3824-48EB-4E5E-6C4ED73F9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0" y="1674813"/>
            <a:ext cx="34607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Reading ability</a:t>
            </a:r>
          </a:p>
          <a:p>
            <a:r>
              <a:rPr lang="en-US" altLang="en-US"/>
              <a:t>Reading and understanding</a:t>
            </a:r>
          </a:p>
          <a:p>
            <a:r>
              <a:rPr lang="en-US" altLang="en-US"/>
              <a:t>Making summaries/short</a:t>
            </a:r>
          </a:p>
          <a:p>
            <a:r>
              <a:rPr lang="en-US" altLang="en-US"/>
              <a:t>Ability do self study</a:t>
            </a:r>
          </a:p>
          <a:p>
            <a:r>
              <a:rPr lang="en-US" altLang="en-US"/>
              <a:t>Understanding/remembering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2EEEA207-A85F-4B62-AABD-17F6E6BD5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 2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0BB6EF7A-F255-D009-C00B-6014FBFA83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 algn="just"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Generally, Mathematics students should be able to communicate effectively. However, this is not true for Sri Lankan math students. Why?</a:t>
            </a:r>
          </a:p>
          <a:p>
            <a:pPr lvl="1" algn="just">
              <a:defRPr/>
            </a:pPr>
            <a:r>
              <a:rPr lang="en-US" altLang="en-US" sz="2400" dirty="0" err="1">
                <a:solidFill>
                  <a:srgbClr val="0070C0"/>
                </a:solidFill>
              </a:rPr>
              <a:t>Maths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does not encourage reading</a:t>
            </a:r>
            <a:r>
              <a:rPr lang="en-US" altLang="en-US" sz="2400" dirty="0">
                <a:solidFill>
                  <a:srgbClr val="0070C0"/>
                </a:solidFill>
              </a:rPr>
              <a:t>.  Therefore, they do not learn </a:t>
            </a: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good writing styles</a:t>
            </a:r>
            <a:r>
              <a:rPr lang="en-US" altLang="en-US" sz="2400" dirty="0">
                <a:solidFill>
                  <a:srgbClr val="0070C0"/>
                </a:solidFill>
              </a:rPr>
              <a:t>. They also lack </a:t>
            </a: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information/facts to write</a:t>
            </a:r>
            <a:r>
              <a:rPr lang="en-US" altLang="en-US" sz="2400" dirty="0">
                <a:solidFill>
                  <a:srgbClr val="0070C0"/>
                </a:solidFill>
              </a:rPr>
              <a:t>. They do not improve their </a:t>
            </a: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vocabulary and spelling</a:t>
            </a:r>
            <a:r>
              <a:rPr lang="en-US" altLang="en-US" sz="2400" dirty="0">
                <a:solidFill>
                  <a:srgbClr val="0070C0"/>
                </a:solidFill>
              </a:rPr>
              <a:t>. As a result, they tend to write less with lots of mistakes. Despite math being an algorithmic subject, math students have pragmatic issues. </a:t>
            </a:r>
          </a:p>
          <a:p>
            <a:pPr algn="just">
              <a:defRPr/>
            </a:pPr>
            <a:endParaRPr lang="en-US" alt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C8F58F2-1FB9-F717-BFFD-73945A028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Summary of improvements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51B54AF-9712-2E0E-BCC0-911895AE1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63637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Lack of reading</a:t>
            </a:r>
            <a:r>
              <a:rPr lang="en-US" altLang="en-US" sz="2800" dirty="0">
                <a:solidFill>
                  <a:srgbClr val="0070C0"/>
                </a:solidFill>
              </a:rPr>
              <a:t> ends up as an issue of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reading comprehension</a:t>
            </a:r>
            <a:r>
              <a:rPr lang="en-US" altLang="en-US" sz="2800" dirty="0">
                <a:solidFill>
                  <a:srgbClr val="0070C0"/>
                </a:solidFill>
              </a:rPr>
              <a:t> for students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To develop interest in reading, start with stories of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great scientists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Pragmatic</a:t>
            </a:r>
            <a:r>
              <a:rPr lang="en-US" altLang="en-US" sz="2800" dirty="0">
                <a:solidFill>
                  <a:srgbClr val="FF0000"/>
                </a:solidFill>
              </a:rPr>
              <a:t> (flow in expression) issue in communication. Improve </a:t>
            </a: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algorithmic thinking</a:t>
            </a:r>
            <a:r>
              <a:rPr lang="en-US" altLang="en-US" sz="2800" dirty="0">
                <a:solidFill>
                  <a:srgbClr val="FF0000"/>
                </a:solidFill>
              </a:rPr>
              <a:t> (thinking, mathematics, programming/coding, AI) 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Inability to write in your own words</a:t>
            </a:r>
            <a:r>
              <a:rPr lang="en-US" altLang="en-US" sz="2800" dirty="0">
                <a:solidFill>
                  <a:srgbClr val="0070C0"/>
                </a:solidFill>
              </a:rPr>
              <a:t> becomes an issue of not being able to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take notes</a:t>
            </a:r>
            <a:endParaRPr lang="si-LK" altLang="en-US" sz="2800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Ignorance of good writing </a:t>
            </a:r>
            <a:r>
              <a:rPr lang="en-US" altLang="en-US" sz="2800" dirty="0">
                <a:solidFill>
                  <a:srgbClr val="0070C0"/>
                </a:solidFill>
              </a:rPr>
              <a:t>styles  is also due to a lack of reading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Poor vocabulary/spelling </a:t>
            </a:r>
            <a:r>
              <a:rPr lang="en-US" altLang="en-US" sz="2800" dirty="0">
                <a:solidFill>
                  <a:srgbClr val="0070C0"/>
                </a:solidFill>
              </a:rPr>
              <a:t>due to lack of reading</a:t>
            </a:r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32772" name="TextBox 1">
            <a:extLst>
              <a:ext uri="{FF2B5EF4-FFF2-40B4-BE49-F238E27FC236}">
                <a16:creationId xmlns:a16="http://schemas.microsoft.com/office/drawing/2014/main" id="{48F42FA9-21CA-7612-BA4E-9BCAE2F5E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1905000"/>
            <a:ext cx="271145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FFF00"/>
                </a:solidFill>
              </a:rPr>
              <a:t>Algorithmic thinking</a:t>
            </a:r>
          </a:p>
          <a:p>
            <a:r>
              <a:rPr lang="en-US" altLang="en-US">
                <a:solidFill>
                  <a:srgbClr val="FFFF00"/>
                </a:solidFill>
              </a:rPr>
              <a:t>Improves</a:t>
            </a:r>
          </a:p>
          <a:p>
            <a:r>
              <a:rPr lang="en-US" altLang="en-US">
                <a:solidFill>
                  <a:srgbClr val="FFFF00"/>
                </a:solidFill>
              </a:rPr>
              <a:t>    AI</a:t>
            </a:r>
          </a:p>
          <a:p>
            <a:r>
              <a:rPr lang="en-US" altLang="en-US">
                <a:solidFill>
                  <a:srgbClr val="FFFF00"/>
                </a:solidFill>
              </a:rPr>
              <a:t>   Mathematics</a:t>
            </a:r>
          </a:p>
          <a:p>
            <a:r>
              <a:rPr lang="en-US" altLang="en-US">
                <a:solidFill>
                  <a:srgbClr val="FFFF00"/>
                </a:solidFill>
              </a:rPr>
              <a:t>   Programming/coding</a:t>
            </a:r>
          </a:p>
          <a:p>
            <a:endParaRPr lang="en-US" altLang="en-US">
              <a:solidFill>
                <a:srgbClr val="FFFF00"/>
              </a:solidFill>
            </a:endParaRPr>
          </a:p>
          <a:p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Exercises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Games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Construction sets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Cross-world puzzle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Cleaning</a:t>
            </a:r>
          </a:p>
          <a:p>
            <a:pPr lvl="1"/>
            <a:r>
              <a:rPr lang="en-US" altLang="en-US">
                <a:solidFill>
                  <a:srgbClr val="FFFF00"/>
                </a:solidFill>
              </a:rPr>
              <a:t>Organizing an event</a:t>
            </a:r>
          </a:p>
          <a:p>
            <a:endParaRPr lang="en-US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708C2EF-DC0A-55DF-4E0F-9A45363A5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B050"/>
                </a:solidFill>
              </a:rPr>
              <a:t>Preparing for Exams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511CEC71-7D06-4180-AB22-B0A7BDAA1C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   </a:t>
            </a:r>
          </a:p>
        </p:txBody>
      </p:sp>
      <p:sp>
        <p:nvSpPr>
          <p:cNvPr id="34820" name="TextBox 3">
            <a:extLst>
              <a:ext uri="{FF2B5EF4-FFF2-40B4-BE49-F238E27FC236}">
                <a16:creationId xmlns:a16="http://schemas.microsoft.com/office/drawing/2014/main" id="{DAF05DB1-3354-5AA2-5CBA-05928EF6A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91000"/>
            <a:ext cx="22494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Outline  (visualizer)</a:t>
            </a:r>
          </a:p>
          <a:p>
            <a:pPr lvl="1"/>
            <a:r>
              <a:rPr lang="en-US" altLang="en-US" dirty="0"/>
              <a:t>Communication</a:t>
            </a:r>
          </a:p>
          <a:p>
            <a:pPr lvl="1"/>
            <a:r>
              <a:rPr lang="en-US" altLang="en-US" dirty="0"/>
              <a:t>Reading</a:t>
            </a:r>
          </a:p>
          <a:p>
            <a:pPr lvl="1"/>
            <a:r>
              <a:rPr lang="en-US" altLang="en-US" dirty="0"/>
              <a:t>Writing</a:t>
            </a:r>
          </a:p>
          <a:p>
            <a:pPr lvl="1"/>
            <a:r>
              <a:rPr lang="en-US" altLang="en-US" dirty="0"/>
              <a:t>Presentation</a:t>
            </a:r>
          </a:p>
          <a:p>
            <a:endParaRPr lang="en-US" altLang="en-US" dirty="0"/>
          </a:p>
        </p:txBody>
      </p:sp>
      <p:sp>
        <p:nvSpPr>
          <p:cNvPr id="34821" name="TextBox 4">
            <a:extLst>
              <a:ext uri="{FF2B5EF4-FFF2-40B4-BE49-F238E27FC236}">
                <a16:creationId xmlns:a16="http://schemas.microsoft.com/office/drawing/2014/main" id="{8F9D956C-7235-7ADA-3F5F-CA36A8EC7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8" y="1524000"/>
            <a:ext cx="3186113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Dashboard</a:t>
            </a:r>
          </a:p>
          <a:p>
            <a:endParaRPr lang="en-US" altLang="en-US" dirty="0"/>
          </a:p>
          <a:p>
            <a:r>
              <a:rPr lang="en-US" altLang="en-US" dirty="0"/>
              <a:t>Read, write, language</a:t>
            </a:r>
          </a:p>
          <a:p>
            <a:r>
              <a:rPr lang="en-US" altLang="en-US" dirty="0"/>
              <a:t>Lexicon, syntax, semantics,</a:t>
            </a:r>
          </a:p>
          <a:p>
            <a:r>
              <a:rPr lang="en-US" altLang="en-US" dirty="0"/>
              <a:t>Pragmatic, ChatGPT, reading</a:t>
            </a:r>
          </a:p>
          <a:p>
            <a:r>
              <a:rPr lang="en-US" altLang="en-US" dirty="0"/>
              <a:t>Comprehension, NLP, ML </a:t>
            </a:r>
          </a:p>
          <a:p>
            <a:endParaRPr lang="en-US" altLang="en-US" dirty="0"/>
          </a:p>
        </p:txBody>
      </p:sp>
      <p:sp>
        <p:nvSpPr>
          <p:cNvPr id="34822" name="TextBox 5">
            <a:extLst>
              <a:ext uri="{FF2B5EF4-FFF2-40B4-BE49-F238E27FC236}">
                <a16:creationId xmlns:a16="http://schemas.microsoft.com/office/drawing/2014/main" id="{97446699-9E59-AF0A-3EF3-67A051856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981200"/>
            <a:ext cx="119697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Organizer</a:t>
            </a:r>
          </a:p>
          <a:p>
            <a:endParaRPr lang="en-US" altLang="en-US" dirty="0"/>
          </a:p>
          <a:p>
            <a:r>
              <a:rPr lang="en-US" altLang="en-US" dirty="0"/>
              <a:t>Q1</a:t>
            </a:r>
          </a:p>
          <a:p>
            <a:endParaRPr lang="en-US" altLang="en-US" dirty="0"/>
          </a:p>
          <a:p>
            <a:r>
              <a:rPr lang="en-US" altLang="en-US" dirty="0"/>
              <a:t>Q2</a:t>
            </a:r>
          </a:p>
          <a:p>
            <a:endParaRPr lang="en-US" altLang="en-US" dirty="0"/>
          </a:p>
          <a:p>
            <a:r>
              <a:rPr lang="en-US" altLang="en-US" dirty="0"/>
              <a:t>Q3</a:t>
            </a:r>
          </a:p>
          <a:p>
            <a:endParaRPr lang="en-US" altLang="en-US" dirty="0"/>
          </a:p>
          <a:p>
            <a:r>
              <a:rPr lang="en-US" altLang="en-US" dirty="0"/>
              <a:t>Q4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520409E-6EC5-43FB-7817-71582ACD2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READING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D21710D7-719B-0400-6D91-2A8A87FAD9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417638"/>
            <a:ext cx="8534400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There were many modules on writing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Scientific writing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Technical writing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Writing research papers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But the starting point should be inculcating a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reading</a:t>
            </a:r>
            <a:r>
              <a:rPr lang="en-US" altLang="en-US" dirty="0">
                <a:solidFill>
                  <a:srgbClr val="FF0000"/>
                </a:solidFill>
              </a:rPr>
              <a:t> culture</a:t>
            </a:r>
          </a:p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Any researcher starts research by reading (Literature Review)</a:t>
            </a:r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964B550-F9DF-C48C-4E87-268A022B2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36538"/>
            <a:ext cx="8229600" cy="1139825"/>
          </a:xfrm>
        </p:spPr>
        <p:txBody>
          <a:bodyPr/>
          <a:lstStyle/>
          <a:p>
            <a:pPr eaLnBrk="1" hangingPunct="1"/>
            <a:r>
              <a:rPr lang="en-GB" altLang="en-US" sz="3800" b="1">
                <a:solidFill>
                  <a:srgbClr val="00B050"/>
                </a:solidFill>
              </a:rPr>
              <a:t>Why Reading?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BFB2A4C-1E83-40D9-7176-C74EE6F73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296400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sz="2400" dirty="0">
                <a:solidFill>
                  <a:srgbClr val="FF3300"/>
                </a:solidFill>
              </a:rPr>
              <a:t>Reading improves communication skills because</a:t>
            </a:r>
            <a:r>
              <a:rPr lang="en-GB" altLang="en-US" sz="2400" dirty="0"/>
              <a:t> 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It gives the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motivation to write</a:t>
            </a:r>
            <a:r>
              <a:rPr lang="en-GB" altLang="en-US" sz="2200" dirty="0">
                <a:solidFill>
                  <a:srgbClr val="3333FF"/>
                </a:solidFill>
              </a:rPr>
              <a:t>  (Martin Wickremasinghe)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It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improves your vocabulary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It shows some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nice usage of  languages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Reading is an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aid for remembering and thinking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Reading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collects information/fact</a:t>
            </a:r>
            <a:r>
              <a:rPr lang="en-GB" altLang="en-US" sz="2200" dirty="0">
                <a:solidFill>
                  <a:srgbClr val="3333FF"/>
                </a:solidFill>
              </a:rPr>
              <a:t>s on a topic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 A researcher can find what is done: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problems, solutions</a:t>
            </a:r>
            <a:endParaRPr lang="en-GB" altLang="en-US" sz="2200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write material like:  Proposal, Progress Reports, Thesis, papers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 Papers (abstracts, introductions, methods, conclusions, citations,..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Reading one doc, you will find many references to many docs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Reading improves verbal and written communication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Reading activates/wakes up  thinking, leading to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understanding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Reading  improves your understanding of a topic</a:t>
            </a:r>
          </a:p>
          <a:p>
            <a:pPr eaLnBrk="1" hangingPunct="1">
              <a:defRPr/>
            </a:pPr>
            <a:r>
              <a:rPr lang="en-GB" altLang="en-US" sz="2400" dirty="0">
                <a:solidFill>
                  <a:srgbClr val="FF3300"/>
                </a:solidFill>
              </a:rPr>
              <a:t>All good writers were good readers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GB" altLang="en-US" sz="2400" u="sng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endParaRPr lang="en-GB" altLang="en-US" sz="2800" dirty="0">
              <a:solidFill>
                <a:srgbClr val="FF3300"/>
              </a:solidFill>
            </a:endParaRPr>
          </a:p>
          <a:p>
            <a:pPr lvl="1" eaLnBrk="1" hangingPunct="1">
              <a:defRPr/>
            </a:pPr>
            <a:endParaRPr lang="en-GB" altLang="en-US" dirty="0">
              <a:solidFill>
                <a:srgbClr val="FF3300"/>
              </a:solidFill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EA124F9-542C-5EDC-1CE4-12D7E8CC95B2}"/>
              </a:ext>
            </a:extLst>
          </p:cNvPr>
          <p:cNvCxnSpPr>
            <a:stCxn id="35843" idx="2"/>
          </p:cNvCxnSpPr>
          <p:nvPr/>
        </p:nvCxnSpPr>
        <p:spPr>
          <a:xfrm rot="16200000" flipH="1">
            <a:off x="4354512" y="5734051"/>
            <a:ext cx="739775" cy="152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69" name="TextBox 1">
            <a:extLst>
              <a:ext uri="{FF2B5EF4-FFF2-40B4-BE49-F238E27FC236}">
                <a16:creationId xmlns:a16="http://schemas.microsoft.com/office/drawing/2014/main" id="{BEDFDDA0-7BEE-B650-AA6F-00E042E2C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791210"/>
            <a:ext cx="2494594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FF00"/>
                </a:solidFill>
              </a:rPr>
              <a:t>Introduction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Literature Review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  -issues/technology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  -problem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Methodology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    solution to the 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     problem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Conclusion</a:t>
            </a:r>
          </a:p>
          <a:p>
            <a:endParaRPr lang="en-US" altLang="en-US" dirty="0">
              <a:solidFill>
                <a:srgbClr val="FFFF00"/>
              </a:solidFill>
            </a:endParaRPr>
          </a:p>
          <a:p>
            <a:endParaRPr lang="en-US" altLang="en-US" dirty="0">
              <a:solidFill>
                <a:srgbClr val="FFFF00"/>
              </a:solidFill>
            </a:endParaRPr>
          </a:p>
          <a:p>
            <a:r>
              <a:rPr lang="en-US" altLang="en-US" dirty="0" err="1">
                <a:solidFill>
                  <a:srgbClr val="FFFF00"/>
                </a:solidFill>
              </a:rPr>
              <a:t>Axyz</a:t>
            </a:r>
            <a:r>
              <a:rPr lang="en-US" altLang="en-US" dirty="0">
                <a:solidFill>
                  <a:srgbClr val="FFFF00"/>
                </a:solidFill>
              </a:rPr>
              <a:t> [3] </a:t>
            </a:r>
            <a:r>
              <a:rPr lang="en-US" altLang="en-US" dirty="0" err="1">
                <a:solidFill>
                  <a:srgbClr val="FFFF00"/>
                </a:solidFill>
              </a:rPr>
              <a:t>assny</a:t>
            </a:r>
            <a:r>
              <a:rPr lang="en-US" altLang="en-US" dirty="0">
                <a:solidFill>
                  <a:srgbClr val="FFFF00"/>
                </a:solidFill>
              </a:rPr>
              <a:t> …..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[3] </a:t>
            </a: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 [10]  [17]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[3], [15]  [12], [10]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[8], [9]  [7], [9]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[10], [3]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stop</a:t>
            </a:r>
            <a:endParaRPr lang="en-US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F68AD98B-13F6-F6DC-B9BB-6B3C2ADC2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99041-5550-66A7-0A1F-C92034451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 Research (Reading)</a:t>
            </a:r>
          </a:p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Solving a problem (Methodology/technology)</a:t>
            </a:r>
          </a:p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Methodology (existing one or new one)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D8A90D2-5F79-DB96-893D-0FAFFB2C3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Some Sources for reading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681E092C-AB13-C409-88C9-E69FC5921B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76200" y="1066800"/>
            <a:ext cx="9296400" cy="4530725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Journals</a:t>
            </a:r>
            <a:r>
              <a:rPr lang="en-US" altLang="en-US" sz="2400" dirty="0">
                <a:solidFill>
                  <a:srgbClr val="0070C0"/>
                </a:solidFill>
              </a:rPr>
              <a:t> (periodicals)</a:t>
            </a: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Annually published many times (Issues, volume, No)</a:t>
            </a: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Journals</a:t>
            </a:r>
            <a:r>
              <a:rPr lang="en-US" altLang="en-US" sz="2300" dirty="0">
                <a:solidFill>
                  <a:srgbClr val="FF0000"/>
                </a:solidFill>
              </a:rPr>
              <a:t> publish high-quality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completed research</a:t>
            </a:r>
            <a:r>
              <a:rPr lang="en-US" altLang="en-US" sz="2300" dirty="0">
                <a:solidFill>
                  <a:srgbClr val="FF0000"/>
                </a:solidFill>
              </a:rPr>
              <a:t> work</a:t>
            </a: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 A journal </a:t>
            </a:r>
            <a:r>
              <a:rPr lang="en-US" altLang="en-US" sz="2300" dirty="0">
                <a:solidFill>
                  <a:srgbClr val="FF0000"/>
                </a:solidFill>
              </a:rPr>
              <a:t>paper can be produced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after </a:t>
            </a:r>
            <a:r>
              <a:rPr lang="en-US" altLang="en-US" sz="2300" dirty="0">
                <a:solidFill>
                  <a:srgbClr val="FF0000"/>
                </a:solidFill>
              </a:rPr>
              <a:t>your degree</a:t>
            </a:r>
          </a:p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Conference</a:t>
            </a:r>
            <a:r>
              <a:rPr lang="en-US" altLang="en-US" sz="2400" dirty="0">
                <a:solidFill>
                  <a:srgbClr val="0070C0"/>
                </a:solidFill>
              </a:rPr>
              <a:t>   (SLAAI-ICAI) proceedings</a:t>
            </a: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Papers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(ongoing research</a:t>
            </a:r>
            <a:r>
              <a:rPr lang="en-US" altLang="en-US" sz="2300" dirty="0">
                <a:solidFill>
                  <a:srgbClr val="FF0000"/>
                </a:solidFill>
              </a:rPr>
              <a:t>) are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presented </a:t>
            </a:r>
            <a:r>
              <a:rPr lang="en-US" altLang="en-US" sz="2300" dirty="0">
                <a:solidFill>
                  <a:srgbClr val="FF0000"/>
                </a:solidFill>
              </a:rPr>
              <a:t>at a conference</a:t>
            </a: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They publish those papers in a book called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Proceedings</a:t>
            </a: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Securing a conference paper is applicable for novice researchers to gain presentation and defense skills and get comments. </a:t>
            </a:r>
          </a:p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Books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Not up-to-date as Journals, so not suitable for research</a:t>
            </a:r>
          </a:p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Open access journals (free access)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E459EC1-8066-CBC2-E0FF-CB96F4E65E3A}"/>
              </a:ext>
            </a:extLst>
          </p:cNvPr>
          <p:cNvSpPr/>
          <p:nvPr/>
        </p:nvSpPr>
        <p:spPr>
          <a:xfrm>
            <a:off x="7315200" y="5791200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3</a:t>
            </a:r>
          </a:p>
          <a:p>
            <a:pPr algn="ctr">
              <a:defRPr/>
            </a:pPr>
            <a:r>
              <a:rPr lang="en-US" sz="1400" dirty="0"/>
              <a:t>05/07/2026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D25F6-7C28-069C-33D4-27AB072765B4}"/>
              </a:ext>
            </a:extLst>
          </p:cNvPr>
          <p:cNvSpPr txBox="1"/>
          <p:nvPr/>
        </p:nvSpPr>
        <p:spPr>
          <a:xfrm>
            <a:off x="9220200" y="1447800"/>
            <a:ext cx="40320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AAAI – American Association for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Artificial Intelligence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       Association for Advancements 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in  Artificial Intelligence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88D1F4F2-57E9-7DD5-D948-FA9E52215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92088"/>
            <a:ext cx="8991600" cy="1139825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Jargons in scientific publications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7319B2CD-E7DF-8ACC-8012-C4A897914D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525000" cy="523716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Authors</a:t>
            </a:r>
            <a:r>
              <a:rPr lang="en-US" altLang="en-US" sz="2800" dirty="0">
                <a:solidFill>
                  <a:srgbClr val="FF0000"/>
                </a:solidFill>
              </a:rPr>
              <a:t> (persons who write papers)</a:t>
            </a:r>
          </a:p>
          <a:p>
            <a:pPr>
              <a:defRPr/>
            </a:pPr>
            <a:r>
              <a:rPr lang="en-US" altLang="en-US" sz="2700" dirty="0">
                <a:solidFill>
                  <a:srgbClr val="0070C0"/>
                </a:solidFill>
                <a:highlight>
                  <a:srgbClr val="FFFF00"/>
                </a:highlight>
              </a:rPr>
              <a:t>Editors</a:t>
            </a:r>
            <a:r>
              <a:rPr lang="en-US" altLang="en-US" sz="2700" dirty="0">
                <a:solidFill>
                  <a:srgbClr val="0070C0"/>
                </a:solidFill>
              </a:rPr>
              <a:t> (send the paper to reviewers, decide on publishing)</a:t>
            </a:r>
          </a:p>
          <a:p>
            <a:pPr>
              <a:defRPr/>
            </a:pP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Reviewers</a:t>
            </a:r>
            <a:r>
              <a:rPr lang="en-US" altLang="en-US" sz="2800" dirty="0">
                <a:solidFill>
                  <a:srgbClr val="FF0000"/>
                </a:solidFill>
              </a:rPr>
              <a:t> (assess the technical quality of the paper)</a:t>
            </a:r>
          </a:p>
          <a:p>
            <a:pPr>
              <a:defRPr/>
            </a:pP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Publishers</a:t>
            </a:r>
            <a:r>
              <a:rPr lang="en-US" altLang="en-US" sz="2800" dirty="0">
                <a:solidFill>
                  <a:srgbClr val="0070C0"/>
                </a:solidFill>
              </a:rPr>
              <a:t> (a publisher publishes many journals)</a:t>
            </a:r>
          </a:p>
          <a:p>
            <a:pPr>
              <a:defRPr/>
            </a:pP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Citation Index</a:t>
            </a:r>
            <a:r>
              <a:rPr lang="en-US" altLang="en-US" sz="2800" dirty="0">
                <a:solidFill>
                  <a:srgbClr val="FF0000"/>
                </a:solidFill>
              </a:rPr>
              <a:t> (advertising journal in databases)</a:t>
            </a:r>
          </a:p>
          <a:p>
            <a:pPr>
              <a:defRPr/>
            </a:pP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Impact Factor</a:t>
            </a:r>
            <a:r>
              <a:rPr lang="en-US" altLang="en-US" sz="2800" dirty="0">
                <a:solidFill>
                  <a:srgbClr val="0070C0"/>
                </a:solidFill>
              </a:rPr>
              <a:t> of a journal (number of citations/total no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   of papers in the journal ) – 2 (computing), 30 (nature)</a:t>
            </a:r>
          </a:p>
          <a:p>
            <a:pPr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Publisher ensures publishing the paper in a </a:t>
            </a: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high-ranking index </a:t>
            </a:r>
            <a:r>
              <a:rPr lang="en-US" altLang="en-US" sz="2800" dirty="0">
                <a:solidFill>
                  <a:srgbClr val="FF0000"/>
                </a:solidFill>
              </a:rPr>
              <a:t>and </a:t>
            </a:r>
            <a:r>
              <a:rPr lang="en-US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high-impact factor</a:t>
            </a:r>
            <a:r>
              <a:rPr lang="en-US" altLang="en-US" sz="2800" dirty="0">
                <a:solidFill>
                  <a:srgbClr val="FF0000"/>
                </a:solidFill>
              </a:rPr>
              <a:t> Journal</a:t>
            </a:r>
          </a:p>
          <a:p>
            <a:pPr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10E9D8B-D386-87C3-962E-9AACE3A5E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Planning for a research paper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241C41B2-4E9D-AA46-8000-9E4941C36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18F92B-048A-336B-3DE0-29DF71A095EB}"/>
              </a:ext>
            </a:extLst>
          </p:cNvPr>
          <p:cNvSpPr/>
          <p:nvPr/>
        </p:nvSpPr>
        <p:spPr>
          <a:xfrm>
            <a:off x="990600" y="2608263"/>
            <a:ext cx="1079500" cy="4000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Authors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7F7B5-3451-CBFE-0C5C-A98510BA25FB}"/>
              </a:ext>
            </a:extLst>
          </p:cNvPr>
          <p:cNvSpPr/>
          <p:nvPr/>
        </p:nvSpPr>
        <p:spPr>
          <a:xfrm>
            <a:off x="4257675" y="2614613"/>
            <a:ext cx="1000125" cy="4000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Editor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465D8-EC1C-20C2-812E-02F9721D66FA}"/>
              </a:ext>
            </a:extLst>
          </p:cNvPr>
          <p:cNvSpPr/>
          <p:nvPr/>
        </p:nvSpPr>
        <p:spPr>
          <a:xfrm>
            <a:off x="5772150" y="2214563"/>
            <a:ext cx="142875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Reviewer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F6604-3D3D-DE07-4DD8-3897884FF1AA}"/>
              </a:ext>
            </a:extLst>
          </p:cNvPr>
          <p:cNvSpPr/>
          <p:nvPr/>
        </p:nvSpPr>
        <p:spPr>
          <a:xfrm>
            <a:off x="5772150" y="2938463"/>
            <a:ext cx="1428750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Reviewer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FDBA65-75D5-85CC-5142-6D7D986BE60B}"/>
              </a:ext>
            </a:extLst>
          </p:cNvPr>
          <p:cNvSpPr/>
          <p:nvPr/>
        </p:nvSpPr>
        <p:spPr>
          <a:xfrm>
            <a:off x="4081463" y="3522663"/>
            <a:ext cx="1323975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Publisher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77F09-B6C3-E40A-1FE7-8C78AAC640EA}"/>
              </a:ext>
            </a:extLst>
          </p:cNvPr>
          <p:cNvSpPr/>
          <p:nvPr/>
        </p:nvSpPr>
        <p:spPr>
          <a:xfrm>
            <a:off x="2863850" y="2614613"/>
            <a:ext cx="879475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Journal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5B0C44-A93D-92F7-B6F9-AE32CA6BD5CB}"/>
              </a:ext>
            </a:extLst>
          </p:cNvPr>
          <p:cNvCxnSpPr>
            <a:cxnSpLocks/>
          </p:cNvCxnSpPr>
          <p:nvPr/>
        </p:nvCxnSpPr>
        <p:spPr>
          <a:xfrm>
            <a:off x="2133600" y="2808288"/>
            <a:ext cx="73025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42E993-98E8-BB92-AD05-74F39BF4839E}"/>
              </a:ext>
            </a:extLst>
          </p:cNvPr>
          <p:cNvCxnSpPr/>
          <p:nvPr/>
        </p:nvCxnSpPr>
        <p:spPr>
          <a:xfrm>
            <a:off x="3771900" y="2808288"/>
            <a:ext cx="40640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DA21F8-3FDB-D23B-48B2-E655DF80B174}"/>
              </a:ext>
            </a:extLst>
          </p:cNvPr>
          <p:cNvCxnSpPr>
            <a:cxnSpLocks/>
          </p:cNvCxnSpPr>
          <p:nvPr/>
        </p:nvCxnSpPr>
        <p:spPr>
          <a:xfrm>
            <a:off x="4743450" y="3014663"/>
            <a:ext cx="0" cy="50800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8FA6DF8-FBE5-8D35-8645-964B951CA3EE}"/>
              </a:ext>
            </a:extLst>
          </p:cNvPr>
          <p:cNvSpPr/>
          <p:nvPr/>
        </p:nvSpPr>
        <p:spPr>
          <a:xfrm>
            <a:off x="2400300" y="4343400"/>
            <a:ext cx="993775" cy="1008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Index 1</a:t>
            </a:r>
          </a:p>
          <a:p>
            <a:pPr algn="ctr" eaLnBrk="1" hangingPunct="1">
              <a:defRPr/>
            </a:pPr>
            <a:endParaRPr lang="en-US" sz="1500" dirty="0"/>
          </a:p>
          <a:p>
            <a:pPr algn="ctr" eaLnBrk="1" hangingPunct="1">
              <a:defRPr/>
            </a:pPr>
            <a:r>
              <a:rPr lang="en-US" sz="1500" dirty="0"/>
              <a:t>SCOPUS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C631FF-56D6-E6B7-26C6-7EA499194130}"/>
              </a:ext>
            </a:extLst>
          </p:cNvPr>
          <p:cNvSpPr/>
          <p:nvPr/>
        </p:nvSpPr>
        <p:spPr>
          <a:xfrm>
            <a:off x="3743325" y="4343400"/>
            <a:ext cx="993775" cy="1008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Index 2</a:t>
            </a:r>
          </a:p>
          <a:p>
            <a:pPr algn="ctr" eaLnBrk="1" hangingPunct="1">
              <a:defRPr/>
            </a:pPr>
            <a:endParaRPr lang="en-US" sz="1500" dirty="0"/>
          </a:p>
          <a:p>
            <a:pPr algn="ctr" eaLnBrk="1" hangingPunct="1">
              <a:defRPr/>
            </a:pPr>
            <a:r>
              <a:rPr lang="en-US" sz="1500" dirty="0"/>
              <a:t>Google Scholar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488F7-8494-E843-EE2E-F5E0FD0AD3E3}"/>
              </a:ext>
            </a:extLst>
          </p:cNvPr>
          <p:cNvSpPr/>
          <p:nvPr/>
        </p:nvSpPr>
        <p:spPr>
          <a:xfrm>
            <a:off x="4927600" y="4343400"/>
            <a:ext cx="931863" cy="971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Index 3</a:t>
            </a:r>
          </a:p>
          <a:p>
            <a:pPr algn="ctr" eaLnBrk="1" hangingPunct="1">
              <a:defRPr/>
            </a:pPr>
            <a:endParaRPr lang="en-US" sz="1500" dirty="0"/>
          </a:p>
          <a:p>
            <a:pPr algn="ctr" eaLnBrk="1" hangingPunct="1">
              <a:defRPr/>
            </a:pPr>
            <a:r>
              <a:rPr lang="en-US" sz="1500" dirty="0"/>
              <a:t>Web of Science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B66F27-E569-2261-034B-66DC781B9A63}"/>
              </a:ext>
            </a:extLst>
          </p:cNvPr>
          <p:cNvSpPr/>
          <p:nvPr/>
        </p:nvSpPr>
        <p:spPr>
          <a:xfrm>
            <a:off x="6118225" y="4343400"/>
            <a:ext cx="931863" cy="1008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500" dirty="0"/>
              <a:t>Index 4</a:t>
            </a:r>
          </a:p>
          <a:p>
            <a:pPr algn="ctr" eaLnBrk="1" hangingPunct="1">
              <a:defRPr/>
            </a:pPr>
            <a:endParaRPr lang="en-US" sz="1500" dirty="0"/>
          </a:p>
          <a:p>
            <a:pPr algn="ctr" eaLnBrk="1" hangingPunct="1">
              <a:defRPr/>
            </a:pPr>
            <a:r>
              <a:rPr lang="en-US" sz="1500" dirty="0"/>
              <a:t>Science Direct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B81F6A-F86A-9F91-1CAF-9E1C323E71AC}"/>
              </a:ext>
            </a:extLst>
          </p:cNvPr>
          <p:cNvCxnSpPr>
            <a:cxnSpLocks/>
          </p:cNvCxnSpPr>
          <p:nvPr/>
        </p:nvCxnSpPr>
        <p:spPr>
          <a:xfrm>
            <a:off x="2982913" y="4129088"/>
            <a:ext cx="0" cy="2143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96E4B4-91ED-F37E-9FBF-A4D79E72069A}"/>
              </a:ext>
            </a:extLst>
          </p:cNvPr>
          <p:cNvCxnSpPr>
            <a:cxnSpLocks/>
          </p:cNvCxnSpPr>
          <p:nvPr/>
        </p:nvCxnSpPr>
        <p:spPr>
          <a:xfrm>
            <a:off x="4257675" y="4129088"/>
            <a:ext cx="0" cy="2143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FE2355-18F4-1C4D-839C-382249A83025}"/>
              </a:ext>
            </a:extLst>
          </p:cNvPr>
          <p:cNvCxnSpPr>
            <a:cxnSpLocks/>
          </p:cNvCxnSpPr>
          <p:nvPr/>
        </p:nvCxnSpPr>
        <p:spPr>
          <a:xfrm>
            <a:off x="5405438" y="4129088"/>
            <a:ext cx="0" cy="2143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0B2C5A-47DF-A9A3-6CCC-592D8D3C73BD}"/>
              </a:ext>
            </a:extLst>
          </p:cNvPr>
          <p:cNvCxnSpPr>
            <a:cxnSpLocks/>
          </p:cNvCxnSpPr>
          <p:nvPr/>
        </p:nvCxnSpPr>
        <p:spPr>
          <a:xfrm>
            <a:off x="6527800" y="4129088"/>
            <a:ext cx="0" cy="21431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BD23E3-5138-939F-C00E-ADFAEEB3FF1F}"/>
              </a:ext>
            </a:extLst>
          </p:cNvPr>
          <p:cNvCxnSpPr/>
          <p:nvPr/>
        </p:nvCxnSpPr>
        <p:spPr>
          <a:xfrm>
            <a:off x="2800350" y="4143375"/>
            <a:ext cx="395605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FDA742F-D60D-67CA-70F7-6D50B2E7714A}"/>
              </a:ext>
            </a:extLst>
          </p:cNvPr>
          <p:cNvCxnSpPr/>
          <p:nvPr/>
        </p:nvCxnSpPr>
        <p:spPr>
          <a:xfrm>
            <a:off x="4743450" y="3922713"/>
            <a:ext cx="0" cy="206375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6123C1-7087-18E9-9730-11B7BEC8FACE}"/>
              </a:ext>
            </a:extLst>
          </p:cNvPr>
          <p:cNvCxnSpPr/>
          <p:nvPr/>
        </p:nvCxnSpPr>
        <p:spPr>
          <a:xfrm flipV="1">
            <a:off x="5332413" y="2439988"/>
            <a:ext cx="417512" cy="368300"/>
          </a:xfrm>
          <a:prstGeom prst="straightConnector1">
            <a:avLst/>
          </a:prstGeom>
          <a:ln w="412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B3CD8C-FADA-52B4-39F7-E1810124E140}"/>
              </a:ext>
            </a:extLst>
          </p:cNvPr>
          <p:cNvCxnSpPr>
            <a:cxnSpLocks/>
          </p:cNvCxnSpPr>
          <p:nvPr/>
        </p:nvCxnSpPr>
        <p:spPr>
          <a:xfrm>
            <a:off x="5353050" y="2871788"/>
            <a:ext cx="396875" cy="350837"/>
          </a:xfrm>
          <a:prstGeom prst="straightConnector1">
            <a:avLst/>
          </a:prstGeom>
          <a:ln w="412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B8F74EA-B3CD-908B-7E0D-179F2EF60B30}"/>
              </a:ext>
            </a:extLst>
          </p:cNvPr>
          <p:cNvCxnSpPr/>
          <p:nvPr/>
        </p:nvCxnSpPr>
        <p:spPr>
          <a:xfrm>
            <a:off x="1897063" y="2293938"/>
            <a:ext cx="2846387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1D5068-A002-9A8E-41FD-7975E2062D9A}"/>
              </a:ext>
            </a:extLst>
          </p:cNvPr>
          <p:cNvCxnSpPr>
            <a:cxnSpLocks/>
          </p:cNvCxnSpPr>
          <p:nvPr/>
        </p:nvCxnSpPr>
        <p:spPr>
          <a:xfrm>
            <a:off x="1897063" y="2279650"/>
            <a:ext cx="0" cy="36195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9306B8C-051B-B19A-5601-1AA888A1592D}"/>
              </a:ext>
            </a:extLst>
          </p:cNvPr>
          <p:cNvCxnSpPr>
            <a:cxnSpLocks/>
          </p:cNvCxnSpPr>
          <p:nvPr/>
        </p:nvCxnSpPr>
        <p:spPr>
          <a:xfrm>
            <a:off x="4743450" y="2279650"/>
            <a:ext cx="0" cy="36195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88" name="TextBox 2">
            <a:extLst>
              <a:ext uri="{FF2B5EF4-FFF2-40B4-BE49-F238E27FC236}">
                <a16:creationId xmlns:a16="http://schemas.microsoft.com/office/drawing/2014/main" id="{CBEC9C86-5D6C-640C-3C6C-EAC05A0CC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2382838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70C0"/>
                </a:solidFill>
              </a:rPr>
              <a:t>Paper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65BDB3-1F27-45D7-0288-8A03952CF37A}"/>
              </a:ext>
            </a:extLst>
          </p:cNvPr>
          <p:cNvCxnSpPr/>
          <p:nvPr/>
        </p:nvCxnSpPr>
        <p:spPr>
          <a:xfrm>
            <a:off x="3319463" y="3722688"/>
            <a:ext cx="762000" cy="0"/>
          </a:xfrm>
          <a:prstGeom prst="straightConnector1">
            <a:avLst/>
          </a:prstGeom>
          <a:ln w="19050"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016F79-BF4D-A4C2-AB5D-77432AB6B342}"/>
              </a:ext>
            </a:extLst>
          </p:cNvPr>
          <p:cNvCxnSpPr>
            <a:endCxn id="10" idx="2"/>
          </p:cNvCxnSpPr>
          <p:nvPr/>
        </p:nvCxnSpPr>
        <p:spPr>
          <a:xfrm flipH="1" flipV="1">
            <a:off x="3303588" y="3014663"/>
            <a:ext cx="15875" cy="708025"/>
          </a:xfrm>
          <a:prstGeom prst="straightConnector1">
            <a:avLst/>
          </a:prstGeom>
          <a:ln w="19050"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91" name="TextBox 33">
            <a:extLst>
              <a:ext uri="{FF2B5EF4-FFF2-40B4-BE49-F238E27FC236}">
                <a16:creationId xmlns:a16="http://schemas.microsoft.com/office/drawing/2014/main" id="{00243A89-EBFF-43B3-775B-6276EEA74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5716588"/>
            <a:ext cx="1492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70C0"/>
                </a:solidFill>
              </a:rPr>
              <a:t>Researchers</a:t>
            </a:r>
          </a:p>
        </p:txBody>
      </p:sp>
      <p:sp>
        <p:nvSpPr>
          <p:cNvPr id="40992" name="TextBox 1">
            <a:extLst>
              <a:ext uri="{FF2B5EF4-FFF2-40B4-BE49-F238E27FC236}">
                <a16:creationId xmlns:a16="http://schemas.microsoft.com/office/drawing/2014/main" id="{EB6EC3FF-F64E-5A2C-899B-D0404E2E5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3138488"/>
            <a:ext cx="162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70C0"/>
                </a:solidFill>
              </a:rPr>
              <a:t>Royalty - 10%</a:t>
            </a:r>
          </a:p>
        </p:txBody>
      </p:sp>
      <p:sp>
        <p:nvSpPr>
          <p:cNvPr id="40993" name="TextBox 1">
            <a:extLst>
              <a:ext uri="{FF2B5EF4-FFF2-40B4-BE49-F238E27FC236}">
                <a16:creationId xmlns:a16="http://schemas.microsoft.com/office/drawing/2014/main" id="{A16F2693-D399-B267-CB9B-5381B72EA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163" y="3557588"/>
            <a:ext cx="1992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70C0"/>
                </a:solidFill>
              </a:rPr>
              <a:t>Owner of income </a:t>
            </a:r>
          </a:p>
        </p:txBody>
      </p:sp>
      <p:sp>
        <p:nvSpPr>
          <p:cNvPr id="40994" name="TextBox 2">
            <a:extLst>
              <a:ext uri="{FF2B5EF4-FFF2-40B4-BE49-F238E27FC236}">
                <a16:creationId xmlns:a16="http://schemas.microsoft.com/office/drawing/2014/main" id="{67A8CEEE-7B4A-1216-9545-49584F2D5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363" y="1617663"/>
            <a:ext cx="2211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70C0"/>
                </a:solidFill>
              </a:rPr>
              <a:t>Double-blind review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79EB40-7EDB-FDB4-FEFE-A7C977FCC484}"/>
              </a:ext>
            </a:extLst>
          </p:cNvPr>
          <p:cNvCxnSpPr/>
          <p:nvPr/>
        </p:nvCxnSpPr>
        <p:spPr>
          <a:xfrm flipH="1">
            <a:off x="1530350" y="3865563"/>
            <a:ext cx="255111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87CD1B-C61A-AD3D-1FAA-E9575A00DD93}"/>
              </a:ext>
            </a:extLst>
          </p:cNvPr>
          <p:cNvCxnSpPr/>
          <p:nvPr/>
        </p:nvCxnSpPr>
        <p:spPr>
          <a:xfrm flipV="1">
            <a:off x="1524000" y="3522663"/>
            <a:ext cx="0" cy="3429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632B7BD-D442-85AD-F8B5-BE488484B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How to publish a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7751-527D-95F4-1FB9-085C9C89C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9067800" cy="45307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First, decide in 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which journal </a:t>
            </a:r>
            <a:r>
              <a:rPr lang="en-US" dirty="0">
                <a:solidFill>
                  <a:srgbClr val="0070C0"/>
                </a:solidFill>
              </a:rPr>
              <a:t>you want to publish</a:t>
            </a: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</a:rPr>
              <a:t>Based on the journal that you read the most papers in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Decide who may be your editor</a:t>
            </a:r>
          </a:p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Make sure to cite some papers by the editor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62760309-CC29-FDFC-B8C0-DBB3D15CB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9B8273C5-0302-37A3-63A7-285C47ABC1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1960" y="1295400"/>
            <a:ext cx="8229600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Go to a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journal site </a:t>
            </a:r>
            <a:r>
              <a:rPr lang="en-US" altLang="en-US" dirty="0">
                <a:solidFill>
                  <a:srgbClr val="0070C0"/>
                </a:solidFill>
              </a:rPr>
              <a:t>and familiarize yourself with the jargon of journals (Author, editor, reviewers, publisher, IF, Citation Index)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D1E63752-E17E-C7C5-1055-7ECE439BC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39825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Reading Exercise 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4E1DE702-419E-7099-FCA1-869FEC4C6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76200" y="990601"/>
            <a:ext cx="9677401" cy="4703762"/>
          </a:xfrm>
        </p:spPr>
        <p:txBody>
          <a:bodyPr/>
          <a:lstStyle/>
          <a:p>
            <a:pPr>
              <a:defRPr/>
            </a:pPr>
            <a:r>
              <a:rPr lang="en-US" altLang="en-US" sz="2300" dirty="0">
                <a:solidFill>
                  <a:srgbClr val="0070C0"/>
                </a:solidFill>
              </a:rPr>
              <a:t>Assume you want to do your project</a:t>
            </a:r>
          </a:p>
          <a:p>
            <a:pPr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First, you need to identify </a:t>
            </a:r>
            <a:r>
              <a:rPr lang="en-US" altLang="en-US" sz="2300" u="sng" dirty="0">
                <a:solidFill>
                  <a:srgbClr val="FF0000"/>
                </a:solidFill>
                <a:highlight>
                  <a:srgbClr val="FFFF00"/>
                </a:highlight>
              </a:rPr>
              <a:t>your problem area of research</a:t>
            </a:r>
          </a:p>
          <a:p>
            <a:pPr>
              <a:defRPr/>
            </a:pPr>
            <a:r>
              <a:rPr lang="en-US" altLang="en-US" sz="2300" dirty="0">
                <a:solidFill>
                  <a:srgbClr val="0070C0"/>
                </a:solidFill>
              </a:rPr>
              <a:t>In some cases, the supervisor gives a problem to the student</a:t>
            </a:r>
          </a:p>
          <a:p>
            <a:pPr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Here, the student does not get training to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define a problem</a:t>
            </a:r>
          </a:p>
          <a:p>
            <a:pPr>
              <a:defRPr/>
            </a:pPr>
            <a:r>
              <a:rPr lang="en-US" altLang="en-US" sz="2300" dirty="0">
                <a:solidFill>
                  <a:srgbClr val="0070C0"/>
                </a:solidFill>
                <a:highlight>
                  <a:srgbClr val="FFFF00"/>
                </a:highlight>
              </a:rPr>
              <a:t>Read papers</a:t>
            </a:r>
            <a:r>
              <a:rPr lang="en-US" altLang="en-US" sz="2300" dirty="0">
                <a:solidFill>
                  <a:srgbClr val="0070C0"/>
                </a:solidFill>
              </a:rPr>
              <a:t> in that area and </a:t>
            </a:r>
            <a:r>
              <a:rPr lang="en-US" altLang="en-US" sz="2300" dirty="0">
                <a:solidFill>
                  <a:srgbClr val="0070C0"/>
                </a:solidFill>
                <a:highlight>
                  <a:srgbClr val="FFFF00"/>
                </a:highlight>
              </a:rPr>
              <a:t>start writing summaries </a:t>
            </a:r>
            <a:endParaRPr lang="en-US" altLang="en-US" sz="2300" dirty="0">
              <a:solidFill>
                <a:srgbClr val="0070C0"/>
              </a:solidFill>
            </a:endParaRPr>
          </a:p>
          <a:p>
            <a:pPr lvl="1"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By writing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problem</a:t>
            </a:r>
            <a:r>
              <a:rPr lang="en-US" altLang="en-US" sz="2300" dirty="0">
                <a:solidFill>
                  <a:srgbClr val="FF0000"/>
                </a:solidFill>
              </a:rPr>
              <a:t>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sz="2300" dirty="0">
                <a:solidFill>
                  <a:srgbClr val="FF0000"/>
                </a:solidFill>
              </a:rPr>
              <a:t> </a:t>
            </a:r>
            <a:r>
              <a:rPr lang="en-US" altLang="en-US" sz="2300" dirty="0">
                <a:solidFill>
                  <a:srgbClr val="FF0000"/>
                </a:solidFill>
                <a:highlight>
                  <a:srgbClr val="FFFF00"/>
                </a:highlight>
              </a:rPr>
              <a:t>+/-</a:t>
            </a:r>
            <a:r>
              <a:rPr lang="en-US" altLang="en-US" sz="2300" dirty="0">
                <a:solidFill>
                  <a:srgbClr val="FF0000"/>
                </a:solidFill>
              </a:rPr>
              <a:t> of each paper</a:t>
            </a:r>
          </a:p>
          <a:p>
            <a:pPr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Start with a </a:t>
            </a:r>
            <a:r>
              <a:rPr lang="en-US" altLang="en-US" sz="2300" dirty="0">
                <a:solidFill>
                  <a:srgbClr val="3333FF"/>
                </a:solidFill>
                <a:highlight>
                  <a:srgbClr val="FFFF00"/>
                </a:highlight>
              </a:rPr>
              <a:t>Review Paper</a:t>
            </a:r>
            <a:r>
              <a:rPr lang="en-US" altLang="en-US" sz="2300" dirty="0">
                <a:solidFill>
                  <a:srgbClr val="3333FF"/>
                </a:solidFill>
              </a:rPr>
              <a:t>, which has a summary of the above 4</a:t>
            </a:r>
          </a:p>
          <a:p>
            <a:pPr>
              <a:defRPr/>
            </a:pPr>
            <a:r>
              <a:rPr lang="en-US" altLang="en-US" sz="2300" dirty="0">
                <a:solidFill>
                  <a:srgbClr val="FF0000"/>
                </a:solidFill>
              </a:rPr>
              <a:t>Follows the style of writing summaries used in the Review papers</a:t>
            </a:r>
          </a:p>
          <a:p>
            <a:pPr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Further read papers from the reference list of the review paper</a:t>
            </a:r>
          </a:p>
          <a:p>
            <a:pPr>
              <a:defRPr/>
            </a:pPr>
            <a:r>
              <a:rPr lang="en-US" altLang="en-US" sz="2300" dirty="0">
                <a:solidFill>
                  <a:srgbClr val="FF3300"/>
                </a:solidFill>
              </a:rPr>
              <a:t>Organize reading with Zotero paper download/tags/notes/related</a:t>
            </a:r>
          </a:p>
          <a:p>
            <a:pPr>
              <a:defRPr/>
            </a:pPr>
            <a:r>
              <a:rPr lang="en-US" altLang="en-US" sz="2300" dirty="0">
                <a:solidFill>
                  <a:srgbClr val="0070C0"/>
                </a:solidFill>
              </a:rPr>
              <a:t>After many summaries, you are able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define the </a:t>
            </a:r>
            <a:r>
              <a:rPr lang="en-US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problem</a:t>
            </a:r>
            <a:r>
              <a:rPr lang="en-US" altLang="en-US" sz="2000" dirty="0">
                <a:solidFill>
                  <a:srgbClr val="FF0000"/>
                </a:solidFill>
              </a:rPr>
              <a:t> (state terrorism) (bad education system) 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potential </a:t>
            </a:r>
            <a:r>
              <a:rPr lang="en-US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sz="2000" dirty="0">
                <a:solidFill>
                  <a:srgbClr val="FF0000"/>
                </a:solidFill>
              </a:rPr>
              <a:t> (system change) (promote thinking in </a:t>
            </a:r>
            <a:r>
              <a:rPr lang="en-US" altLang="en-US" sz="2000" dirty="0" err="1">
                <a:solidFill>
                  <a:srgbClr val="FF0000"/>
                </a:solidFill>
              </a:rPr>
              <a:t>eduaction</a:t>
            </a:r>
            <a:r>
              <a:rPr lang="en-US" altLang="en-US" sz="2000" dirty="0">
                <a:solidFill>
                  <a:srgbClr val="FF0000"/>
                </a:solidFill>
              </a:rPr>
              <a:t>)</a:t>
            </a:r>
          </a:p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Then write the proposal </a:t>
            </a:r>
          </a:p>
          <a:p>
            <a:pPr lvl="1">
              <a:defRPr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D3121-D2BB-AB05-41A6-1BA147B60169}"/>
              </a:ext>
            </a:extLst>
          </p:cNvPr>
          <p:cNvSpPr txBox="1"/>
          <p:nvPr/>
        </p:nvSpPr>
        <p:spPr>
          <a:xfrm>
            <a:off x="9525000" y="2057400"/>
            <a:ext cx="3724096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</a:rPr>
              <a:t>Abstract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</a:rPr>
              <a:t>Introduction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Literature Review (others’ work)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problems/technology: + and -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Methodology (work reported here)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</a:rPr>
              <a:t>Conclusion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DB47BB3-F74F-F9DA-E69F-BD29AE512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By the time of Viva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2EAE2EC-0E93-5746-DFC7-1660F0614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1295400"/>
            <a:ext cx="8610600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You need to know the following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Your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area of research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Major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researchers</a:t>
            </a:r>
            <a:r>
              <a:rPr lang="en-US" altLang="en-US" dirty="0">
                <a:solidFill>
                  <a:srgbClr val="0070C0"/>
                </a:solidFill>
              </a:rPr>
              <a:t> in your area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Major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research conducted</a:t>
            </a:r>
            <a:r>
              <a:rPr lang="en-US" altLang="en-US" dirty="0">
                <a:solidFill>
                  <a:srgbClr val="0070C0"/>
                </a:solidFill>
              </a:rPr>
              <a:t> (hot topics)in your area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Major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institutes doing similar research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Major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journals in your area </a:t>
            </a:r>
            <a:r>
              <a:rPr lang="en-US" altLang="en-US" dirty="0">
                <a:solidFill>
                  <a:srgbClr val="0070C0"/>
                </a:solidFill>
              </a:rPr>
              <a:t>of research</a:t>
            </a:r>
          </a:p>
          <a:p>
            <a:pPr lvl="1">
              <a:defRPr/>
            </a:pPr>
            <a:r>
              <a:rPr lang="en-US" altLang="en-US" dirty="0">
                <a:solidFill>
                  <a:srgbClr val="0070C0"/>
                </a:solidFill>
              </a:rPr>
              <a:t>Major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conferences in your area</a:t>
            </a:r>
            <a:r>
              <a:rPr lang="en-US" altLang="en-US" dirty="0">
                <a:solidFill>
                  <a:srgbClr val="0070C0"/>
                </a:solidFill>
              </a:rPr>
              <a:t> of research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All these come from reading in the area (Literature Review – history)</a:t>
            </a:r>
          </a:p>
          <a:p>
            <a:pPr lvl="1"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7CCAE6D-CE29-7495-F17B-47014E370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Psychology of reading/writing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B15B454-0A27-50BC-6931-A3536032B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2583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</a:rPr>
              <a:t>Reading/writing has a strong psychological basis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</a:rPr>
              <a:t>We used to do other things while doing one thing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0000"/>
                </a:solidFill>
              </a:rPr>
              <a:t>Eating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0000"/>
                </a:solidFill>
              </a:rPr>
              <a:t>Walking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0000"/>
                </a:solidFill>
              </a:rPr>
              <a:t>Listening to music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0000"/>
                </a:solidFill>
              </a:rPr>
              <a:t>singing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</a:rPr>
              <a:t>But neither </a:t>
            </a:r>
            <a:r>
              <a:rPr lang="en-GB" altLang="en-US" u="sng" dirty="0">
                <a:solidFill>
                  <a:srgbClr val="3333FF"/>
                </a:solidFill>
                <a:highlight>
                  <a:srgbClr val="FFFF00"/>
                </a:highlight>
              </a:rPr>
              <a:t>reading</a:t>
            </a:r>
            <a:r>
              <a:rPr lang="en-GB" altLang="en-US" dirty="0">
                <a:solidFill>
                  <a:srgbClr val="3333FF"/>
                </a:solidFill>
              </a:rPr>
              <a:t> nor </a:t>
            </a:r>
            <a:r>
              <a:rPr lang="en-GB" altLang="en-US" u="sng" dirty="0">
                <a:solidFill>
                  <a:srgbClr val="3333FF"/>
                </a:solidFill>
                <a:highlight>
                  <a:srgbClr val="FFFF00"/>
                </a:highlight>
              </a:rPr>
              <a:t>writing</a:t>
            </a:r>
            <a:r>
              <a:rPr lang="en-GB" altLang="en-US" dirty="0">
                <a:solidFill>
                  <a:srgbClr val="3333FF"/>
                </a:solidFill>
              </a:rPr>
              <a:t> can be done so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0000"/>
                </a:solidFill>
              </a:rPr>
              <a:t>When reading or writing you should be </a:t>
            </a:r>
            <a:r>
              <a:rPr lang="en-GB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mindful </a:t>
            </a:r>
            <a:r>
              <a:rPr lang="en-GB" altLang="en-US" dirty="0">
                <a:solidFill>
                  <a:srgbClr val="FF0000"/>
                </a:solidFill>
              </a:rPr>
              <a:t>of it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</a:rPr>
              <a:t>Gaining mindfulness is important</a:t>
            </a:r>
            <a:endParaRPr lang="en-GB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GB" altLang="en-US" dirty="0">
              <a:solidFill>
                <a:srgbClr val="3333FF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GB" altLang="en-US" dirty="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GB" altLang="en-US" dirty="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GB" altLang="en-US" dirty="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GB" altLang="en-US" dirty="0">
              <a:solidFill>
                <a:srgbClr val="FF3300"/>
              </a:solidFill>
            </a:endParaRPr>
          </a:p>
        </p:txBody>
      </p:sp>
      <p:sp>
        <p:nvSpPr>
          <p:cNvPr id="46084" name="TextBox 3">
            <a:extLst>
              <a:ext uri="{FF2B5EF4-FFF2-40B4-BE49-F238E27FC236}">
                <a16:creationId xmlns:a16="http://schemas.microsoft.com/office/drawing/2014/main" id="{C4B4576C-F078-B5CD-5732-C9C7CC64B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1905000"/>
            <a:ext cx="31210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FFF00"/>
                </a:solidFill>
              </a:rPr>
              <a:t>When developing/practicing,</a:t>
            </a:r>
          </a:p>
          <a:p>
            <a:r>
              <a:rPr lang="en-US" altLang="en-US">
                <a:solidFill>
                  <a:srgbClr val="FFFF00"/>
                </a:solidFill>
              </a:rPr>
              <a:t>neural circuits are formed.</a:t>
            </a:r>
          </a:p>
          <a:p>
            <a:r>
              <a:rPr lang="en-US" altLang="en-US">
                <a:solidFill>
                  <a:srgbClr val="FFFF00"/>
                </a:solidFill>
              </a:rPr>
              <a:t>Then some happiness</a:t>
            </a:r>
          </a:p>
          <a:p>
            <a:r>
              <a:rPr lang="en-US" altLang="en-US">
                <a:solidFill>
                  <a:srgbClr val="FFFF00"/>
                </a:solidFill>
              </a:rPr>
              <a:t>hormones are released</a:t>
            </a:r>
          </a:p>
          <a:p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Mindfulness is about</a:t>
            </a:r>
          </a:p>
          <a:p>
            <a:r>
              <a:rPr lang="en-US" altLang="en-US">
                <a:solidFill>
                  <a:srgbClr val="FFFF00"/>
                </a:solidFill>
              </a:rPr>
              <a:t>Attention on one thing </a:t>
            </a:r>
          </a:p>
          <a:p>
            <a:r>
              <a:rPr lang="en-US" altLang="en-US">
                <a:solidFill>
                  <a:srgbClr val="FFFF00"/>
                </a:solidFill>
              </a:rPr>
              <a:t>Forming neural circuits.</a:t>
            </a:r>
          </a:p>
          <a:p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Therefore, if we attempt to</a:t>
            </a:r>
          </a:p>
          <a:p>
            <a:r>
              <a:rPr lang="en-US" altLang="en-US">
                <a:solidFill>
                  <a:srgbClr val="FFFF00"/>
                </a:solidFill>
              </a:rPr>
              <a:t>be mindful of many topics, </a:t>
            </a:r>
          </a:p>
          <a:p>
            <a:r>
              <a:rPr lang="en-US" altLang="en-US">
                <a:solidFill>
                  <a:srgbClr val="FFFF00"/>
                </a:solidFill>
              </a:rPr>
              <a:t>at a time, then the brain </a:t>
            </a:r>
          </a:p>
          <a:p>
            <a:r>
              <a:rPr lang="en-US" altLang="en-US">
                <a:solidFill>
                  <a:srgbClr val="FFFF00"/>
                </a:solidFill>
              </a:rPr>
              <a:t>cannot afford to form many</a:t>
            </a:r>
          </a:p>
          <a:p>
            <a:r>
              <a:rPr lang="en-US" altLang="en-US">
                <a:solidFill>
                  <a:srgbClr val="FFFF00"/>
                </a:solidFill>
              </a:rPr>
              <a:t>neural circuits at the same </a:t>
            </a:r>
          </a:p>
          <a:p>
            <a:r>
              <a:rPr lang="en-US" altLang="en-US">
                <a:solidFill>
                  <a:srgbClr val="FFFF00"/>
                </a:solidFill>
              </a:rPr>
              <a:t>time. </a:t>
            </a:r>
          </a:p>
          <a:p>
            <a:r>
              <a:rPr lang="en-US" altLang="en-US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E7E1681-D654-F8C4-5F1D-C917DFAB5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Note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C1B62305-0BC5-40C2-EA7F-271F94CFC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63638"/>
            <a:ext cx="8534400" cy="4530725"/>
          </a:xfrm>
        </p:spPr>
        <p:txBody>
          <a:bodyPr/>
          <a:lstStyle/>
          <a:p>
            <a:r>
              <a:rPr lang="en-US" altLang="en-US">
                <a:solidFill>
                  <a:srgbClr val="0070C0"/>
                </a:solidFill>
              </a:rPr>
              <a:t>The best way to understand mindfulness is the way we drive, be attentive to the windshield, mirrors, sensation of the steering wheel, seat, and AC). Here you relax a lot. But when driving, drivers listen to music, so two things to consider. Why is this also encouraged?  </a:t>
            </a:r>
          </a:p>
          <a:p>
            <a:endParaRPr lang="en-US" altLang="en-US">
              <a:solidFill>
                <a:srgbClr val="0070C0"/>
              </a:solidFill>
            </a:endParaRPr>
          </a:p>
          <a:p>
            <a:r>
              <a:rPr lang="en-US" altLang="en-US">
                <a:solidFill>
                  <a:srgbClr val="0070C0"/>
                </a:solidFill>
              </a:rPr>
              <a:t>If you do not listen to music, your mind will still wander through many topics - beyond driving and music.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20AD5DE2-AC70-6ACF-7778-55A73AD66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906462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 to gain mindfulness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357D5138-1423-91B1-1262-0F81B5ED01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84275"/>
            <a:ext cx="8991600" cy="5064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0070C0"/>
                </a:solidFill>
              </a:rPr>
              <a:t>If you are trained to do something,  mindfulness is 0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FF0000"/>
                </a:solidFill>
              </a:rPr>
              <a:t>Counting down starting from 100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FF0000"/>
                </a:solidFill>
              </a:rPr>
              <a:t>Counting down from 100 by subtracting 3 at a time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3333FF"/>
                </a:solidFill>
              </a:rPr>
              <a:t>Spell your surname in reverse order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Pay attention to the sound </a:t>
            </a:r>
            <a:r>
              <a:rPr lang="en-GB" altLang="en-US" sz="2800" dirty="0">
                <a:solidFill>
                  <a:srgbClr val="FF0000"/>
                </a:solidFill>
              </a:rPr>
              <a:t>in the environment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3333FF"/>
                </a:solidFill>
                <a:highlight>
                  <a:srgbClr val="FFFF00"/>
                </a:highlight>
              </a:rPr>
              <a:t>Observe body feelings</a:t>
            </a:r>
            <a:r>
              <a:rPr lang="en-GB" altLang="en-US" sz="2800" dirty="0">
                <a:solidFill>
                  <a:srgbClr val="3333FF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FF0000"/>
                </a:solidFill>
              </a:rPr>
              <a:t>Count your breath in/out up to eight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0070C0"/>
                </a:solidFill>
              </a:rPr>
              <a:t>Counting </a:t>
            </a:r>
            <a:r>
              <a:rPr lang="en-GB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forward and backward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0070C0"/>
                </a:solidFill>
              </a:rPr>
              <a:t>Body scanning forward and backward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FF0000"/>
                </a:solidFill>
              </a:rPr>
              <a:t>Forward/backward incremental reading</a:t>
            </a:r>
            <a:endParaRPr lang="en-GB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en-US" dirty="0">
                <a:solidFill>
                  <a:srgbClr val="FF0000"/>
                </a:solidFill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GB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GB" altLang="en-US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B2CE6BF8-C215-653E-9832-5F263043E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273050"/>
            <a:ext cx="8839200" cy="1139825"/>
          </a:xfrm>
        </p:spPr>
        <p:txBody>
          <a:bodyPr/>
          <a:lstStyle/>
          <a:p>
            <a:r>
              <a:rPr lang="en-US" altLang="en-US" sz="4000" b="1"/>
              <a:t>Forward/backward incremental reading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96A4EB29-A1C8-89E1-E3ED-165FDB711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2125" y="1071563"/>
            <a:ext cx="8229600" cy="54514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Read 15 items incrementally (5) as follows  for covering 13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0070C0"/>
                </a:solidFill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BD2990-DA6F-D965-220D-95D359C4A8B0}"/>
              </a:ext>
            </a:extLst>
          </p:cNvPr>
          <p:cNvCxnSpPr/>
          <p:nvPr/>
        </p:nvCxnSpPr>
        <p:spPr>
          <a:xfrm>
            <a:off x="2362200" y="2286000"/>
            <a:ext cx="7620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F82F6F-1B55-DA25-8200-F29F57E37145}"/>
              </a:ext>
            </a:extLst>
          </p:cNvPr>
          <p:cNvCxnSpPr/>
          <p:nvPr/>
        </p:nvCxnSpPr>
        <p:spPr>
          <a:xfrm flipH="1">
            <a:off x="2362200" y="2362200"/>
            <a:ext cx="7620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26B3E-E954-0647-61B3-5209A53C889E}"/>
              </a:ext>
            </a:extLst>
          </p:cNvPr>
          <p:cNvCxnSpPr/>
          <p:nvPr/>
        </p:nvCxnSpPr>
        <p:spPr>
          <a:xfrm>
            <a:off x="2362200" y="2743200"/>
            <a:ext cx="1295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B8C9F1-7F9A-E1BE-EB91-10493A9BC1D4}"/>
              </a:ext>
            </a:extLst>
          </p:cNvPr>
          <p:cNvCxnSpPr/>
          <p:nvPr/>
        </p:nvCxnSpPr>
        <p:spPr>
          <a:xfrm flipH="1">
            <a:off x="2362200" y="2819400"/>
            <a:ext cx="1295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266E48-44DD-21E8-9E44-DDC5A6261810}"/>
              </a:ext>
            </a:extLst>
          </p:cNvPr>
          <p:cNvCxnSpPr/>
          <p:nvPr/>
        </p:nvCxnSpPr>
        <p:spPr>
          <a:xfrm>
            <a:off x="2362200" y="3124200"/>
            <a:ext cx="2057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F5AF54-AF87-857F-015B-3878D306BB33}"/>
              </a:ext>
            </a:extLst>
          </p:cNvPr>
          <p:cNvCxnSpPr/>
          <p:nvPr/>
        </p:nvCxnSpPr>
        <p:spPr>
          <a:xfrm flipH="1">
            <a:off x="2362200" y="3200400"/>
            <a:ext cx="2057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945357-25DB-A7B0-CA80-0E254DD515B1}"/>
              </a:ext>
            </a:extLst>
          </p:cNvPr>
          <p:cNvCxnSpPr/>
          <p:nvPr/>
        </p:nvCxnSpPr>
        <p:spPr>
          <a:xfrm>
            <a:off x="2362200" y="3581400"/>
            <a:ext cx="2057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0DB3C0-B59B-2F26-5E5A-88C916F7DE81}"/>
              </a:ext>
            </a:extLst>
          </p:cNvPr>
          <p:cNvCxnSpPr/>
          <p:nvPr/>
        </p:nvCxnSpPr>
        <p:spPr>
          <a:xfrm flipH="1">
            <a:off x="3657600" y="3733800"/>
            <a:ext cx="7620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69F14E-309B-C3D0-FEFB-E0C7532AA0ED}"/>
              </a:ext>
            </a:extLst>
          </p:cNvPr>
          <p:cNvCxnSpPr/>
          <p:nvPr/>
        </p:nvCxnSpPr>
        <p:spPr>
          <a:xfrm>
            <a:off x="3733800" y="3810000"/>
            <a:ext cx="7620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0F6142-AFA3-62AF-09F9-62F62D32D871}"/>
              </a:ext>
            </a:extLst>
          </p:cNvPr>
          <p:cNvCxnSpPr/>
          <p:nvPr/>
        </p:nvCxnSpPr>
        <p:spPr>
          <a:xfrm flipH="1">
            <a:off x="3124200" y="4191000"/>
            <a:ext cx="1295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329D8C-5607-CBA4-E16E-BBD217414101}"/>
              </a:ext>
            </a:extLst>
          </p:cNvPr>
          <p:cNvCxnSpPr/>
          <p:nvPr/>
        </p:nvCxnSpPr>
        <p:spPr>
          <a:xfrm>
            <a:off x="3124200" y="4267200"/>
            <a:ext cx="12954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B335BC-8B1B-CD23-EBB0-2346632A7E51}"/>
              </a:ext>
            </a:extLst>
          </p:cNvPr>
          <p:cNvCxnSpPr/>
          <p:nvPr/>
        </p:nvCxnSpPr>
        <p:spPr>
          <a:xfrm flipH="1">
            <a:off x="2438400" y="4572000"/>
            <a:ext cx="1981200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68" name="TextBox 1">
            <a:extLst>
              <a:ext uri="{FF2B5EF4-FFF2-40B4-BE49-F238E27FC236}">
                <a16:creationId xmlns:a16="http://schemas.microsoft.com/office/drawing/2014/main" id="{E3E2B619-6865-74D7-AFF8-EDC9B2932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0" y="2505075"/>
            <a:ext cx="281305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Expert system</a:t>
            </a:r>
          </a:p>
          <a:p>
            <a:r>
              <a:rPr lang="en-US" altLang="en-US"/>
              <a:t>Neural Networks</a:t>
            </a:r>
          </a:p>
          <a:p>
            <a:r>
              <a:rPr lang="en-US" altLang="en-US"/>
              <a:t>Robotics</a:t>
            </a:r>
          </a:p>
          <a:p>
            <a:r>
              <a:rPr lang="en-US" altLang="en-US"/>
              <a:t>Natural language process</a:t>
            </a:r>
          </a:p>
          <a:p>
            <a:r>
              <a:rPr lang="en-US" altLang="en-US"/>
              <a:t>Ontology</a:t>
            </a:r>
          </a:p>
          <a:p>
            <a:r>
              <a:rPr lang="en-US" altLang="en-US"/>
              <a:t>Agent Technology</a:t>
            </a:r>
          </a:p>
          <a:p>
            <a:r>
              <a:rPr lang="en-US" altLang="en-US"/>
              <a:t>Computer vison</a:t>
            </a:r>
          </a:p>
          <a:p>
            <a:r>
              <a:rPr lang="en-US" altLang="en-US"/>
              <a:t>Mind uploading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47BC6414-E178-B8BF-1C2F-D50667760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8763"/>
            <a:ext cx="8229600" cy="1139825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Homework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FCE04AAA-A5C1-4861-5967-F4E56EC2F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Install Zotero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Download papers (start with a review paper) from your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intended area of research</a:t>
            </a:r>
            <a:r>
              <a:rPr lang="en-US" alt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Organize them within Zotero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F2D5452-1635-DAE9-2E36-9BB25D979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/>
            <a:r>
              <a:rPr lang="en-GB" altLang="en-US" sz="3800" b="1" dirty="0">
                <a:solidFill>
                  <a:srgbClr val="00B050"/>
                </a:solidFill>
              </a:rPr>
              <a:t>How to improve your reading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6DF355-ABCB-50BF-205B-6319AF97D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66018"/>
            <a:ext cx="9144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FF0000"/>
                </a:solidFill>
              </a:rPr>
              <a:t> The brain always tries to split a task into two parts: one for the left brain, the other for the right brain. Both are important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000" dirty="0">
                <a:solidFill>
                  <a:srgbClr val="0070C0"/>
                </a:solidFill>
              </a:rPr>
              <a:t>In calculation: Left (formulation), Right (simplification)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000" dirty="0">
                <a:solidFill>
                  <a:srgbClr val="0070C0"/>
                </a:solidFill>
              </a:rPr>
              <a:t>In driving:  left (eye-based decision making) – Right (Leg and arms)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FF0000"/>
                </a:solidFill>
              </a:rPr>
              <a:t>In reading, we can also apply the same principle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0070C0"/>
                </a:solidFill>
              </a:rPr>
              <a:t>eye movements (left-right, top-bottom) - right brain 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0070C0"/>
                </a:solidFill>
              </a:rPr>
              <a:t>understand the material – left brain</a:t>
            </a:r>
          </a:p>
          <a:p>
            <a:pPr marL="474662" indent="-457200"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FF0000"/>
                </a:solidFill>
              </a:rPr>
              <a:t>If the eye movements are trained to be autonomous,  then total energy can be used for understanding</a:t>
            </a:r>
            <a:endParaRPr lang="en-GB" altLang="en-US" sz="2400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0070C0"/>
                </a:solidFill>
              </a:rPr>
              <a:t>Practice </a:t>
            </a:r>
            <a:r>
              <a:rPr lang="en-GB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scanning eyes from left to right </a:t>
            </a:r>
            <a:r>
              <a:rPr lang="en-GB" altLang="en-US" sz="2400" dirty="0">
                <a:solidFill>
                  <a:srgbClr val="0070C0"/>
                </a:solidFill>
              </a:rPr>
              <a:t>(next slide)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FF0000"/>
                </a:solidFill>
              </a:rPr>
              <a:t>Line by line mindful reading also amounts to remembrance.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0070C0"/>
                </a:solidFill>
              </a:rPr>
              <a:t>You should never do the </a:t>
            </a:r>
            <a:r>
              <a:rPr lang="en-GB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hunting for words</a:t>
            </a:r>
            <a:r>
              <a:rPr lang="en-GB" altLang="en-US" sz="2400" dirty="0">
                <a:solidFill>
                  <a:srgbClr val="0070C0"/>
                </a:solidFill>
              </a:rPr>
              <a:t> in a doc; instead, train the left-right scanning speed as much as possible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FF0000"/>
                </a:solidFill>
              </a:rPr>
              <a:t>Note: things we do with difficulty, become autonomous if we do it again and again                         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42A71-8352-40BA-50CD-414C99ADEAC4}"/>
              </a:ext>
            </a:extLst>
          </p:cNvPr>
          <p:cNvSpPr txBox="1"/>
          <p:nvPr/>
        </p:nvSpPr>
        <p:spPr>
          <a:xfrm>
            <a:off x="9906000" y="1295400"/>
            <a:ext cx="4614863" cy="39703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ML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FF00"/>
                </a:solidFill>
              </a:rPr>
              <a:t> LLM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FF00"/>
                </a:solidFill>
              </a:rPr>
              <a:t> HCAI, Explainability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GenAI –&gt; Local context + Agent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Chatbot –&gt; AI agent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Extending the already available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digital solutions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00"/>
                </a:solidFill>
              </a:rPr>
              <a:t>Real-time data collection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00"/>
                </a:solidFill>
              </a:rPr>
              <a:t>Load balancing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00"/>
                </a:solidFill>
              </a:rPr>
              <a:t>Lack of doctors for emergency care </a:t>
            </a:r>
          </a:p>
          <a:p>
            <a:pPr lvl="1">
              <a:defRPr/>
            </a:pPr>
            <a:r>
              <a:rPr lang="en-US" dirty="0">
                <a:solidFill>
                  <a:srgbClr val="FFFF00"/>
                </a:solidFill>
              </a:rPr>
              <a:t>    care in remote areas</a:t>
            </a:r>
          </a:p>
          <a:p>
            <a:pPr lvl="1">
              <a:defRPr/>
            </a:pPr>
            <a:endParaRPr lang="en-US" dirty="0">
              <a:solidFill>
                <a:srgbClr val="FFFF0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FFFF00"/>
                </a:solidFill>
              </a:rPr>
              <a:t>Need where the human face</a:t>
            </a:r>
          </a:p>
          <a:p>
            <a:pPr lvl="1">
              <a:defRPr/>
            </a:pPr>
            <a:r>
              <a:rPr lang="en-US" dirty="0">
                <a:solidFill>
                  <a:srgbClr val="FFFF00"/>
                </a:solidFill>
              </a:rPr>
              <a:t>with some limitations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693C575-6568-0CB0-BD22-76B1AB461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Practice of reading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32BB6C63-29E2-1D1A-1EEC-7BF23FDA6C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563" y="1574800"/>
            <a:ext cx="8229600" cy="45307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en-US">
              <a:solidFill>
                <a:srgbClr val="0070C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CC9E9F-9EF1-87F6-2C1B-238F71A75D04}"/>
              </a:ext>
            </a:extLst>
          </p:cNvPr>
          <p:cNvCxnSpPr>
            <a:cxnSpLocks/>
          </p:cNvCxnSpPr>
          <p:nvPr/>
        </p:nvCxnSpPr>
        <p:spPr>
          <a:xfrm>
            <a:off x="457200" y="1417638"/>
            <a:ext cx="42672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5710E9B-A37A-C375-8EFF-7AAA069EE2FF}"/>
              </a:ext>
            </a:extLst>
          </p:cNvPr>
          <p:cNvSpPr/>
          <p:nvPr/>
        </p:nvSpPr>
        <p:spPr>
          <a:xfrm>
            <a:off x="457200" y="1778000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F5423-90B3-E9D6-CA07-0741C73A04DB}"/>
              </a:ext>
            </a:extLst>
          </p:cNvPr>
          <p:cNvSpPr/>
          <p:nvPr/>
        </p:nvSpPr>
        <p:spPr>
          <a:xfrm>
            <a:off x="1371600" y="17526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FBDB4A-B7E5-4BE2-04FA-33D65D84B481}"/>
              </a:ext>
            </a:extLst>
          </p:cNvPr>
          <p:cNvSpPr/>
          <p:nvPr/>
        </p:nvSpPr>
        <p:spPr>
          <a:xfrm>
            <a:off x="2286000" y="1752600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434B44-24D8-0FCE-79CB-A46907D9C25A}"/>
              </a:ext>
            </a:extLst>
          </p:cNvPr>
          <p:cNvSpPr/>
          <p:nvPr/>
        </p:nvSpPr>
        <p:spPr>
          <a:xfrm>
            <a:off x="3200400" y="17526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3C9750-C44F-1ED5-FEFD-359BABDE5C93}"/>
              </a:ext>
            </a:extLst>
          </p:cNvPr>
          <p:cNvSpPr/>
          <p:nvPr/>
        </p:nvSpPr>
        <p:spPr>
          <a:xfrm>
            <a:off x="4191000" y="1752600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D5C300-9AF5-01E9-A7E6-D97ED6EF5D79}"/>
              </a:ext>
            </a:extLst>
          </p:cNvPr>
          <p:cNvSpPr/>
          <p:nvPr/>
        </p:nvSpPr>
        <p:spPr>
          <a:xfrm>
            <a:off x="5257800" y="1757363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20C954-557E-2CB7-0DAD-4336266BA81B}"/>
              </a:ext>
            </a:extLst>
          </p:cNvPr>
          <p:cNvSpPr/>
          <p:nvPr/>
        </p:nvSpPr>
        <p:spPr>
          <a:xfrm>
            <a:off x="6400800" y="1752600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B0FB6A-345F-229A-6C5F-41F94E5C8026}"/>
              </a:ext>
            </a:extLst>
          </p:cNvPr>
          <p:cNvSpPr/>
          <p:nvPr/>
        </p:nvSpPr>
        <p:spPr>
          <a:xfrm>
            <a:off x="7391400" y="175260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2407C0-BAB4-E029-EB9E-CBF456130C7D}"/>
              </a:ext>
            </a:extLst>
          </p:cNvPr>
          <p:cNvSpPr/>
          <p:nvPr/>
        </p:nvSpPr>
        <p:spPr>
          <a:xfrm>
            <a:off x="8229600" y="1752600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7E094B-8EC0-F9CE-E101-81912343FABB}"/>
              </a:ext>
            </a:extLst>
          </p:cNvPr>
          <p:cNvSpPr/>
          <p:nvPr/>
        </p:nvSpPr>
        <p:spPr>
          <a:xfrm>
            <a:off x="457200" y="2582863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D05795-3C58-2E75-3719-07B5C81AE444}"/>
              </a:ext>
            </a:extLst>
          </p:cNvPr>
          <p:cNvSpPr/>
          <p:nvPr/>
        </p:nvSpPr>
        <p:spPr>
          <a:xfrm>
            <a:off x="1371600" y="2557463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2E9F0A-A53F-A00B-4035-4EFE32D23BD4}"/>
              </a:ext>
            </a:extLst>
          </p:cNvPr>
          <p:cNvSpPr/>
          <p:nvPr/>
        </p:nvSpPr>
        <p:spPr>
          <a:xfrm>
            <a:off x="2286000" y="2557463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3504E7-BFBD-AE35-26C1-B4933BCD791A}"/>
              </a:ext>
            </a:extLst>
          </p:cNvPr>
          <p:cNvSpPr/>
          <p:nvPr/>
        </p:nvSpPr>
        <p:spPr>
          <a:xfrm>
            <a:off x="3200400" y="2557463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91484E-08A6-3B2C-E985-27126A87CC1E}"/>
              </a:ext>
            </a:extLst>
          </p:cNvPr>
          <p:cNvSpPr/>
          <p:nvPr/>
        </p:nvSpPr>
        <p:spPr>
          <a:xfrm>
            <a:off x="4191000" y="2557463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FBA54A-7F09-99D5-6166-4A4B22258C37}"/>
              </a:ext>
            </a:extLst>
          </p:cNvPr>
          <p:cNvSpPr/>
          <p:nvPr/>
        </p:nvSpPr>
        <p:spPr>
          <a:xfrm>
            <a:off x="5257800" y="2562225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2BF747-1138-F1B3-CEB0-C9102D9B86A1}"/>
              </a:ext>
            </a:extLst>
          </p:cNvPr>
          <p:cNvSpPr/>
          <p:nvPr/>
        </p:nvSpPr>
        <p:spPr>
          <a:xfrm>
            <a:off x="6400800" y="2557463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C8BB223-6369-D975-8BBD-A37E8BCAAD8E}"/>
              </a:ext>
            </a:extLst>
          </p:cNvPr>
          <p:cNvSpPr/>
          <p:nvPr/>
        </p:nvSpPr>
        <p:spPr>
          <a:xfrm>
            <a:off x="7391400" y="2557463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20E381-2C0D-40D1-4CD5-CBDDE4EA6FE5}"/>
              </a:ext>
            </a:extLst>
          </p:cNvPr>
          <p:cNvSpPr/>
          <p:nvPr/>
        </p:nvSpPr>
        <p:spPr>
          <a:xfrm>
            <a:off x="8229600" y="2557463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05017B-3F5B-BCF0-40EB-D5F6600FCE15}"/>
              </a:ext>
            </a:extLst>
          </p:cNvPr>
          <p:cNvSpPr/>
          <p:nvPr/>
        </p:nvSpPr>
        <p:spPr>
          <a:xfrm>
            <a:off x="457200" y="35067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766D40-480F-34DC-06FD-4020A343C58F}"/>
              </a:ext>
            </a:extLst>
          </p:cNvPr>
          <p:cNvSpPr/>
          <p:nvPr/>
        </p:nvSpPr>
        <p:spPr>
          <a:xfrm>
            <a:off x="1371600" y="348138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A516D36-3F41-1554-92F0-5FF7AB7FDB1D}"/>
              </a:ext>
            </a:extLst>
          </p:cNvPr>
          <p:cNvSpPr/>
          <p:nvPr/>
        </p:nvSpPr>
        <p:spPr>
          <a:xfrm>
            <a:off x="2286000" y="3481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14C0A1-A285-5397-3AD1-A47B0B951387}"/>
              </a:ext>
            </a:extLst>
          </p:cNvPr>
          <p:cNvSpPr/>
          <p:nvPr/>
        </p:nvSpPr>
        <p:spPr>
          <a:xfrm>
            <a:off x="3200400" y="348138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0137DC6-0A9F-9FC4-79E4-6084965B0BFF}"/>
              </a:ext>
            </a:extLst>
          </p:cNvPr>
          <p:cNvSpPr/>
          <p:nvPr/>
        </p:nvSpPr>
        <p:spPr>
          <a:xfrm>
            <a:off x="4191000" y="3481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A088305-4213-9C51-9F8F-DDB765E7AF4D}"/>
              </a:ext>
            </a:extLst>
          </p:cNvPr>
          <p:cNvSpPr/>
          <p:nvPr/>
        </p:nvSpPr>
        <p:spPr>
          <a:xfrm>
            <a:off x="5257800" y="3486150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103222-470A-5A0F-E29C-936035ED6409}"/>
              </a:ext>
            </a:extLst>
          </p:cNvPr>
          <p:cNvSpPr/>
          <p:nvPr/>
        </p:nvSpPr>
        <p:spPr>
          <a:xfrm>
            <a:off x="6400800" y="3481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B79E34A-8330-ED13-0F68-25911D2F51FB}"/>
              </a:ext>
            </a:extLst>
          </p:cNvPr>
          <p:cNvSpPr/>
          <p:nvPr/>
        </p:nvSpPr>
        <p:spPr>
          <a:xfrm>
            <a:off x="7391400" y="348138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806A48-FFAD-CFBC-8716-13899816065D}"/>
              </a:ext>
            </a:extLst>
          </p:cNvPr>
          <p:cNvSpPr/>
          <p:nvPr/>
        </p:nvSpPr>
        <p:spPr>
          <a:xfrm>
            <a:off x="8229600" y="3481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7F3845-9DC0-24FD-5759-4C379A3B82B7}"/>
              </a:ext>
            </a:extLst>
          </p:cNvPr>
          <p:cNvSpPr/>
          <p:nvPr/>
        </p:nvSpPr>
        <p:spPr>
          <a:xfrm>
            <a:off x="477838" y="4429125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D0A21A-4049-74EE-3D69-43695237470F}"/>
              </a:ext>
            </a:extLst>
          </p:cNvPr>
          <p:cNvSpPr/>
          <p:nvPr/>
        </p:nvSpPr>
        <p:spPr>
          <a:xfrm>
            <a:off x="1392238" y="4403725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62AF0FC-C059-B706-F0D5-84F6F9C8236D}"/>
              </a:ext>
            </a:extLst>
          </p:cNvPr>
          <p:cNvSpPr/>
          <p:nvPr/>
        </p:nvSpPr>
        <p:spPr>
          <a:xfrm>
            <a:off x="2306638" y="4403725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86AFAEF-DAC6-5A2C-9476-B46A0E1BB9E4}"/>
              </a:ext>
            </a:extLst>
          </p:cNvPr>
          <p:cNvSpPr/>
          <p:nvPr/>
        </p:nvSpPr>
        <p:spPr>
          <a:xfrm>
            <a:off x="3221038" y="4403725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3EEEDB5-19AF-64BA-568C-A3631BE4BB38}"/>
              </a:ext>
            </a:extLst>
          </p:cNvPr>
          <p:cNvSpPr/>
          <p:nvPr/>
        </p:nvSpPr>
        <p:spPr>
          <a:xfrm>
            <a:off x="4211638" y="4403725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86BA98-A116-3E79-9B8F-33C884B5C255}"/>
              </a:ext>
            </a:extLst>
          </p:cNvPr>
          <p:cNvSpPr/>
          <p:nvPr/>
        </p:nvSpPr>
        <p:spPr>
          <a:xfrm>
            <a:off x="5278438" y="4410075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BBE2E0B-D4CB-8593-72EE-D8635D9BB661}"/>
              </a:ext>
            </a:extLst>
          </p:cNvPr>
          <p:cNvSpPr/>
          <p:nvPr/>
        </p:nvSpPr>
        <p:spPr>
          <a:xfrm>
            <a:off x="6421438" y="4403725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35BB04-10C5-D843-095E-FD5C6706DB49}"/>
              </a:ext>
            </a:extLst>
          </p:cNvPr>
          <p:cNvSpPr/>
          <p:nvPr/>
        </p:nvSpPr>
        <p:spPr>
          <a:xfrm>
            <a:off x="7412038" y="4403725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0F82C8A-E781-8C57-B73D-9E838E938E70}"/>
              </a:ext>
            </a:extLst>
          </p:cNvPr>
          <p:cNvSpPr/>
          <p:nvPr/>
        </p:nvSpPr>
        <p:spPr>
          <a:xfrm>
            <a:off x="8250238" y="4403725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3C536DD-6E93-E87A-253C-6BF62708C338}"/>
              </a:ext>
            </a:extLst>
          </p:cNvPr>
          <p:cNvSpPr/>
          <p:nvPr/>
        </p:nvSpPr>
        <p:spPr>
          <a:xfrm>
            <a:off x="487363" y="54117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57A3ED8-88F8-BA66-ACCB-EA195E3CB03D}"/>
              </a:ext>
            </a:extLst>
          </p:cNvPr>
          <p:cNvSpPr/>
          <p:nvPr/>
        </p:nvSpPr>
        <p:spPr>
          <a:xfrm>
            <a:off x="1401763" y="538638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E9F7461-E118-00DF-19DE-1F73D164FB7A}"/>
              </a:ext>
            </a:extLst>
          </p:cNvPr>
          <p:cNvSpPr/>
          <p:nvPr/>
        </p:nvSpPr>
        <p:spPr>
          <a:xfrm>
            <a:off x="2316163" y="5386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1B06B70-3738-12CA-504B-9F5D1037CA03}"/>
              </a:ext>
            </a:extLst>
          </p:cNvPr>
          <p:cNvSpPr/>
          <p:nvPr/>
        </p:nvSpPr>
        <p:spPr>
          <a:xfrm>
            <a:off x="3230563" y="538638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C66A323-F78C-AF2D-3075-99C297C5F923}"/>
              </a:ext>
            </a:extLst>
          </p:cNvPr>
          <p:cNvSpPr/>
          <p:nvPr/>
        </p:nvSpPr>
        <p:spPr>
          <a:xfrm>
            <a:off x="4221163" y="5386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8A8704A-53B0-C8AE-4B2F-25B61E806906}"/>
              </a:ext>
            </a:extLst>
          </p:cNvPr>
          <p:cNvSpPr/>
          <p:nvPr/>
        </p:nvSpPr>
        <p:spPr>
          <a:xfrm>
            <a:off x="5287963" y="539273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5C08964-4F2B-86A4-C26A-59C96459BFF2}"/>
              </a:ext>
            </a:extLst>
          </p:cNvPr>
          <p:cNvSpPr/>
          <p:nvPr/>
        </p:nvSpPr>
        <p:spPr>
          <a:xfrm>
            <a:off x="6430963" y="5386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6B9E936-1C52-D6A9-2E9F-6DECD4970112}"/>
              </a:ext>
            </a:extLst>
          </p:cNvPr>
          <p:cNvSpPr/>
          <p:nvPr/>
        </p:nvSpPr>
        <p:spPr>
          <a:xfrm>
            <a:off x="7421563" y="5386388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C712204-7304-E002-0D1C-13FF213ECFEB}"/>
              </a:ext>
            </a:extLst>
          </p:cNvPr>
          <p:cNvSpPr/>
          <p:nvPr/>
        </p:nvSpPr>
        <p:spPr>
          <a:xfrm>
            <a:off x="8259763" y="538638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5EAFE788-CF6E-B0E5-5A33-9AED49954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b="1">
                <a:solidFill>
                  <a:srgbClr val="00B050"/>
                </a:solidFill>
              </a:rPr>
              <a:t>How to improve your reading</a:t>
            </a:r>
            <a:endParaRPr lang="en-US" altLang="en-US"/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DCACBD31-3379-66E6-6C6C-BD182186D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417638"/>
            <a:ext cx="92202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FF0000"/>
                </a:solidFill>
              </a:rPr>
              <a:t>Reading a little loudly improves understanding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 It’s double the strength of input (eyes and ears)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0070C0"/>
                </a:solidFill>
              </a:rPr>
              <a:t>In a lecture, voice and showing text are mutually beneficial.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0070C0"/>
                </a:solidFill>
              </a:rPr>
              <a:t>Read the </a:t>
            </a:r>
            <a:r>
              <a:rPr lang="en-GB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abstract</a:t>
            </a:r>
            <a:r>
              <a:rPr lang="en-GB" altLang="en-US" sz="2600" dirty="0">
                <a:solidFill>
                  <a:srgbClr val="0070C0"/>
                </a:solidFill>
              </a:rPr>
              <a:t>, </a:t>
            </a:r>
            <a:r>
              <a:rPr lang="en-GB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introduction</a:t>
            </a:r>
            <a:r>
              <a:rPr lang="en-GB" altLang="en-US" sz="2600" u="sng" dirty="0">
                <a:solidFill>
                  <a:srgbClr val="0070C0"/>
                </a:solidFill>
              </a:rPr>
              <a:t>,</a:t>
            </a:r>
            <a:r>
              <a:rPr lang="en-GB" altLang="en-US" sz="2600" dirty="0">
                <a:solidFill>
                  <a:srgbClr val="0070C0"/>
                </a:solidFill>
              </a:rPr>
              <a:t> and </a:t>
            </a:r>
            <a:r>
              <a:rPr lang="en-GB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conclusion</a:t>
            </a:r>
            <a:r>
              <a:rPr lang="en-GB" altLang="en-US" sz="2600" dirty="0">
                <a:solidFill>
                  <a:srgbClr val="0070C0"/>
                </a:solidFill>
              </a:rPr>
              <a:t> first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and identify </a:t>
            </a:r>
            <a:r>
              <a:rPr lang="en-GB" altLang="en-US" sz="1800" dirty="0">
                <a:solidFill>
                  <a:srgbClr val="0070C0"/>
                </a:solidFill>
                <a:highlight>
                  <a:srgbClr val="FFFF00"/>
                </a:highlight>
              </a:rPr>
              <a:t>concepts related </a:t>
            </a:r>
            <a:r>
              <a:rPr lang="en-GB" altLang="en-US" sz="1800" dirty="0">
                <a:solidFill>
                  <a:srgbClr val="0070C0"/>
                </a:solidFill>
              </a:rPr>
              <a:t>to the </a:t>
            </a:r>
            <a:r>
              <a:rPr lang="en-GB" altLang="en-US" sz="1800" dirty="0">
                <a:solidFill>
                  <a:srgbClr val="0070C0"/>
                </a:solidFill>
                <a:highlight>
                  <a:srgbClr val="FFFF00"/>
                </a:highlight>
              </a:rPr>
              <a:t>problem</a:t>
            </a:r>
            <a:r>
              <a:rPr lang="en-GB" altLang="en-US" sz="1800" dirty="0">
                <a:solidFill>
                  <a:srgbClr val="0070C0"/>
                </a:solidFill>
              </a:rPr>
              <a:t> and </a:t>
            </a:r>
            <a:r>
              <a:rPr lang="en-GB" altLang="en-US" sz="1800" dirty="0">
                <a:solidFill>
                  <a:srgbClr val="0070C0"/>
                </a:solidFill>
                <a:highlight>
                  <a:srgbClr val="FFFF00"/>
                </a:highlight>
              </a:rPr>
              <a:t>technology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FF0000"/>
                </a:solidFill>
              </a:rPr>
              <a:t>Use a pen while you read along a line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Locating, </a:t>
            </a:r>
            <a:r>
              <a:rPr lang="en-GB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underlining</a:t>
            </a:r>
            <a:r>
              <a:rPr lang="en-GB" altLang="en-US" sz="2200" dirty="0">
                <a:solidFill>
                  <a:srgbClr val="FF0000"/>
                </a:solidFill>
              </a:rPr>
              <a:t>, and taking notes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0070C0"/>
                </a:solidFill>
              </a:rPr>
              <a:t>Use a ruler to guide you through the line that you read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Do not focus beyond the line you read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FF0000"/>
                </a:solidFill>
              </a:rPr>
              <a:t>Make reading  a habit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284D7-E91B-74D2-9472-743953FA9B12}"/>
              </a:ext>
            </a:extLst>
          </p:cNvPr>
          <p:cNvSpPr/>
          <p:nvPr/>
        </p:nvSpPr>
        <p:spPr>
          <a:xfrm>
            <a:off x="228600" y="5481638"/>
            <a:ext cx="8610600" cy="46196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F85D5A-8034-199B-9000-98E59C4DDD80}"/>
              </a:ext>
            </a:extLst>
          </p:cNvPr>
          <p:cNvSpPr txBox="1"/>
          <p:nvPr/>
        </p:nvSpPr>
        <p:spPr>
          <a:xfrm>
            <a:off x="9677400" y="2209800"/>
            <a:ext cx="25315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Transformer, LLM, </a:t>
            </a:r>
          </a:p>
          <a:p>
            <a:r>
              <a:rPr lang="en-US" dirty="0">
                <a:highlight>
                  <a:srgbClr val="FFFF00"/>
                </a:highlight>
              </a:rPr>
              <a:t>Deep Learning, Gen AI</a:t>
            </a:r>
          </a:p>
          <a:p>
            <a:r>
              <a:rPr lang="en-US" dirty="0">
                <a:highlight>
                  <a:srgbClr val="FFFF00"/>
                </a:highlight>
              </a:rPr>
              <a:t>80%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8E9E2714-D2E7-B387-9270-E64E0A3D7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r>
              <a:rPr lang="en-GB" altLang="en-US" sz="4000" b="1">
                <a:solidFill>
                  <a:srgbClr val="00B050"/>
                </a:solidFill>
              </a:rPr>
              <a:t>How to improve your reading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66DF-71E9-24A8-8438-08524430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911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Final details for identified concepts in the body of the paper, and identify more concepts when you find them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0070C0"/>
                </a:solidFill>
              </a:rPr>
              <a:t>Read with an </a:t>
            </a:r>
            <a:r>
              <a:rPr lang="en-GB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expectation</a:t>
            </a:r>
            <a:r>
              <a:rPr lang="en-GB" altLang="en-US" sz="2600" dirty="0">
                <a:solidFill>
                  <a:srgbClr val="0070C0"/>
                </a:solidFill>
              </a:rPr>
              <a:t> to get what you already marked</a:t>
            </a:r>
          </a:p>
          <a:p>
            <a:pPr marL="690563" lvl="1" indent="-363538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before reading, you know what to pick next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FF0000"/>
                </a:solidFill>
              </a:rPr>
              <a:t>Use a paper dictionary to learn new words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You learn many words in the vicinity when searching for a word </a:t>
            </a:r>
            <a:endParaRPr lang="en-GB" altLang="en-US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600" dirty="0">
                <a:solidFill>
                  <a:srgbClr val="0070C0"/>
                </a:solidFill>
              </a:rPr>
              <a:t>Using your own words to write a </a:t>
            </a:r>
            <a:r>
              <a:rPr lang="en-GB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summary</a:t>
            </a:r>
            <a:r>
              <a:rPr lang="en-GB" altLang="en-US" sz="2600" dirty="0">
                <a:solidFill>
                  <a:srgbClr val="0070C0"/>
                </a:solidFill>
              </a:rPr>
              <a:t> of what is read</a:t>
            </a:r>
            <a:endParaRPr lang="en-GB" sz="2600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2600" dirty="0">
                <a:solidFill>
                  <a:srgbClr val="FF0000"/>
                </a:solidFill>
              </a:rPr>
              <a:t>How do you decide whether a tool/technology/device is good for humanity? – Obviously, technology makes our lives easy. But when technology is removed, we should not be paralyzed</a:t>
            </a:r>
            <a:r>
              <a:rPr lang="en-GB" sz="2600" dirty="0">
                <a:solidFill>
                  <a:srgbClr val="0070C0"/>
                </a:solidFill>
              </a:rPr>
              <a:t>. </a:t>
            </a:r>
            <a:endParaRPr lang="en-US" sz="2600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2C554EE-ACE7-2823-F13E-731A9A572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800" b="1">
                <a:solidFill>
                  <a:srgbClr val="00B050"/>
                </a:solidFill>
              </a:rPr>
              <a:t>How to write a summary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374C186-D1E5-B5A4-A21F-3E95B14EE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988" y="1165225"/>
            <a:ext cx="9040812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Begin your </a:t>
            </a:r>
            <a:r>
              <a:rPr lang="en-GB" altLang="en-US" sz="2200" u="sng" dirty="0">
                <a:solidFill>
                  <a:srgbClr val="0070C0"/>
                </a:solidFill>
              </a:rPr>
              <a:t>writing</a:t>
            </a:r>
            <a:r>
              <a:rPr lang="en-GB" altLang="en-US" sz="2200" dirty="0">
                <a:solidFill>
                  <a:srgbClr val="0070C0"/>
                </a:solidFill>
              </a:rPr>
              <a:t> by </a:t>
            </a:r>
            <a:r>
              <a:rPr lang="en-GB" altLang="en-US" sz="2200" u="sng" dirty="0">
                <a:solidFill>
                  <a:srgbClr val="0070C0"/>
                </a:solidFill>
              </a:rPr>
              <a:t>updating</a:t>
            </a:r>
            <a:r>
              <a:rPr lang="en-GB" altLang="en-US" sz="2200" dirty="0">
                <a:solidFill>
                  <a:srgbClr val="0070C0"/>
                </a:solidFill>
              </a:rPr>
              <a:t> the list of </a:t>
            </a:r>
            <a:r>
              <a:rPr lang="en-GB" altLang="en-US" sz="2200" u="sng" dirty="0">
                <a:solidFill>
                  <a:srgbClr val="0070C0"/>
                </a:solidFill>
                <a:highlight>
                  <a:srgbClr val="FFFF00"/>
                </a:highlight>
              </a:rPr>
              <a:t>Reference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However, using Zotero when writing summaries and adding citations, and the Reference are automatically created.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 The first citation should be in the first sentence itself.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Highlight </a:t>
            </a:r>
            <a:r>
              <a:rPr lang="en-GB" altLang="en-US" sz="2200" u="sng" dirty="0">
                <a:solidFill>
                  <a:srgbClr val="0070C0"/>
                </a:solidFill>
                <a:highlight>
                  <a:srgbClr val="FFFF00"/>
                </a:highlight>
              </a:rPr>
              <a:t>good points first,</a:t>
            </a:r>
            <a:r>
              <a:rPr lang="en-GB" altLang="en-US" sz="2200" dirty="0">
                <a:solidFill>
                  <a:srgbClr val="0070C0"/>
                </a:solidFill>
              </a:rPr>
              <a:t> then indicate </a:t>
            </a:r>
            <a:r>
              <a:rPr lang="en-GB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the </a:t>
            </a:r>
            <a:r>
              <a:rPr lang="en-GB" altLang="en-US" sz="2200" u="sng" dirty="0">
                <a:solidFill>
                  <a:srgbClr val="0070C0"/>
                </a:solidFill>
                <a:highlight>
                  <a:srgbClr val="FFFF00"/>
                </a:highlight>
              </a:rPr>
              <a:t>issues/limitations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Create a </a:t>
            </a:r>
            <a:r>
              <a:rPr lang="en-GB" altLang="en-US" sz="2200" u="sng" dirty="0">
                <a:solidFill>
                  <a:srgbClr val="FF0000"/>
                </a:solidFill>
                <a:highlight>
                  <a:srgbClr val="FFFF00"/>
                </a:highlight>
              </a:rPr>
              <a:t>handwritten version </a:t>
            </a:r>
            <a:r>
              <a:rPr lang="en-GB" altLang="en-US" sz="2200" u="sng" dirty="0">
                <a:solidFill>
                  <a:srgbClr val="FF0000"/>
                </a:solidFill>
              </a:rPr>
              <a:t>before </a:t>
            </a:r>
            <a:r>
              <a:rPr lang="en-GB" altLang="en-US" sz="2200" dirty="0">
                <a:solidFill>
                  <a:srgbClr val="FF0000"/>
                </a:solidFill>
              </a:rPr>
              <a:t>going to the </a:t>
            </a:r>
            <a:r>
              <a:rPr lang="en-GB" altLang="en-US" sz="2200" u="sng" dirty="0">
                <a:solidFill>
                  <a:srgbClr val="FF0000"/>
                </a:solidFill>
              </a:rPr>
              <a:t>computer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you may type an improved version to the computer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u="sng" dirty="0">
                <a:solidFill>
                  <a:srgbClr val="0070C0"/>
                </a:solidFill>
              </a:rPr>
              <a:t>Enter the handwritten </a:t>
            </a:r>
            <a:r>
              <a:rPr lang="en-GB" altLang="en-US" sz="2200" dirty="0">
                <a:solidFill>
                  <a:srgbClr val="0070C0"/>
                </a:solidFill>
              </a:rPr>
              <a:t>doc to the computer </a:t>
            </a:r>
            <a:r>
              <a:rPr lang="en-GB" altLang="en-US" sz="2200" u="sng" dirty="0">
                <a:solidFill>
                  <a:srgbClr val="0070C0"/>
                </a:solidFill>
              </a:rPr>
              <a:t>sometime later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Otherwise, editing would be just a copy of the initial version</a:t>
            </a:r>
            <a:endParaRPr lang="en-GB" altLang="en-US" sz="22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Writing helps to </a:t>
            </a:r>
            <a:r>
              <a:rPr lang="en-GB" altLang="en-US" sz="2200" u="sng" dirty="0">
                <a:solidFill>
                  <a:srgbClr val="0070C0"/>
                </a:solidFill>
              </a:rPr>
              <a:t>remember</a:t>
            </a:r>
            <a:r>
              <a:rPr lang="en-GB" altLang="en-US" sz="2200" dirty="0">
                <a:solidFill>
                  <a:srgbClr val="0070C0"/>
                </a:solidFill>
              </a:rPr>
              <a:t> (memory) what you wrote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u="sng" dirty="0">
                <a:solidFill>
                  <a:srgbClr val="FF0000"/>
                </a:solidFill>
              </a:rPr>
              <a:t>While reading</a:t>
            </a:r>
            <a:r>
              <a:rPr lang="en-GB" altLang="en-US" sz="2200" dirty="0">
                <a:solidFill>
                  <a:srgbClr val="FF0000"/>
                </a:solidFill>
              </a:rPr>
              <a:t> identify </a:t>
            </a:r>
            <a:r>
              <a:rPr lang="en-GB" altLang="en-US" sz="2200" u="sng" dirty="0">
                <a:solidFill>
                  <a:srgbClr val="FF0000"/>
                </a:solidFill>
              </a:rPr>
              <a:t>new references </a:t>
            </a:r>
            <a:r>
              <a:rPr lang="en-GB" altLang="en-US" sz="2200" dirty="0">
                <a:solidFill>
                  <a:srgbClr val="FF0000"/>
                </a:solidFill>
              </a:rPr>
              <a:t>and collect them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Repeat the same process for newly identified papers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Note: Literature Review is a collection of summaries of research papers.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9E97C076-10AE-4C97-B611-1BE439CD2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Example for a summary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17DA0114-9590-1C6E-92E6-BEDDAB2263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3638"/>
            <a:ext cx="8229600" cy="453072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Mark and colleagues have studied 20 years of developments in cloud computing and identified this area as the next wave of computing [1]. </a:t>
            </a:r>
            <a:r>
              <a:rPr lang="en-US" altLang="en-US" sz="2200" dirty="0">
                <a:solidFill>
                  <a:srgbClr val="0070C0"/>
                </a:solidFill>
                <a:highlight>
                  <a:srgbClr val="00FF00"/>
                </a:highlight>
              </a:rPr>
              <a:t>These developments have changed the direction of computing by making computing a service like electricity. Mark[ [1] has identified 5 major areas, which are revolutionized by cloud computing.  </a:t>
            </a:r>
            <a:r>
              <a:rPr lang="en-US" altLang="en-US" sz="2200" dirty="0">
                <a:solidFill>
                  <a:srgbClr val="0070C0"/>
                </a:solidFill>
              </a:rPr>
              <a:t>However, security has been a serious concern in cloud computing</a:t>
            </a:r>
            <a:r>
              <a:rPr lang="en-US" altLang="en-US" sz="2200" dirty="0"/>
              <a:t>. </a:t>
            </a:r>
            <a:r>
              <a:rPr lang="en-US" altLang="en-US" sz="2200" dirty="0">
                <a:solidFill>
                  <a:srgbClr val="0070C0"/>
                </a:solidFill>
              </a:rPr>
              <a:t>This concern has been acknowledged by many researchers [2, 3].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200" dirty="0"/>
              <a:t>Who wrote what, +</a:t>
            </a:r>
            <a:r>
              <a:rPr lang="en-US" altLang="en-US" sz="2200" dirty="0" err="1"/>
              <a:t>ve</a:t>
            </a:r>
            <a:r>
              <a:rPr lang="en-US" altLang="en-US" sz="2200" dirty="0"/>
              <a:t>, -</a:t>
            </a:r>
            <a:r>
              <a:rPr lang="en-US" altLang="en-US" sz="2200" dirty="0" err="1"/>
              <a:t>ve</a:t>
            </a:r>
            <a:endParaRPr lang="en-US" altLang="en-US" sz="22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References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[1]  Mark A.B., Martin, C., Edwards A.C., (2021), Evolution of 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     Computing as a Service, Journal of Modern Computing, 2(3),    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     Academic Press 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[2]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0070C0"/>
                </a:solidFill>
              </a:rPr>
              <a:t>[3]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  <p:sp>
        <p:nvSpPr>
          <p:cNvPr id="56324" name="TextBox 1">
            <a:extLst>
              <a:ext uri="{FF2B5EF4-FFF2-40B4-BE49-F238E27FC236}">
                <a16:creationId xmlns:a16="http://schemas.microsoft.com/office/drawing/2014/main" id="{1AF5D38A-94FD-F342-791E-D4D747FAD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676400"/>
            <a:ext cx="2608263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FF00"/>
                </a:solidFill>
              </a:rPr>
              <a:t>Mark’s work</a:t>
            </a:r>
          </a:p>
          <a:p>
            <a:endParaRPr lang="en-US" altLang="en-US" dirty="0">
              <a:solidFill>
                <a:srgbClr val="FFFF00"/>
              </a:solidFill>
            </a:endParaRPr>
          </a:p>
          <a:p>
            <a:r>
              <a:rPr lang="en-US" altLang="en-US" dirty="0">
                <a:solidFill>
                  <a:srgbClr val="FFFF00"/>
                </a:solidFill>
              </a:rPr>
              <a:t>Student/Researcher</a:t>
            </a:r>
          </a:p>
          <a:p>
            <a:endParaRPr lang="en-US" altLang="en-US" dirty="0">
              <a:solidFill>
                <a:srgbClr val="FFFF00"/>
              </a:solidFill>
            </a:endParaRPr>
          </a:p>
          <a:p>
            <a:r>
              <a:rPr lang="en-US" altLang="en-US" dirty="0">
                <a:solidFill>
                  <a:srgbClr val="FFFF00"/>
                </a:solidFill>
              </a:rPr>
              <a:t>We are going to read</a:t>
            </a:r>
          </a:p>
          <a:p>
            <a:r>
              <a:rPr lang="en-US" altLang="en-US" dirty="0">
                <a:solidFill>
                  <a:srgbClr val="FFFF00"/>
                </a:solidFill>
              </a:rPr>
              <a:t> research of the student</a:t>
            </a:r>
          </a:p>
          <a:p>
            <a:endParaRPr lang="en-US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E88646CD-325F-9B3A-8EF1-3BD488D27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B050"/>
                </a:solidFill>
              </a:rPr>
              <a:t>Exercise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BE78E9E5-0D7A-7060-4CEF-F2DF9E7B6B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229600" cy="4530725"/>
          </a:xfrm>
        </p:spPr>
        <p:txBody>
          <a:bodyPr/>
          <a:lstStyle/>
          <a:p>
            <a:r>
              <a:rPr lang="en-US" altLang="en-US" dirty="0"/>
              <a:t>What is the </a:t>
            </a:r>
            <a:r>
              <a:rPr lang="en-US" altLang="en-US" dirty="0">
                <a:highlight>
                  <a:srgbClr val="FFFF00"/>
                </a:highlight>
              </a:rPr>
              <a:t>title</a:t>
            </a:r>
            <a:r>
              <a:rPr lang="en-US" altLang="en-US" dirty="0"/>
              <a:t> of the paper that has been summarized here?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Reference</a:t>
            </a:r>
            <a:r>
              <a:rPr lang="en-US" altLang="en-US" dirty="0"/>
              <a:t> indicates cloud computing, computing as a service, evolutionary computing, and security </a:t>
            </a:r>
          </a:p>
          <a:p>
            <a:r>
              <a:rPr lang="en-US" altLang="en-US" dirty="0"/>
              <a:t>Do you consider this a good summary? </a:t>
            </a:r>
          </a:p>
          <a:p>
            <a:pPr lvl="1"/>
            <a:r>
              <a:rPr lang="en-US" altLang="en-US" dirty="0"/>
              <a:t>No – Corresponding references for the citations [2] and [3] are missing.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7A2AAD45-B69F-C8DE-4F37-4A5515A53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Understanding</a:t>
            </a:r>
            <a:r>
              <a:rPr lang="en-US" altLang="en-US" b="1" dirty="0">
                <a:solidFill>
                  <a:srgbClr val="00B050"/>
                </a:solidFill>
              </a:rPr>
              <a:t> in reading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6688E1E2-7C9E-4553-C515-C59405CA7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763000" cy="4530725"/>
          </a:xfrm>
        </p:spPr>
        <p:txBody>
          <a:bodyPr/>
          <a:lstStyle/>
          <a:p>
            <a:pPr algn="just">
              <a:defRPr/>
            </a:pPr>
            <a:r>
              <a:rPr lang="en-GB" altLang="en-US" sz="2800" dirty="0">
                <a:solidFill>
                  <a:srgbClr val="0070C0"/>
                </a:solidFill>
              </a:rPr>
              <a:t>Why are </a:t>
            </a:r>
            <a:r>
              <a:rPr lang="en-GB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short sentences </a:t>
            </a:r>
            <a:r>
              <a:rPr lang="en-GB" altLang="en-US" sz="2800" dirty="0">
                <a:solidFill>
                  <a:srgbClr val="0070C0"/>
                </a:solidFill>
              </a:rPr>
              <a:t>encouraged </a:t>
            </a:r>
            <a:r>
              <a:rPr lang="en-GB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in writing</a:t>
            </a:r>
            <a:r>
              <a:rPr lang="en-GB" altLang="en-US" sz="2800" dirty="0">
                <a:solidFill>
                  <a:srgbClr val="0070C0"/>
                </a:solidFill>
              </a:rPr>
              <a:t>?</a:t>
            </a:r>
          </a:p>
          <a:p>
            <a:pPr lvl="1" algn="just">
              <a:defRPr/>
            </a:pPr>
            <a:r>
              <a:rPr lang="en-GB" altLang="en-US" sz="2400" dirty="0">
                <a:solidFill>
                  <a:srgbClr val="0070C0"/>
                </a:solidFill>
              </a:rPr>
              <a:t>After reading a sentence, a reader should be able to </a:t>
            </a:r>
            <a:r>
              <a:rPr lang="en-GB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remember</a:t>
            </a:r>
            <a:r>
              <a:rPr lang="en-GB" altLang="en-US" sz="2400" dirty="0">
                <a:solidFill>
                  <a:srgbClr val="0070C0"/>
                </a:solidFill>
              </a:rPr>
              <a:t> it. The sentence you read is the current knowledge.  …….. understanding</a:t>
            </a:r>
          </a:p>
          <a:p>
            <a:pPr>
              <a:defRPr/>
            </a:pPr>
            <a:endParaRPr lang="en-US" alt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C351D3-F0FD-83D3-549E-F715C017CB61}"/>
              </a:ext>
            </a:extLst>
          </p:cNvPr>
          <p:cNvSpPr/>
          <p:nvPr/>
        </p:nvSpPr>
        <p:spPr>
          <a:xfrm>
            <a:off x="7315200" y="5791200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4</a:t>
            </a:r>
          </a:p>
          <a:p>
            <a:pPr algn="ctr">
              <a:defRPr/>
            </a:pPr>
            <a:r>
              <a:rPr lang="en-US" sz="1400" dirty="0"/>
              <a:t>12/07/2026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6616D9D-7501-E602-AC68-DF1D019B8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WRITING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14F87CC-C2F2-8B79-ED01-BC1FFBFE8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5CB6FB5-A1B7-7211-3A4A-385B22437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Types of writings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6955A649-73EB-E692-CECA-3152C329A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81000" y="1066800"/>
            <a:ext cx="99060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There are many types of writing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Minutes (something happened), Essays (imaginary)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   Newspaper articles (less technical, targeting the public)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   Novels,  dramas (Daughter-in-Law, Neeru writes to Indira,   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   Thakur's well, Reports (on a topic)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  <a:highlight>
                  <a:srgbClr val="FFFF00"/>
                </a:highlight>
              </a:rPr>
              <a:t>Scientific documents </a:t>
            </a:r>
            <a:r>
              <a:rPr lang="en-US" altLang="en-US" sz="2500" dirty="0">
                <a:solidFill>
                  <a:srgbClr val="3333FF"/>
                </a:solidFill>
              </a:rPr>
              <a:t>(story of </a:t>
            </a:r>
            <a:r>
              <a:rPr lang="en-US" altLang="en-US" sz="2500" dirty="0">
                <a:solidFill>
                  <a:srgbClr val="3333FF"/>
                </a:solidFill>
                <a:highlight>
                  <a:srgbClr val="FFFF00"/>
                </a:highlight>
              </a:rPr>
              <a:t>problem</a:t>
            </a:r>
            <a:r>
              <a:rPr lang="en-US" altLang="en-US" sz="2500" dirty="0">
                <a:solidFill>
                  <a:srgbClr val="3333FF"/>
                </a:solidFill>
              </a:rPr>
              <a:t>, </a:t>
            </a:r>
            <a:r>
              <a:rPr lang="en-US" altLang="en-US" sz="2500" dirty="0">
                <a:solidFill>
                  <a:srgbClr val="3333FF"/>
                </a:solidFill>
                <a:highlight>
                  <a:srgbClr val="FFFF00"/>
                </a:highlight>
              </a:rPr>
              <a:t>solution</a:t>
            </a:r>
            <a:r>
              <a:rPr lang="en-US" altLang="en-US" sz="2500" dirty="0">
                <a:solidFill>
                  <a:srgbClr val="3333FF"/>
                </a:solidFill>
              </a:rPr>
              <a:t>-conclusion)</a:t>
            </a:r>
            <a:endParaRPr lang="en-US" altLang="en-US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We focus on the writing of scientific documents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Project proposal (problem&gt;solution) – Ability report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Progress reports (problem&lt;solution)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Thesis (conclusion&lt;problem&lt;solution)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Papers for Conference (weak-conclusion&lt;problem&lt;solution)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3333FF"/>
                </a:solidFill>
              </a:rPr>
              <a:t>Papers for Journal (conclusion&lt;problem&lt;solution)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A journal paper (few pages &lt;20) is smaller than a Thesis (150 &lt;)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2500" dirty="0">
              <a:solidFill>
                <a:srgbClr val="3333F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600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49A7EDB-C460-784A-B067-97B1DE03D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4175"/>
            <a:ext cx="8229600" cy="1139825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Scientific Writing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E40AC49-70C0-7A08-3995-FB485BD16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525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dirty="0">
                <a:solidFill>
                  <a:srgbClr val="3333FF"/>
                </a:solidFill>
              </a:rPr>
              <a:t>There are two major parts</a:t>
            </a:r>
          </a:p>
          <a:p>
            <a:pPr lvl="1" eaLnBrk="1" hangingPunct="1">
              <a:defRPr/>
            </a:pPr>
            <a:r>
              <a:rPr lang="en-GB" altLang="en-US" dirty="0">
                <a:solidFill>
                  <a:srgbClr val="FF3300"/>
                </a:solidFill>
              </a:rPr>
              <a:t>Writing about the </a:t>
            </a:r>
            <a:r>
              <a:rPr lang="en-GB" altLang="en-US" dirty="0">
                <a:solidFill>
                  <a:srgbClr val="0070C0"/>
                </a:solidFill>
              </a:rPr>
              <a:t>Problem</a:t>
            </a:r>
            <a:r>
              <a:rPr lang="en-GB" altLang="en-US" dirty="0">
                <a:solidFill>
                  <a:srgbClr val="FF3300"/>
                </a:solidFill>
              </a:rPr>
              <a:t>/</a:t>
            </a:r>
            <a:r>
              <a:rPr lang="en-GB" altLang="en-US" dirty="0">
                <a:solidFill>
                  <a:srgbClr val="FF3300"/>
                </a:solidFill>
                <a:highlight>
                  <a:srgbClr val="FFFF00"/>
                </a:highlight>
              </a:rPr>
              <a:t>technological gap (ML explainability)</a:t>
            </a:r>
            <a:r>
              <a:rPr lang="en-GB" altLang="en-US" dirty="0">
                <a:solidFill>
                  <a:srgbClr val="FF3300"/>
                </a:solidFill>
              </a:rPr>
              <a:t>/concern</a:t>
            </a:r>
            <a:endParaRPr lang="en-GB" altLang="en-US" dirty="0">
              <a:solidFill>
                <a:srgbClr val="FF3300"/>
              </a:solidFill>
              <a:highlight>
                <a:srgbClr val="FFFF00"/>
              </a:highlight>
            </a:endParaRPr>
          </a:p>
          <a:p>
            <a:pPr lvl="1" eaLnBrk="1" hangingPunct="1">
              <a:defRPr/>
            </a:pPr>
            <a:r>
              <a:rPr lang="en-GB" altLang="en-US" dirty="0">
                <a:solidFill>
                  <a:srgbClr val="FF3300"/>
                </a:solidFill>
              </a:rPr>
              <a:t>Describing the </a:t>
            </a:r>
            <a:r>
              <a:rPr lang="en-GB" altLang="en-US" dirty="0">
                <a:solidFill>
                  <a:srgbClr val="0070C0"/>
                </a:solidFill>
              </a:rPr>
              <a:t>Solution/technology/inspiration(</a:t>
            </a:r>
            <a:r>
              <a:rPr lang="en-GB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ES)</a:t>
            </a:r>
          </a:p>
          <a:p>
            <a:pPr eaLnBrk="1" hangingPunct="1">
              <a:defRPr/>
            </a:pPr>
            <a:r>
              <a:rPr lang="en-GB" altLang="en-US" sz="2800" dirty="0">
                <a:solidFill>
                  <a:srgbClr val="FF0000"/>
                </a:solidFill>
              </a:rPr>
              <a:t>These parts may be supported by several other parts</a:t>
            </a:r>
          </a:p>
          <a:p>
            <a:pPr lvl="1" eaLnBrk="1" hangingPunct="1">
              <a:defRPr/>
            </a:pPr>
            <a:r>
              <a:rPr lang="en-GB" altLang="en-US" dirty="0">
                <a:solidFill>
                  <a:srgbClr val="FF0000"/>
                </a:solidFill>
              </a:rPr>
              <a:t> </a:t>
            </a:r>
            <a:r>
              <a:rPr lang="en-GB" altLang="en-US" dirty="0">
                <a:solidFill>
                  <a:srgbClr val="0070C0"/>
                </a:solidFill>
              </a:rPr>
              <a:t>Problem-related: background, others’ work</a:t>
            </a:r>
          </a:p>
          <a:p>
            <a:pPr lvl="1" eaLnBrk="1" hangingPunct="1">
              <a:defRPr/>
            </a:pPr>
            <a:r>
              <a:rPr lang="en-GB" altLang="en-US" dirty="0">
                <a:solidFill>
                  <a:srgbClr val="0070C0"/>
                </a:solidFill>
              </a:rPr>
              <a:t> Solution-related: technologies, </a:t>
            </a:r>
            <a:r>
              <a:rPr lang="en-GB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approach</a:t>
            </a:r>
            <a:r>
              <a:rPr lang="en-GB" altLang="en-US" dirty="0">
                <a:solidFill>
                  <a:srgbClr val="0070C0"/>
                </a:solidFill>
              </a:rPr>
              <a:t>, design, implementation, evaluation, conclusion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GB" altLang="en-US" dirty="0">
                <a:solidFill>
                  <a:srgbClr val="3333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EDF4B0D-18E9-6691-BA54-550644035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9067800" cy="1139825"/>
          </a:xfrm>
        </p:spPr>
        <p:txBody>
          <a:bodyPr/>
          <a:lstStyle/>
          <a:p>
            <a:pPr eaLnBrk="1" hangingPunct="1"/>
            <a:r>
              <a:rPr lang="en-GB" altLang="en-US" sz="4000" b="1" dirty="0">
                <a:solidFill>
                  <a:srgbClr val="00B050"/>
                </a:solidFill>
              </a:rPr>
              <a:t>About the </a:t>
            </a:r>
            <a:r>
              <a:rPr lang="en-GB" altLang="en-US" sz="4000" b="1" dirty="0">
                <a:solidFill>
                  <a:srgbClr val="00B050"/>
                </a:solidFill>
                <a:highlight>
                  <a:srgbClr val="FFFF00"/>
                </a:highlight>
              </a:rPr>
              <a:t>Problem/Technological gap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E315772-E4DF-52D3-F544-361A8321F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" y="1163637"/>
            <a:ext cx="90678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3300"/>
                </a:solidFill>
              </a:rPr>
              <a:t>This may include many sub-sections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Background</a:t>
            </a:r>
            <a:r>
              <a:rPr lang="en-GB" altLang="en-US" dirty="0">
                <a:solidFill>
                  <a:srgbClr val="3333FF"/>
                </a:solidFill>
              </a:rPr>
              <a:t> with influential references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Motivation</a:t>
            </a:r>
            <a:r>
              <a:rPr lang="en-GB" altLang="en-US" dirty="0">
                <a:solidFill>
                  <a:srgbClr val="3333FF"/>
                </a:solidFill>
              </a:rPr>
              <a:t> (job, environment, experience, promotions, demand, events, trends)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Others’ attempts </a:t>
            </a:r>
            <a:r>
              <a:rPr lang="en-GB" altLang="en-US" dirty="0">
                <a:solidFill>
                  <a:srgbClr val="3333FF"/>
                </a:solidFill>
              </a:rPr>
              <a:t>(</a:t>
            </a: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failures</a:t>
            </a:r>
            <a:r>
              <a:rPr lang="en-GB" altLang="en-US" dirty="0">
                <a:solidFill>
                  <a:srgbClr val="3333FF"/>
                </a:solidFill>
              </a:rPr>
              <a:t>/successes)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Importance of the problem/technological gap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Feasibility</a:t>
            </a:r>
            <a:r>
              <a:rPr lang="en-GB" altLang="en-US" dirty="0">
                <a:solidFill>
                  <a:srgbClr val="3333FF"/>
                </a:solidFill>
              </a:rPr>
              <a:t> of finding a solution (confidence)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Resources</a:t>
            </a:r>
            <a:r>
              <a:rPr lang="en-GB" altLang="en-US" dirty="0">
                <a:solidFill>
                  <a:srgbClr val="3333FF"/>
                </a:solidFill>
              </a:rPr>
              <a:t> required and </a:t>
            </a: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available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FF3300"/>
                </a:solidFill>
              </a:rPr>
              <a:t> Convince that your problem is worth addressing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GB" altLang="en-US" dirty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GB" altLang="en-US" dirty="0"/>
          </a:p>
          <a:p>
            <a:pPr eaLnBrk="1" hangingPunct="1">
              <a:lnSpc>
                <a:spcPct val="90000"/>
              </a:lnSpc>
              <a:defRPr/>
            </a:pPr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9BF9B-DCA7-E69E-F403-DD09947963AD}"/>
              </a:ext>
            </a:extLst>
          </p:cNvPr>
          <p:cNvSpPr txBox="1"/>
          <p:nvPr/>
        </p:nvSpPr>
        <p:spPr>
          <a:xfrm>
            <a:off x="9372600" y="2133600"/>
            <a:ext cx="251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ANN</a:t>
            </a:r>
          </a:p>
          <a:p>
            <a:r>
              <a:rPr lang="en-US" dirty="0">
                <a:solidFill>
                  <a:srgbClr val="FFFF00"/>
                </a:solidFill>
              </a:rPr>
              <a:t>  Linear separability</a:t>
            </a:r>
          </a:p>
          <a:p>
            <a:r>
              <a:rPr lang="en-US" dirty="0">
                <a:solidFill>
                  <a:srgbClr val="FFFF00"/>
                </a:solidFill>
              </a:rPr>
              <a:t>Backpropagation</a:t>
            </a:r>
          </a:p>
          <a:p>
            <a:r>
              <a:rPr lang="en-US" dirty="0">
                <a:solidFill>
                  <a:srgbClr val="FFFF00"/>
                </a:solidFill>
              </a:rPr>
              <a:t>  Manual classification</a:t>
            </a:r>
          </a:p>
          <a:p>
            <a:r>
              <a:rPr lang="en-US" dirty="0">
                <a:solidFill>
                  <a:srgbClr val="FFFF00"/>
                </a:solidFill>
              </a:rPr>
              <a:t>Deep Learning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5B5F98E-94AC-FA0F-2403-3BFA213B0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686800" cy="1139825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About the Solution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184254B-F833-EDD8-B675-E6214CCC2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" y="1260475"/>
            <a:ext cx="9372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sz="2800" dirty="0">
                <a:solidFill>
                  <a:srgbClr val="3333FF"/>
                </a:solidFill>
              </a:rPr>
              <a:t>This includes the sub-sections like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</a:rPr>
              <a:t>Technology to fill the gap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  <a:highlight>
                  <a:srgbClr val="FFFF00"/>
                </a:highlight>
              </a:rPr>
              <a:t>Approach</a:t>
            </a:r>
            <a:r>
              <a:rPr lang="en-GB" altLang="en-US" sz="2800" dirty="0">
                <a:solidFill>
                  <a:srgbClr val="FF3300"/>
                </a:solidFill>
              </a:rPr>
              <a:t> (conceptualising a solution)</a:t>
            </a:r>
          </a:p>
          <a:p>
            <a:pPr marL="1357312" lvl="3" indent="-342900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Same problem, same technology, but different solution</a:t>
            </a:r>
          </a:p>
          <a:p>
            <a:pPr marL="1357312" lvl="3" indent="-342900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Hypothesis, input, output, process/technologies, users, features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</a:rPr>
              <a:t>Design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</a:rPr>
              <a:t>Implementation   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</a:rPr>
              <a:t>Evaluation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</a:rPr>
              <a:t>Conclusion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FF3300"/>
                </a:solidFill>
              </a:rPr>
              <a:t> </a:t>
            </a:r>
            <a:r>
              <a:rPr lang="en-GB" altLang="en-US" sz="2800" dirty="0">
                <a:solidFill>
                  <a:srgbClr val="0070C0"/>
                </a:solidFill>
              </a:rPr>
              <a:t>Approach is the key step in the research process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GB" altLang="en-US" sz="2800" dirty="0">
                <a:solidFill>
                  <a:srgbClr val="0070C0"/>
                </a:solidFill>
              </a:rPr>
              <a:t>ANN (Single layer) </a:t>
            </a:r>
            <a:r>
              <a:rPr lang="en-GB" alt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 BP ()  DL (text) </a:t>
            </a:r>
            <a:r>
              <a:rPr lang="en-GB" altLang="en-US" sz="2800" dirty="0">
                <a:solidFill>
                  <a:srgbClr val="0070C0"/>
                </a:solidFill>
              </a:rPr>
              <a:t> Transformer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endParaRPr lang="en-GB" altLang="en-US" sz="3200" dirty="0">
              <a:solidFill>
                <a:srgbClr val="FF3300"/>
              </a:solidFill>
              <a:highlight>
                <a:srgbClr val="FFFF00"/>
              </a:highlight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GB" altLang="en-US" sz="2800" dirty="0">
              <a:solidFill>
                <a:srgbClr val="3333FF"/>
              </a:solidFill>
            </a:endParaRPr>
          </a:p>
          <a:p>
            <a:pPr marL="344487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GB" altLang="en-US" sz="2200" dirty="0"/>
          </a:p>
          <a:p>
            <a:pPr eaLnBrk="1" hangingPunct="1">
              <a:lnSpc>
                <a:spcPct val="90000"/>
              </a:lnSpc>
              <a:defRPr/>
            </a:pPr>
            <a:endParaRPr lang="en-GB" alt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762D3-4378-5A41-D6E8-C0ABA4C90619}"/>
              </a:ext>
            </a:extLst>
          </p:cNvPr>
          <p:cNvSpPr txBox="1"/>
          <p:nvPr/>
        </p:nvSpPr>
        <p:spPr>
          <a:xfrm>
            <a:off x="9677400" y="838200"/>
            <a:ext cx="4784387" cy="59093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Reading literature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Problem 1         technology  1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Problem 2         technology  2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Problem 3          technology 1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Problem 4         technology  4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Problem 1         technology  3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…………           ……………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Unsolved            technology 2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Problem            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</a:t>
            </a:r>
            <a:r>
              <a:rPr lang="en-US" dirty="0">
                <a:solidFill>
                  <a:srgbClr val="FFFF00"/>
                </a:solidFill>
                <a:highlight>
                  <a:srgbClr val="FF0000"/>
                </a:highlight>
              </a:rPr>
              <a:t>Technological gap</a:t>
            </a:r>
            <a:r>
              <a:rPr lang="en-US" dirty="0">
                <a:solidFill>
                  <a:srgbClr val="FFFF00"/>
                </a:solidFill>
              </a:rPr>
              <a:t>                   </a:t>
            </a:r>
            <a:endParaRPr lang="en-US" dirty="0">
              <a:solidFill>
                <a:srgbClr val="FFFF00"/>
              </a:solidFill>
              <a:highlight>
                <a:srgbClr val="FF0000"/>
              </a:highlight>
            </a:endParaRP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Solution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        </a:t>
            </a: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</a:rPr>
              <a:t>Research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      (new knowledge)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        Papers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        Patent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        Nobel prize</a:t>
            </a:r>
          </a:p>
          <a:p>
            <a:pPr>
              <a:defRPr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BE68A0-F388-A686-E3D4-A72F415D455A}"/>
              </a:ext>
            </a:extLst>
          </p:cNvPr>
          <p:cNvCxnSpPr/>
          <p:nvPr/>
        </p:nvCxnSpPr>
        <p:spPr>
          <a:xfrm>
            <a:off x="10058400" y="3733800"/>
            <a:ext cx="0" cy="762000"/>
          </a:xfrm>
          <a:prstGeom prst="straightConnector1">
            <a:avLst/>
          </a:prstGeom>
          <a:ln w="317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73380A-93AC-5022-6760-FA8DA1F6AE8C}"/>
              </a:ext>
            </a:extLst>
          </p:cNvPr>
          <p:cNvCxnSpPr>
            <a:cxnSpLocks/>
          </p:cNvCxnSpPr>
          <p:nvPr/>
        </p:nvCxnSpPr>
        <p:spPr>
          <a:xfrm flipH="1">
            <a:off x="10125711" y="3398838"/>
            <a:ext cx="990600" cy="1079500"/>
          </a:xfrm>
          <a:prstGeom prst="straightConnector1">
            <a:avLst/>
          </a:prstGeom>
          <a:ln w="317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DABA24-03A6-CE3A-4A4C-0167D10D6204}"/>
              </a:ext>
            </a:extLst>
          </p:cNvPr>
          <p:cNvCxnSpPr/>
          <p:nvPr/>
        </p:nvCxnSpPr>
        <p:spPr>
          <a:xfrm>
            <a:off x="12192000" y="4097338"/>
            <a:ext cx="0" cy="76200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23299443-944D-C3FF-C768-728F2037F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00B050"/>
                </a:solidFill>
              </a:rPr>
              <a:t>Knowing the </a:t>
            </a:r>
            <a:r>
              <a:rPr lang="en-US" altLang="en-US" sz="3600" b="1" dirty="0">
                <a:solidFill>
                  <a:srgbClr val="00B050"/>
                </a:solidFill>
                <a:highlight>
                  <a:srgbClr val="FFFF00"/>
                </a:highlight>
              </a:rPr>
              <a:t>problem/gap</a:t>
            </a:r>
            <a:r>
              <a:rPr lang="en-US" altLang="en-US" sz="3600" b="1" dirty="0">
                <a:solidFill>
                  <a:srgbClr val="00B050"/>
                </a:solidFill>
              </a:rPr>
              <a:t> &amp; </a:t>
            </a:r>
            <a:r>
              <a:rPr lang="en-US" altLang="en-US" sz="3600" b="1" dirty="0">
                <a:solidFill>
                  <a:srgbClr val="00B050"/>
                </a:solidFill>
                <a:highlight>
                  <a:srgbClr val="FFFF00"/>
                </a:highlight>
              </a:rPr>
              <a:t>technology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99F374CA-6300-BA69-2B3A-C6485A7FE2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19200"/>
            <a:ext cx="9372600" cy="5486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>
                <a:solidFill>
                  <a:srgbClr val="0066FF"/>
                </a:solidFill>
              </a:rPr>
              <a:t> Knowing the </a:t>
            </a:r>
            <a:r>
              <a:rPr lang="en-US" altLang="en-US" sz="2400" dirty="0">
                <a:solidFill>
                  <a:srgbClr val="0066FF"/>
                </a:solidFill>
                <a:highlight>
                  <a:srgbClr val="FFFF00"/>
                </a:highlight>
              </a:rPr>
              <a:t>problem</a:t>
            </a:r>
            <a:r>
              <a:rPr lang="en-US" altLang="en-US" sz="2400" dirty="0">
                <a:solidFill>
                  <a:srgbClr val="0066FF"/>
                </a:solidFill>
              </a:rPr>
              <a:t> and </a:t>
            </a:r>
            <a:r>
              <a:rPr lang="en-US" altLang="en-US" sz="2400" dirty="0">
                <a:solidFill>
                  <a:srgbClr val="0066FF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sz="2400" dirty="0">
                <a:solidFill>
                  <a:srgbClr val="0066FF"/>
                </a:solidFill>
              </a:rPr>
              <a:t> is a turning point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en-US" sz="2400" dirty="0">
                <a:solidFill>
                  <a:srgbClr val="0066FF"/>
                </a:solidFill>
              </a:rPr>
              <a:t>Now you can develop the following </a:t>
            </a:r>
            <a:endParaRPr lang="en-US" altLang="en-US" sz="2400" u="sng" dirty="0">
              <a:solidFill>
                <a:srgbClr val="0066FF"/>
              </a:solidFill>
            </a:endParaRP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1. 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Project title </a:t>
            </a:r>
            <a:r>
              <a:rPr lang="en-US" altLang="en-US" sz="2200" dirty="0">
                <a:solidFill>
                  <a:srgbClr val="FF0000"/>
                </a:solidFill>
              </a:rPr>
              <a:t>(problem/concern + technology/solution)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FF0000"/>
                </a:solidFill>
              </a:rPr>
              <a:t>Addressing Expandability in ML with Expert Systems</a:t>
            </a: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2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en-US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Hypothesis </a:t>
            </a:r>
            <a:r>
              <a:rPr lang="en-US" altLang="en-US" sz="2200" dirty="0">
                <a:solidFill>
                  <a:srgbClr val="0070C0"/>
                </a:solidFill>
              </a:rPr>
              <a:t>(Problem/bap X can be solved by technology Y)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Explainability in ML can be addressed by ES</a:t>
            </a:r>
          </a:p>
          <a:p>
            <a:pPr marL="344487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3. 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Objectives</a:t>
            </a:r>
            <a:r>
              <a:rPr lang="en-US" altLang="en-US" sz="2200" dirty="0">
                <a:solidFill>
                  <a:srgbClr val="FF0000"/>
                </a:solidFill>
              </a:rPr>
              <a:t> (two-fold: problem-related, and solution-related)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Critical review of the Literature on attention monitoring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(problem)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 In-depth study of the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dirty="0">
                <a:solidFill>
                  <a:srgbClr val="0070C0"/>
                </a:solidFill>
              </a:rPr>
              <a:t> used for attention monitoring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Design and develop an EEG-based attention monitoring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solution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Evaluate the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solution</a:t>
            </a: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Approach</a:t>
            </a:r>
            <a:r>
              <a:rPr lang="en-US" altLang="en-US" sz="2200" dirty="0">
                <a:solidFill>
                  <a:srgbClr val="0070C0"/>
                </a:solidFill>
              </a:rPr>
              <a:t> can be conceptualized in terms of (</a:t>
            </a:r>
            <a:r>
              <a:rPr lang="en-US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Proposal</a:t>
            </a:r>
            <a:r>
              <a:rPr lang="en-US" altLang="en-US" sz="2200" dirty="0">
                <a:solidFill>
                  <a:srgbClr val="0070C0"/>
                </a:solidFill>
              </a:rPr>
              <a:t>)</a:t>
            </a:r>
          </a:p>
          <a:p>
            <a:pPr lvl="2" eaLnBrk="1" hangingPunct="1">
              <a:defRPr/>
            </a:pPr>
            <a:r>
              <a:rPr lang="en-US" altLang="en-US" sz="1800" dirty="0">
                <a:solidFill>
                  <a:srgbClr val="FF0000"/>
                </a:solidFill>
              </a:rPr>
              <a:t>Hypothesis, Input, output, process (technology), features, users, </a:t>
            </a:r>
          </a:p>
          <a:p>
            <a:pPr lvl="2" eaLnBrk="1" hangingPunct="1">
              <a:defRPr/>
            </a:pPr>
            <a:endParaRPr lang="en-US" altLang="en-US" dirty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E4C94E-3161-0C3A-D229-4732EE0ED0E0}"/>
              </a:ext>
            </a:extLst>
          </p:cNvPr>
          <p:cNvSpPr txBox="1"/>
          <p:nvPr/>
        </p:nvSpPr>
        <p:spPr>
          <a:xfrm>
            <a:off x="9372600" y="1600200"/>
            <a:ext cx="28264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NLP/LLM</a:t>
            </a:r>
          </a:p>
          <a:p>
            <a:r>
              <a:rPr lang="en-US" dirty="0">
                <a:solidFill>
                  <a:srgbClr val="FFFF00"/>
                </a:solidFill>
              </a:rPr>
              <a:t>    Parallel text processing</a:t>
            </a:r>
          </a:p>
          <a:p>
            <a:r>
              <a:rPr lang="en-US" dirty="0">
                <a:solidFill>
                  <a:srgbClr val="FFFF00"/>
                </a:solidFill>
              </a:rPr>
              <a:t>Transformer</a:t>
            </a:r>
          </a:p>
          <a:p>
            <a:r>
              <a:rPr lang="en-US" dirty="0">
                <a:solidFill>
                  <a:srgbClr val="FFFF00"/>
                </a:solidFill>
              </a:rPr>
              <a:t>    efficiency</a:t>
            </a:r>
          </a:p>
          <a:p>
            <a:r>
              <a:rPr lang="en-US" dirty="0">
                <a:solidFill>
                  <a:srgbClr val="FFFF00"/>
                </a:solidFill>
              </a:rPr>
              <a:t>???????????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15A49BB0-AC3C-85AF-AE44-836E9ACF3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25"/>
            <a:ext cx="8229600" cy="744538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00B050"/>
                </a:solidFill>
              </a:rPr>
              <a:t>Framework for writing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FDDAD1F-8178-6A66-0614-8EC68D915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58850"/>
            <a:ext cx="9067800" cy="5289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FF3300"/>
                </a:solidFill>
              </a:rPr>
              <a:t>Writing through the following steps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Outline (main headings)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Draft (writing under heading)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Revise (improving the draft)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Fine tune (language improvement)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Who should be involved in these steps?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Student + Supervisor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FF3300"/>
                </a:solidFill>
              </a:rPr>
              <a:t>You cannot write in one shot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Writing energizes writing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Note: Outline – student + supervisor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        Draft    - student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        Revise – students (many times) + supervisor (1/2 time)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        Finetune – language editor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2400" dirty="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2600" dirty="0">
              <a:solidFill>
                <a:srgbClr val="3333FF"/>
              </a:solidFill>
            </a:endParaRPr>
          </a:p>
        </p:txBody>
      </p:sp>
      <p:sp>
        <p:nvSpPr>
          <p:cNvPr id="66564" name="TextBox 2">
            <a:extLst>
              <a:ext uri="{FF2B5EF4-FFF2-40B4-BE49-F238E27FC236}">
                <a16:creationId xmlns:a16="http://schemas.microsoft.com/office/drawing/2014/main" id="{A6898048-FFE1-1D42-4051-00CFAF1B3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958850"/>
            <a:ext cx="915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66565" name="TextBox 5">
            <a:extLst>
              <a:ext uri="{FF2B5EF4-FFF2-40B4-BE49-F238E27FC236}">
                <a16:creationId xmlns:a16="http://schemas.microsoft.com/office/drawing/2014/main" id="{8BA09683-D6DF-860C-1AF3-234796582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563" y="1755775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70C0"/>
                </a:solidFill>
              </a:rPr>
              <a:t>Draft</a:t>
            </a:r>
          </a:p>
        </p:txBody>
      </p:sp>
      <p:sp>
        <p:nvSpPr>
          <p:cNvPr id="66566" name="TextBox 6">
            <a:extLst>
              <a:ext uri="{FF2B5EF4-FFF2-40B4-BE49-F238E27FC236}">
                <a16:creationId xmlns:a16="http://schemas.microsoft.com/office/drawing/2014/main" id="{BEC4DB1B-F037-5D4E-4983-A75DBB4B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3663950"/>
            <a:ext cx="1082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Finetune</a:t>
            </a:r>
          </a:p>
        </p:txBody>
      </p:sp>
      <p:sp>
        <p:nvSpPr>
          <p:cNvPr id="66567" name="TextBox 8">
            <a:extLst>
              <a:ext uri="{FF2B5EF4-FFF2-40B4-BE49-F238E27FC236}">
                <a16:creationId xmlns:a16="http://schemas.microsoft.com/office/drawing/2014/main" id="{F9583BD5-D2AE-7012-7155-CCF731867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63" y="2662238"/>
            <a:ext cx="889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7030A0"/>
                </a:solidFill>
              </a:rPr>
              <a:t>Revise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955B73-23DE-3757-EBFD-8FD6D9A8D28A}"/>
              </a:ext>
            </a:extLst>
          </p:cNvPr>
          <p:cNvCxnSpPr>
            <a:endCxn id="66565" idx="0"/>
          </p:cNvCxnSpPr>
          <p:nvPr/>
        </p:nvCxnSpPr>
        <p:spPr>
          <a:xfrm>
            <a:off x="7764463" y="1327150"/>
            <a:ext cx="0" cy="428625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DE301A-5457-418C-77C9-53C0A7E49F04}"/>
              </a:ext>
            </a:extLst>
          </p:cNvPr>
          <p:cNvCxnSpPr>
            <a:stCxn id="66565" idx="2"/>
            <a:endCxn id="66567" idx="0"/>
          </p:cNvCxnSpPr>
          <p:nvPr/>
        </p:nvCxnSpPr>
        <p:spPr>
          <a:xfrm flipH="1">
            <a:off x="7764463" y="2124075"/>
            <a:ext cx="0" cy="619125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1CF826-ED7D-BD37-FB83-29D0DC780A09}"/>
              </a:ext>
            </a:extLst>
          </p:cNvPr>
          <p:cNvCxnSpPr>
            <a:cxnSpLocks/>
          </p:cNvCxnSpPr>
          <p:nvPr/>
        </p:nvCxnSpPr>
        <p:spPr>
          <a:xfrm flipV="1">
            <a:off x="7623175" y="3182938"/>
            <a:ext cx="0" cy="322262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7C2DD0-3E35-388C-6DD2-66EF5E4625DA}"/>
              </a:ext>
            </a:extLst>
          </p:cNvPr>
          <p:cNvCxnSpPr>
            <a:cxnSpLocks/>
          </p:cNvCxnSpPr>
          <p:nvPr/>
        </p:nvCxnSpPr>
        <p:spPr>
          <a:xfrm>
            <a:off x="7815263" y="3032125"/>
            <a:ext cx="0" cy="5381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3C9EAC-956B-5803-654D-8FA15CBFC5BF}"/>
              </a:ext>
            </a:extLst>
          </p:cNvPr>
          <p:cNvSpPr txBox="1"/>
          <p:nvPr/>
        </p:nvSpPr>
        <p:spPr>
          <a:xfrm>
            <a:off x="9418637" y="584994"/>
            <a:ext cx="3849686" cy="424731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Abstract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Introduction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Lit Review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Technology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highlight>
                  <a:srgbClr val="008080"/>
                </a:highlight>
              </a:rPr>
              <a:t>Approach          -  Proposal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Design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Implementation  - Progress Report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                  /Con paper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Evaluation         -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Conclusion        - Journal/Thesis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References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Appendix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B538E4A-D0E4-A46B-FE29-CE9E6D92FB16}"/>
              </a:ext>
            </a:extLst>
          </p:cNvPr>
          <p:cNvCxnSpPr>
            <a:cxnSpLocks/>
          </p:cNvCxnSpPr>
          <p:nvPr/>
        </p:nvCxnSpPr>
        <p:spPr>
          <a:xfrm>
            <a:off x="8991600" y="2743200"/>
            <a:ext cx="0" cy="137160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C5258A2-BFC7-280C-8305-C44F0FA486A5}"/>
              </a:ext>
            </a:extLst>
          </p:cNvPr>
          <p:cNvSpPr/>
          <p:nvPr/>
        </p:nvSpPr>
        <p:spPr>
          <a:xfrm>
            <a:off x="9601200" y="6096000"/>
            <a:ext cx="1658938" cy="3810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FCBC2F-C946-4C83-BE56-D627D29207AD}"/>
              </a:ext>
            </a:extLst>
          </p:cNvPr>
          <p:cNvCxnSpPr>
            <a:cxnSpLocks/>
          </p:cNvCxnSpPr>
          <p:nvPr/>
        </p:nvCxnSpPr>
        <p:spPr>
          <a:xfrm>
            <a:off x="11260138" y="5551488"/>
            <a:ext cx="0" cy="696912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1826E8-78B0-EFBD-59EF-D6A6AB7DD821}"/>
              </a:ext>
            </a:extLst>
          </p:cNvPr>
          <p:cNvCxnSpPr>
            <a:cxnSpLocks/>
          </p:cNvCxnSpPr>
          <p:nvPr/>
        </p:nvCxnSpPr>
        <p:spPr>
          <a:xfrm>
            <a:off x="9601200" y="5562600"/>
            <a:ext cx="0" cy="696913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13FFD0-D2CA-1C95-13AB-3DAD7FFEB161}"/>
              </a:ext>
            </a:extLst>
          </p:cNvPr>
          <p:cNvCxnSpPr>
            <a:cxnSpLocks/>
          </p:cNvCxnSpPr>
          <p:nvPr/>
        </p:nvCxnSpPr>
        <p:spPr>
          <a:xfrm flipH="1">
            <a:off x="9615488" y="5562600"/>
            <a:ext cx="164465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6E7DF7E-C293-E868-71B1-7C0237C02C2A}"/>
              </a:ext>
            </a:extLst>
          </p:cNvPr>
          <p:cNvSpPr/>
          <p:nvPr/>
        </p:nvSpPr>
        <p:spPr>
          <a:xfrm>
            <a:off x="10514013" y="5715000"/>
            <a:ext cx="198437" cy="282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158090E-4B9D-7F41-A11A-CBEC2B667BEC}"/>
              </a:ext>
            </a:extLst>
          </p:cNvPr>
          <p:cNvSpPr/>
          <p:nvPr/>
        </p:nvSpPr>
        <p:spPr>
          <a:xfrm>
            <a:off x="10056813" y="5715000"/>
            <a:ext cx="212725" cy="282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50B77-0925-198F-A996-3FA96EC5F99C}"/>
              </a:ext>
            </a:extLst>
          </p:cNvPr>
          <p:cNvCxnSpPr/>
          <p:nvPr/>
        </p:nvCxnSpPr>
        <p:spPr>
          <a:xfrm>
            <a:off x="10167938" y="5573713"/>
            <a:ext cx="0" cy="155575"/>
          </a:xfrm>
          <a:prstGeom prst="line">
            <a:avLst/>
          </a:prstGeom>
          <a:ln w="666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5C4DF4-8680-6669-5710-A0217C52A825}"/>
              </a:ext>
            </a:extLst>
          </p:cNvPr>
          <p:cNvCxnSpPr/>
          <p:nvPr/>
        </p:nvCxnSpPr>
        <p:spPr>
          <a:xfrm>
            <a:off x="10623550" y="5583238"/>
            <a:ext cx="0" cy="157162"/>
          </a:xfrm>
          <a:prstGeom prst="line">
            <a:avLst/>
          </a:prstGeom>
          <a:ln w="666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66FEDCEB-2525-3558-A1FD-29EC7DAAC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Blank-page fear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D3171D84-F1E0-3FED-47A4-22B4D7CBC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915400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If your paper is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still blank </a:t>
            </a:r>
            <a:r>
              <a:rPr lang="en-US" altLang="en-US" dirty="0">
                <a:solidFill>
                  <a:srgbClr val="0070C0"/>
                </a:solidFill>
              </a:rPr>
              <a:t>after 5 </a:t>
            </a:r>
            <a:r>
              <a:rPr lang="en-US" altLang="en-US" dirty="0" err="1">
                <a:solidFill>
                  <a:srgbClr val="0070C0"/>
                </a:solidFill>
              </a:rPr>
              <a:t>minuts</a:t>
            </a:r>
            <a:r>
              <a:rPr lang="en-US" altLang="en-US" dirty="0">
                <a:solidFill>
                  <a:srgbClr val="0070C0"/>
                </a:solidFill>
              </a:rPr>
              <a:t>, you will lose your interest and confidence in writing</a:t>
            </a:r>
          </a:p>
          <a:p>
            <a:pPr>
              <a:defRPr/>
            </a:pPr>
            <a:r>
              <a:rPr lang="en-US" altLang="en-US" dirty="0">
                <a:solidFill>
                  <a:srgbClr val="FF3300"/>
                </a:solidFill>
              </a:rPr>
              <a:t>This is called blank-page fear</a:t>
            </a:r>
          </a:p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To remove this fear,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write some garbage </a:t>
            </a:r>
            <a:r>
              <a:rPr lang="en-US" altLang="en-US" dirty="0">
                <a:solidFill>
                  <a:srgbClr val="0070C0"/>
                </a:solidFill>
              </a:rPr>
              <a:t>to get the feeling that there is something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Now you have the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mentality of editing</a:t>
            </a:r>
          </a:p>
          <a:p>
            <a:pPr>
              <a:defRPr/>
            </a:pPr>
            <a:r>
              <a:rPr lang="en-US" altLang="en-US" dirty="0">
                <a:solidFill>
                  <a:srgbClr val="0070C0"/>
                </a:solidFill>
              </a:rPr>
              <a:t>This has a positive influence on driving you forward</a:t>
            </a:r>
          </a:p>
          <a:p>
            <a:pPr>
              <a:defRPr/>
            </a:pPr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531AF45-2942-6400-E79A-783D715D8663}"/>
                  </a:ext>
                </a:extLst>
              </p14:cNvPr>
              <p14:cNvContentPartPr/>
              <p14:nvPr/>
            </p14:nvContentPartPr>
            <p14:xfrm>
              <a:off x="7022960" y="1525240"/>
              <a:ext cx="239040" cy="639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531AF45-2942-6400-E79A-783D715D86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16840" y="1519117"/>
                <a:ext cx="251280" cy="651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2D7AE56-CE85-4CA6-9215-929F77450269}"/>
                  </a:ext>
                </a:extLst>
              </p14:cNvPr>
              <p14:cNvContentPartPr/>
              <p14:nvPr/>
            </p14:nvContentPartPr>
            <p14:xfrm>
              <a:off x="7036080" y="2082520"/>
              <a:ext cx="457200" cy="81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2D7AE56-CE85-4CA6-9215-929F774502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29960" y="2076400"/>
                <a:ext cx="46944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592" name="Group 15">
            <a:extLst>
              <a:ext uri="{FF2B5EF4-FFF2-40B4-BE49-F238E27FC236}">
                <a16:creationId xmlns:a16="http://schemas.microsoft.com/office/drawing/2014/main" id="{041443E5-E4B7-37E1-511A-7229D9052B3B}"/>
              </a:ext>
            </a:extLst>
          </p:cNvPr>
          <p:cNvGrpSpPr>
            <a:grpSpLocks/>
          </p:cNvGrpSpPr>
          <p:nvPr/>
        </p:nvGrpSpPr>
        <p:grpSpPr bwMode="auto">
          <a:xfrm>
            <a:off x="8255000" y="2073275"/>
            <a:ext cx="173038" cy="74613"/>
            <a:chOff x="8255600" y="2072800"/>
            <a:chExt cx="172440" cy="7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3B1BE9-2052-32FB-7A34-B7497872F7B6}"/>
                    </a:ext>
                  </a:extLst>
                </p14:cNvPr>
                <p14:cNvContentPartPr/>
                <p14:nvPr/>
              </p14:nvContentPartPr>
              <p14:xfrm>
                <a:off x="8351360" y="207280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3B1BE9-2052-32FB-7A34-B7497872F7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45240" y="20666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7AE5AC-90BC-800D-E025-D2576ADB3D42}"/>
                    </a:ext>
                  </a:extLst>
                </p14:cNvPr>
                <p14:cNvContentPartPr/>
                <p14:nvPr/>
              </p14:nvContentPartPr>
              <p14:xfrm>
                <a:off x="8255600" y="2082880"/>
                <a:ext cx="85680" cy="65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7AE5AC-90BC-800D-E025-D2576ADB3D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49480" y="2076760"/>
                  <a:ext cx="97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D79051-AE91-6928-93E3-025B8D1E1303}"/>
                    </a:ext>
                  </a:extLst>
                </p14:cNvPr>
                <p14:cNvContentPartPr/>
                <p14:nvPr/>
              </p14:nvContentPartPr>
              <p14:xfrm>
                <a:off x="8341280" y="2092960"/>
                <a:ext cx="86760" cy="33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D79051-AE91-6928-93E3-025B8D1E13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35160" y="2086905"/>
                  <a:ext cx="99000" cy="4559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085CB11C-3329-CB94-6B77-74E2A99C0E50}"/>
              </a:ext>
            </a:extLst>
          </p:cNvPr>
          <p:cNvSpPr/>
          <p:nvPr/>
        </p:nvSpPr>
        <p:spPr>
          <a:xfrm>
            <a:off x="7315200" y="5791200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5</a:t>
            </a:r>
          </a:p>
          <a:p>
            <a:pPr algn="ctr">
              <a:defRPr/>
            </a:pPr>
            <a:r>
              <a:rPr lang="en-US" sz="1400" dirty="0"/>
              <a:t>19/07/2026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FAFC9F1-04F8-C26E-CAFA-B601F955B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9220200" cy="1143000"/>
          </a:xfrm>
        </p:spPr>
        <p:txBody>
          <a:bodyPr/>
          <a:lstStyle/>
          <a:p>
            <a:r>
              <a:rPr lang="en-US" altLang="en-US" sz="3600" b="1">
                <a:solidFill>
                  <a:srgbClr val="00B050"/>
                </a:solidFill>
              </a:rPr>
              <a:t>Building Blocks in Scientific Writing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6130597-EB2E-8313-7DBC-DDB01BE47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5080" y="914400"/>
            <a:ext cx="9453880" cy="52578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Abstract (problem-2, solution-1, conclusion-3)	</a:t>
            </a:r>
            <a:r>
              <a:rPr lang="en-US" altLang="en-US" sz="2500" dirty="0"/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FF0000"/>
                </a:solidFill>
              </a:rPr>
              <a:t>Introduction (problem-1, solution/conclusion-2, rest of …)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Literature Review (Problem/gap, Technology/Inspiration)</a:t>
            </a:r>
            <a:endParaRPr lang="en-US" altLang="en-US" sz="2500" dirty="0"/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FF0000"/>
                </a:solidFill>
              </a:rPr>
              <a:t>Technology (Theory/technology to address the gap)	</a:t>
            </a:r>
            <a:r>
              <a:rPr lang="en-US" altLang="en-US" sz="2500" dirty="0">
                <a:solidFill>
                  <a:srgbClr val="CC3300"/>
                </a:solidFill>
              </a:rPr>
              <a:t>	</a:t>
            </a:r>
            <a:endParaRPr lang="en-US" altLang="en-US" sz="2500" dirty="0"/>
          </a:p>
          <a:p>
            <a:pPr marL="182880">
              <a:lnSpc>
                <a:spcPct val="80000"/>
              </a:lnSpc>
              <a:spcBef>
                <a:spcPts val="0"/>
              </a:spcBef>
              <a:defRPr/>
            </a:pPr>
            <a:r>
              <a:rPr lang="en-US" altLang="en-US" sz="2500" dirty="0">
                <a:solidFill>
                  <a:srgbClr val="0000FF"/>
                </a:solidFill>
                <a:highlight>
                  <a:srgbClr val="FFFF00"/>
                </a:highlight>
              </a:rPr>
              <a:t>Approach</a:t>
            </a:r>
            <a:r>
              <a:rPr lang="en-US" altLang="en-US" sz="2500" dirty="0">
                <a:solidFill>
                  <a:srgbClr val="0000FF"/>
                </a:solidFill>
              </a:rPr>
              <a:t> (heart of research process) –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FFFF00"/>
                </a:highlight>
              </a:rPr>
              <a:t> Project proposal</a:t>
            </a:r>
            <a:r>
              <a:rPr lang="en-US" altLang="en-US" sz="2500" dirty="0"/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FF0000"/>
                </a:solidFill>
              </a:rPr>
              <a:t>Design (diagram, </a:t>
            </a:r>
            <a:r>
              <a:rPr lang="en-US" altLang="en-US" sz="2500" dirty="0">
                <a:solidFill>
                  <a:srgbClr val="FF0000"/>
                </a:solidFill>
                <a:sym typeface="Wingdings" panose="05000000000000000000" pitchFamily="2" charset="2"/>
              </a:rPr>
              <a:t>modules, connections)</a:t>
            </a:r>
            <a:r>
              <a:rPr lang="en-US" altLang="en-US" sz="2500" dirty="0">
                <a:solidFill>
                  <a:srgbClr val="CC3300"/>
                </a:solidFill>
              </a:rPr>
              <a:t> – Progress report</a:t>
            </a:r>
            <a:r>
              <a:rPr lang="en-US" altLang="en-US" sz="2500" dirty="0"/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  <a:highlight>
                  <a:srgbClr val="FFFF00"/>
                </a:highlight>
              </a:rPr>
              <a:t>Implementation </a:t>
            </a:r>
            <a:r>
              <a:rPr lang="en-US" altLang="en-US" sz="2500" dirty="0">
                <a:solidFill>
                  <a:srgbClr val="0000FF"/>
                </a:solidFill>
              </a:rPr>
              <a:t>(modules, </a:t>
            </a:r>
            <a:r>
              <a:rPr lang="en-US" altLang="en-US" sz="2500" dirty="0" err="1">
                <a:solidFill>
                  <a:srgbClr val="0000FF"/>
                </a:solidFill>
              </a:rPr>
              <a:t>sw</a:t>
            </a:r>
            <a:r>
              <a:rPr lang="en-US" altLang="en-US" sz="2500" dirty="0">
                <a:solidFill>
                  <a:srgbClr val="0000FF"/>
                </a:solidFill>
              </a:rPr>
              <a:t>/</a:t>
            </a:r>
            <a:r>
              <a:rPr lang="en-US" altLang="en-US" sz="2500" dirty="0" err="1">
                <a:solidFill>
                  <a:srgbClr val="0000FF"/>
                </a:solidFill>
              </a:rPr>
              <a:t>hw</a:t>
            </a:r>
            <a:r>
              <a:rPr lang="en-US" altLang="en-US" sz="2500" dirty="0">
                <a:solidFill>
                  <a:srgbClr val="0000FF"/>
                </a:solidFill>
              </a:rPr>
              <a:t>…….) – 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FFFF00"/>
                </a:highlight>
              </a:rPr>
              <a:t>Conf. Paper</a:t>
            </a:r>
            <a:r>
              <a:rPr lang="en-US" altLang="en-US" sz="2500" dirty="0">
                <a:solidFill>
                  <a:srgbClr val="0000FF"/>
                </a:solidFill>
              </a:rPr>
              <a:t>	</a:t>
            </a:r>
            <a:r>
              <a:rPr lang="en-US" altLang="en-US" sz="2500" dirty="0"/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FF0000"/>
                </a:solidFill>
              </a:rPr>
              <a:t>System in Practice (informal evaluation)</a:t>
            </a:r>
            <a:r>
              <a:rPr lang="en-US" altLang="en-US" sz="2500" dirty="0"/>
              <a:t>		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Evaluation (</a:t>
            </a:r>
            <a:r>
              <a:rPr lang="en-US" altLang="en-US" sz="2500" dirty="0">
                <a:solidFill>
                  <a:srgbClr val="0000FF"/>
                </a:solidFill>
                <a:highlight>
                  <a:srgbClr val="FFFF00"/>
                </a:highlight>
              </a:rPr>
              <a:t>approach</a:t>
            </a:r>
            <a:r>
              <a:rPr lang="en-US" altLang="en-US" sz="2500" dirty="0">
                <a:solidFill>
                  <a:srgbClr val="0000FF"/>
                </a:solidFill>
              </a:rPr>
              <a:t>, environment, test case, participants, </a:t>
            </a:r>
            <a:endParaRPr lang="en-US" altLang="en-US" sz="2500" dirty="0"/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FF0000"/>
                </a:solidFill>
              </a:rPr>
              <a:t>Conclusion and Further Work	                -Thesis/J paper)</a:t>
            </a:r>
            <a:r>
              <a:rPr lang="en-US" altLang="en-US" sz="2500" dirty="0"/>
              <a:t>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References	</a:t>
            </a:r>
            <a:r>
              <a:rPr lang="en-US" altLang="en-US" sz="2500" dirty="0"/>
              <a:t>			</a:t>
            </a:r>
            <a:r>
              <a:rPr lang="en-US" altLang="en-US" sz="2500" dirty="0">
                <a:solidFill>
                  <a:srgbClr val="CC3300"/>
                </a:solidFill>
              </a:rPr>
              <a:t>	</a:t>
            </a:r>
            <a:endParaRPr lang="en-US" altLang="en-US" sz="2500" dirty="0"/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Tables and Figures</a:t>
            </a:r>
            <a:r>
              <a:rPr lang="en-US" altLang="en-US" sz="2500" dirty="0"/>
              <a:t>			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FF0000"/>
                </a:solidFill>
              </a:rPr>
              <a:t>Appendix	</a:t>
            </a:r>
            <a:r>
              <a:rPr lang="en-US" altLang="en-US" sz="2500" dirty="0">
                <a:solidFill>
                  <a:srgbClr val="CC3300"/>
                </a:solidFill>
              </a:rPr>
              <a:t>	</a:t>
            </a:r>
            <a:r>
              <a:rPr lang="en-US" altLang="en-US" sz="2500" dirty="0"/>
              <a:t>		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Summary</a:t>
            </a:r>
            <a:r>
              <a:rPr lang="en-US" altLang="en-US" sz="2500" dirty="0"/>
              <a:t>	</a:t>
            </a:r>
          </a:p>
          <a:p>
            <a:pPr>
              <a:lnSpc>
                <a:spcPct val="80000"/>
              </a:lnSpc>
              <a:defRPr/>
            </a:pPr>
            <a:endParaRPr lang="en-US" alt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BBE86-BFED-C30F-B671-0680058E7F31}"/>
              </a:ext>
            </a:extLst>
          </p:cNvPr>
          <p:cNvSpPr txBox="1"/>
          <p:nvPr/>
        </p:nvSpPr>
        <p:spPr>
          <a:xfrm>
            <a:off x="9525000" y="1329690"/>
            <a:ext cx="433965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Essential of AI</a:t>
            </a:r>
          </a:p>
          <a:p>
            <a:r>
              <a:rPr lang="en-US" dirty="0">
                <a:solidFill>
                  <a:srgbClr val="FFFF00"/>
                </a:solidFill>
              </a:rPr>
              <a:t>Artificial Cognitive System </a:t>
            </a:r>
          </a:p>
          <a:p>
            <a:r>
              <a:rPr lang="en-US" dirty="0">
                <a:solidFill>
                  <a:srgbClr val="FFFF00"/>
                </a:solidFill>
                <a:highlight>
                  <a:srgbClr val="FF3300"/>
                </a:highlight>
              </a:rPr>
              <a:t>Scientific Communication   </a:t>
            </a:r>
          </a:p>
          <a:p>
            <a:r>
              <a:rPr lang="en-US" dirty="0">
                <a:solidFill>
                  <a:srgbClr val="FFFF00"/>
                </a:solidFill>
              </a:rPr>
              <a:t>     Project (MSc) Proposal </a:t>
            </a:r>
          </a:p>
          <a:p>
            <a:r>
              <a:rPr lang="en-US" dirty="0">
                <a:solidFill>
                  <a:srgbClr val="FFFF00"/>
                </a:solidFill>
              </a:rPr>
              <a:t>Multi-Agent System –</a:t>
            </a:r>
          </a:p>
          <a:p>
            <a:r>
              <a:rPr lang="en-US" dirty="0">
                <a:solidFill>
                  <a:srgbClr val="FFFF00"/>
                </a:solidFill>
                <a:highlight>
                  <a:srgbClr val="FF3300"/>
                </a:highlight>
              </a:rPr>
              <a:t>Research method</a:t>
            </a:r>
          </a:p>
          <a:p>
            <a:r>
              <a:rPr lang="en-US" dirty="0">
                <a:solidFill>
                  <a:srgbClr val="FFFF00"/>
                </a:solidFill>
              </a:rPr>
              <a:t>     Outline the thesis</a:t>
            </a:r>
          </a:p>
          <a:p>
            <a:r>
              <a:rPr lang="en-US" dirty="0">
                <a:solidFill>
                  <a:srgbClr val="FFFF00"/>
                </a:solidFill>
              </a:rPr>
              <a:t>MSc Project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Identify a research gap in deep learning</a:t>
            </a:r>
          </a:p>
          <a:p>
            <a:r>
              <a:rPr lang="en-US" dirty="0">
                <a:solidFill>
                  <a:srgbClr val="FFFF00"/>
                </a:solidFill>
              </a:rPr>
              <a:t>And some insight about the solution</a:t>
            </a:r>
          </a:p>
          <a:p>
            <a:r>
              <a:rPr lang="en-US" dirty="0">
                <a:solidFill>
                  <a:srgbClr val="FFFF00"/>
                </a:solidFill>
              </a:rPr>
              <a:t>And recommended research papers to</a:t>
            </a:r>
          </a:p>
          <a:p>
            <a:r>
              <a:rPr lang="en-US" dirty="0">
                <a:solidFill>
                  <a:srgbClr val="FFFF00"/>
                </a:solidFill>
              </a:rPr>
              <a:t>Read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What are universities, people, journals, </a:t>
            </a:r>
          </a:p>
          <a:p>
            <a:r>
              <a:rPr lang="en-US" dirty="0">
                <a:solidFill>
                  <a:srgbClr val="FFFF00"/>
                </a:solidFill>
              </a:rPr>
              <a:t>conference in your research area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BE3D189-322A-D9BC-EC83-1778A2BE6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Scientific docs and their purposes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9BBF078-AABE-5B80-AD47-B73A6AD63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44550"/>
            <a:ext cx="9372600" cy="51689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</a:rPr>
              <a:t>Writing </a:t>
            </a:r>
            <a:r>
              <a:rPr lang="en-GB" altLang="en-US" sz="2200" dirty="0">
                <a:solidFill>
                  <a:srgbClr val="FF3300"/>
                </a:solidFill>
                <a:highlight>
                  <a:srgbClr val="FFFF00"/>
                </a:highlight>
              </a:rPr>
              <a:t>summaries</a:t>
            </a:r>
            <a:r>
              <a:rPr lang="en-GB" altLang="en-US" sz="2200" dirty="0">
                <a:solidFill>
                  <a:srgbClr val="FF3300"/>
                </a:solidFill>
              </a:rPr>
              <a:t> of reviews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0070C0"/>
                </a:solidFill>
              </a:rPr>
              <a:t>Material for the </a:t>
            </a:r>
            <a:r>
              <a:rPr lang="en-GB" altLang="en-US" sz="2200" dirty="0">
                <a:solidFill>
                  <a:srgbClr val="0070C0"/>
                </a:solidFill>
                <a:highlight>
                  <a:srgbClr val="FFFF00"/>
                </a:highlight>
              </a:rPr>
              <a:t>Literature Review chapter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  <a:highlight>
                  <a:srgbClr val="FFFF00"/>
                </a:highlight>
              </a:rPr>
              <a:t>Project Proposal </a:t>
            </a:r>
            <a:r>
              <a:rPr lang="en-GB" altLang="en-US" sz="2200" dirty="0">
                <a:solidFill>
                  <a:srgbClr val="FF3300"/>
                </a:solidFill>
              </a:rPr>
              <a:t>(Ability Report)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Literature Review allows you to define your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problem</a:t>
            </a:r>
            <a:r>
              <a:rPr lang="en-GB" altLang="en-US" sz="2200" dirty="0">
                <a:solidFill>
                  <a:srgbClr val="3333FF"/>
                </a:solidFill>
              </a:rPr>
              <a:t> and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technology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Then you can write the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Approach</a:t>
            </a:r>
            <a:r>
              <a:rPr lang="en-GB" altLang="en-US" sz="2200" dirty="0">
                <a:solidFill>
                  <a:srgbClr val="3333FF"/>
                </a:solidFill>
              </a:rPr>
              <a:t> of your solution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  <a:highlight>
                  <a:srgbClr val="FFFF00"/>
                </a:highlight>
              </a:rPr>
              <a:t>Progress Reports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demonstrate your progress (at 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Design/Implementation)</a:t>
            </a:r>
            <a:r>
              <a:rPr lang="en-GB" altLang="en-US" sz="2200" dirty="0">
                <a:solidFill>
                  <a:srgbClr val="3333FF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</a:rPr>
              <a:t>Paper for conference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collect feedback for ongoing projects ( at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Implementation)</a:t>
            </a:r>
            <a:endParaRPr lang="si-LK" altLang="en-US" sz="2200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This gives confidence to face at the viva</a:t>
            </a:r>
            <a:endParaRPr lang="en-GB" altLang="en-US" sz="2200" dirty="0">
              <a:solidFill>
                <a:srgbClr val="3333FF"/>
              </a:solidFill>
            </a:endParaRP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  <a:highlight>
                  <a:srgbClr val="FFFF00"/>
                </a:highlight>
              </a:rPr>
              <a:t>Thesis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publish the full research (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evaluation + conclusion</a:t>
            </a:r>
            <a:r>
              <a:rPr lang="en-GB" altLang="en-US" sz="2200" dirty="0">
                <a:solidFill>
                  <a:srgbClr val="3333FF"/>
                </a:solidFill>
              </a:rPr>
              <a:t>) 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</a:rPr>
              <a:t>Paper for Journals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To make full research accessible to a wider audience (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After viva</a:t>
            </a:r>
            <a:r>
              <a:rPr lang="en-GB" altLang="en-US" sz="2200" dirty="0">
                <a:solidFill>
                  <a:srgbClr val="3333FF"/>
                </a:solidFill>
              </a:rPr>
              <a:t>)</a:t>
            </a:r>
          </a:p>
          <a:p>
            <a:pPr lvl="1" eaLnBrk="1" hangingPunct="1">
              <a:defRPr/>
            </a:pPr>
            <a:endParaRPr lang="en-GB" altLang="en-US" sz="2200" dirty="0">
              <a:solidFill>
                <a:srgbClr val="3333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altLang="en-US" sz="2300" dirty="0">
              <a:solidFill>
                <a:srgbClr val="3333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altLang="en-US" dirty="0"/>
          </a:p>
          <a:p>
            <a:pPr eaLnBrk="1" hangingPunct="1">
              <a:defRPr/>
            </a:pPr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E6CAAC-7D41-6AAD-4DBE-C4FA76BBF576}"/>
              </a:ext>
            </a:extLst>
          </p:cNvPr>
          <p:cNvSpPr txBox="1"/>
          <p:nvPr/>
        </p:nvSpPr>
        <p:spPr>
          <a:xfrm>
            <a:off x="9601200" y="3581400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highlight>
                <a:srgbClr val="FFFF00"/>
              </a:highlight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B4A23A8F-0AE2-CEE5-289F-5AA43D7F1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Exercise</a:t>
            </a:r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630724F1-8F5A-8EDC-6454-392E769B31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763000" cy="4987925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Which of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listening</a:t>
            </a:r>
            <a:r>
              <a:rPr lang="en-US" altLang="en-US" sz="2800" dirty="0">
                <a:solidFill>
                  <a:srgbClr val="0070C0"/>
                </a:solidFill>
              </a:rPr>
              <a:t> or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reading</a:t>
            </a:r>
            <a:r>
              <a:rPr lang="en-US" altLang="en-US" sz="2800" dirty="0">
                <a:solidFill>
                  <a:srgbClr val="0070C0"/>
                </a:solidFill>
              </a:rPr>
              <a:t> enables a higher level of mindfulness (attention), leading to </a:t>
            </a:r>
            <a:r>
              <a:rPr lang="en-US" altLang="en-US" sz="2800" dirty="0">
                <a:solidFill>
                  <a:srgbClr val="0070C0"/>
                </a:solidFill>
                <a:highlight>
                  <a:srgbClr val="FFFF00"/>
                </a:highlight>
              </a:rPr>
              <a:t>understanding?</a:t>
            </a:r>
          </a:p>
          <a:p>
            <a:pPr marL="0" indent="0">
              <a:buNone/>
              <a:defRPr/>
            </a:pPr>
            <a:endParaRPr lang="en-US" altLang="en-US" sz="2800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pPr>
              <a:defRPr/>
            </a:pPr>
            <a:r>
              <a:rPr lang="en-US" altLang="en-US" sz="2800" dirty="0"/>
              <a:t>What would be the effect of the use of earbuds when following a lecture?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3E0EE1C-CFB9-C7D2-5B5B-D7EBAC439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solidFill>
                  <a:srgbClr val="00B050"/>
                </a:solidFill>
              </a:rPr>
              <a:t>Writing a Project Proposal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3321256-6A3B-5B8A-346D-599FE3FA8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97" y="1127918"/>
            <a:ext cx="9295680" cy="460216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70C0"/>
                </a:solidFill>
              </a:rPr>
              <a:t>When you have done adequate reviews, you know your research problem and the existing/new tech to solve it. 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altLang="en-US" sz="2500" dirty="0">
                <a:solidFill>
                  <a:srgbClr val="0070C0"/>
                </a:solidFill>
              </a:rPr>
              <a:t>Now, the solution can be conceptualized as the </a:t>
            </a:r>
            <a:r>
              <a:rPr lang="en-US" altLang="en-US" sz="2500" dirty="0">
                <a:solidFill>
                  <a:srgbClr val="0070C0"/>
                </a:solidFill>
                <a:highlight>
                  <a:srgbClr val="FFFF00"/>
                </a:highlight>
              </a:rPr>
              <a:t>Approach</a:t>
            </a:r>
            <a:r>
              <a:rPr lang="en-US" altLang="en-US" sz="2500" dirty="0">
                <a:solidFill>
                  <a:srgbClr val="0070C0"/>
                </a:solidFill>
              </a:rPr>
              <a:t> and write a project proposal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Aspects to appear in a project proposal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Project Title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Name of the reporter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Introduction (problem/gap, proposed solution)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Objectives</a:t>
            </a:r>
            <a:r>
              <a:rPr lang="en-US" altLang="en-US" sz="2200" dirty="0">
                <a:solidFill>
                  <a:srgbClr val="3333FF"/>
                </a:solidFill>
              </a:rPr>
              <a:t> (all four)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Literature Review (background and motivation)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Problem in Brief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Proposed solution </a:t>
            </a:r>
            <a:r>
              <a:rPr lang="en-US" altLang="en-US" sz="2200" dirty="0">
                <a:solidFill>
                  <a:srgbClr val="FF0000"/>
                </a:solidFill>
              </a:rPr>
              <a:t> (approach: input, output, process, feature, user)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Resource Requirements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Plan of Actions – actions must refer to </a:t>
            </a:r>
            <a:r>
              <a:rPr lang="en-US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objectives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References </a:t>
            </a:r>
            <a:endParaRPr lang="en-GB" altLang="en-US" sz="2200" dirty="0">
              <a:solidFill>
                <a:srgbClr val="3333FF"/>
              </a:solidFill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en-US" sz="2600" dirty="0">
              <a:solidFill>
                <a:srgbClr val="FF3300"/>
              </a:solidFill>
            </a:endParaRPr>
          </a:p>
          <a:p>
            <a:pPr algn="just" eaLnBrk="1" hangingPunct="1">
              <a:lnSpc>
                <a:spcPct val="80000"/>
              </a:lnSpc>
              <a:defRPr/>
            </a:pPr>
            <a:endParaRPr lang="en-US" altLang="en-US" sz="2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DFB0B8-CC50-6840-E9E2-333019CEFBF9}"/>
                  </a:ext>
                </a:extLst>
              </p14:cNvPr>
              <p14:cNvContentPartPr/>
              <p14:nvPr/>
            </p14:nvContentPartPr>
            <p14:xfrm>
              <a:off x="4835557" y="607989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DFB0B8-CC50-6840-E9E2-333019CEFB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6557" y="607089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948021-C871-CFB2-3B6E-3E20E095283D}"/>
                  </a:ext>
                </a:extLst>
              </p14:cNvPr>
              <p14:cNvContentPartPr/>
              <p14:nvPr/>
            </p14:nvContentPartPr>
            <p14:xfrm>
              <a:off x="4656637" y="607053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948021-C871-CFB2-3B6E-3E20E09528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7637" y="606153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A979F01-A25E-3854-2067-5232821419FA}"/>
              </a:ext>
            </a:extLst>
          </p:cNvPr>
          <p:cNvSpPr txBox="1"/>
          <p:nvPr/>
        </p:nvSpPr>
        <p:spPr>
          <a:xfrm>
            <a:off x="9525000" y="498693"/>
            <a:ext cx="3685624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1. Identify a technological</a:t>
            </a:r>
          </a:p>
          <a:p>
            <a:r>
              <a:rPr lang="en-US" dirty="0">
                <a:solidFill>
                  <a:srgbClr val="FFFF00"/>
                </a:solidFill>
              </a:rPr>
              <a:t>area in AI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ML, Ontology, MAS,</a:t>
            </a:r>
          </a:p>
          <a:p>
            <a:r>
              <a:rPr lang="en-US" dirty="0">
                <a:solidFill>
                  <a:srgbClr val="FFFF00"/>
                </a:solidFill>
              </a:rPr>
              <a:t>    NLP, ES, GenAI,</a:t>
            </a:r>
          </a:p>
          <a:p>
            <a:r>
              <a:rPr lang="en-US" dirty="0">
                <a:solidFill>
                  <a:srgbClr val="FFFF00"/>
                </a:solidFill>
              </a:rPr>
              <a:t>    Biological Programming</a:t>
            </a:r>
          </a:p>
          <a:p>
            <a:r>
              <a:rPr lang="en-US" dirty="0">
                <a:solidFill>
                  <a:srgbClr val="FFFF00"/>
                </a:solidFill>
              </a:rPr>
              <a:t>    Robotics, Agentic AI</a:t>
            </a:r>
          </a:p>
          <a:p>
            <a:r>
              <a:rPr lang="en-US" dirty="0">
                <a:solidFill>
                  <a:srgbClr val="FFFF00"/>
                </a:solidFill>
              </a:rPr>
              <a:t>    Mind uploading</a:t>
            </a:r>
          </a:p>
          <a:p>
            <a:r>
              <a:rPr lang="en-US" dirty="0">
                <a:solidFill>
                  <a:srgbClr val="FFFF00"/>
                </a:solidFill>
              </a:rPr>
              <a:t>    GA, FL, XAI</a:t>
            </a:r>
          </a:p>
          <a:p>
            <a:r>
              <a:rPr lang="en-US" dirty="0">
                <a:solidFill>
                  <a:srgbClr val="FFFF00"/>
                </a:solidFill>
              </a:rPr>
              <a:t>    Neuro-symbolic AI</a:t>
            </a:r>
          </a:p>
          <a:p>
            <a:r>
              <a:rPr lang="en-US" dirty="0">
                <a:solidFill>
                  <a:srgbClr val="FFFF00"/>
                </a:solidFill>
              </a:rPr>
              <a:t>    Transformer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2. To identify a </a:t>
            </a:r>
            <a:r>
              <a:rPr lang="en-US" dirty="0">
                <a:solidFill>
                  <a:srgbClr val="FFFF00"/>
                </a:solidFill>
                <a:highlight>
                  <a:srgbClr val="FF0000"/>
                </a:highlight>
              </a:rPr>
              <a:t>gap</a:t>
            </a:r>
            <a:r>
              <a:rPr lang="en-US" dirty="0">
                <a:solidFill>
                  <a:srgbClr val="FFFF00"/>
                </a:solidFill>
              </a:rPr>
              <a:t> in a </a:t>
            </a:r>
          </a:p>
          <a:p>
            <a:r>
              <a:rPr lang="en-US" dirty="0">
                <a:solidFill>
                  <a:srgbClr val="FFFF00"/>
                </a:solidFill>
              </a:rPr>
              <a:t>    selected technological</a:t>
            </a:r>
          </a:p>
          <a:p>
            <a:r>
              <a:rPr lang="en-US" dirty="0">
                <a:solidFill>
                  <a:srgbClr val="FFFF00"/>
                </a:solidFill>
              </a:rPr>
              <a:t>   area, do a good literature review</a:t>
            </a:r>
          </a:p>
          <a:p>
            <a:r>
              <a:rPr lang="en-US" dirty="0">
                <a:solidFill>
                  <a:srgbClr val="FFFF00"/>
                </a:solidFill>
              </a:rPr>
              <a:t>   </a:t>
            </a:r>
            <a:r>
              <a:rPr lang="en-US" dirty="0">
                <a:solidFill>
                  <a:srgbClr val="FFFF00"/>
                </a:solidFill>
                <a:highlight>
                  <a:srgbClr val="FF0000"/>
                </a:highlight>
              </a:rPr>
              <a:t>e.g. Explainability in ML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3. Propose an </a:t>
            </a:r>
            <a:r>
              <a:rPr lang="en-US" dirty="0">
                <a:solidFill>
                  <a:srgbClr val="FFFF00"/>
                </a:solidFill>
                <a:highlight>
                  <a:srgbClr val="FF0000"/>
                </a:highlight>
              </a:rPr>
              <a:t>existing tech </a:t>
            </a:r>
            <a:r>
              <a:rPr lang="en-US" dirty="0">
                <a:solidFill>
                  <a:srgbClr val="FFFF00"/>
                </a:solidFill>
              </a:rPr>
              <a:t>or</a:t>
            </a:r>
          </a:p>
          <a:p>
            <a:r>
              <a:rPr lang="en-US" dirty="0">
                <a:solidFill>
                  <a:srgbClr val="FFFF00"/>
                </a:solidFill>
              </a:rPr>
              <a:t>    new tech to address the gap </a:t>
            </a:r>
          </a:p>
          <a:p>
            <a:r>
              <a:rPr lang="en-US" dirty="0">
                <a:solidFill>
                  <a:srgbClr val="FFFF00"/>
                </a:solidFill>
              </a:rPr>
              <a:t>        as your MSc Project</a:t>
            </a:r>
          </a:p>
          <a:p>
            <a:r>
              <a:rPr lang="en-US" dirty="0">
                <a:solidFill>
                  <a:srgbClr val="FFFF00"/>
                </a:solidFill>
              </a:rPr>
              <a:t>   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 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2C945DF2-362D-8B70-1A4A-2EB52DADD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712788"/>
          </a:xfrm>
        </p:spPr>
        <p:txBody>
          <a:bodyPr/>
          <a:lstStyle/>
          <a:p>
            <a:r>
              <a:rPr lang="en-GB" altLang="en-US" sz="3600" b="1">
                <a:solidFill>
                  <a:srgbClr val="00B050"/>
                </a:solidFill>
              </a:rPr>
              <a:t>Writing a Project Proposal ….</a:t>
            </a:r>
            <a:endParaRPr lang="en-US" alt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E3F5C-5BB9-438D-5336-C4DCDEB4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762000"/>
            <a:ext cx="9067800" cy="4530725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FF0000"/>
                </a:solidFill>
              </a:rPr>
              <a:t>Project Title </a:t>
            </a:r>
            <a:r>
              <a:rPr lang="en-US" altLang="en-US" sz="2100" dirty="0">
                <a:solidFill>
                  <a:srgbClr val="3333FF"/>
                </a:solidFill>
              </a:rPr>
              <a:t>(Problem/gap + technology)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1700" dirty="0">
                <a:solidFill>
                  <a:srgbClr val="3333FF"/>
                </a:solidFill>
              </a:rPr>
              <a:t> Addressing Explainability in ML with Symbolic AI)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100" dirty="0">
                <a:solidFill>
                  <a:srgbClr val="FF0000"/>
                </a:solidFill>
              </a:rPr>
              <a:t>Name of the reporter  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1. </a:t>
            </a:r>
            <a:r>
              <a:rPr lang="en-US" altLang="en-US" sz="2100" dirty="0">
                <a:solidFill>
                  <a:srgbClr val="FF0000"/>
                </a:solidFill>
              </a:rPr>
              <a:t>Introduction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 dirty="0">
                <a:solidFill>
                  <a:srgbClr val="00B050"/>
                </a:solidFill>
              </a:rPr>
              <a:t>Introduction to </a:t>
            </a:r>
            <a:r>
              <a:rPr lang="en-US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Problem/gap area </a:t>
            </a:r>
            <a:r>
              <a:rPr lang="en-US" altLang="en-US" sz="2000" dirty="0">
                <a:solidFill>
                  <a:srgbClr val="00B050"/>
                </a:solidFill>
              </a:rPr>
              <a:t>(Explainability in ML)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Technology/inspiration</a:t>
            </a:r>
            <a:r>
              <a:rPr lang="en-US" altLang="en-US" sz="2000" dirty="0">
                <a:solidFill>
                  <a:srgbClr val="00B050"/>
                </a:solidFill>
              </a:rPr>
              <a:t> (ES/using visuals)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Proposed solution (describe Approach)</a:t>
            </a:r>
            <a:endParaRPr lang="en-US" altLang="en-US" sz="2000" dirty="0">
              <a:solidFill>
                <a:srgbClr val="00B050"/>
              </a:solidFill>
            </a:endParaRP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    </a:t>
            </a:r>
            <a:r>
              <a:rPr lang="en-US" altLang="en-US" sz="2100" dirty="0">
                <a:solidFill>
                  <a:srgbClr val="FF0000"/>
                </a:solidFill>
              </a:rPr>
              <a:t>Objectives</a:t>
            </a:r>
            <a:r>
              <a:rPr lang="en-US" altLang="en-US" sz="2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en-US" sz="2200" dirty="0">
                <a:solidFill>
                  <a:srgbClr val="0070C0"/>
                </a:solidFill>
              </a:rPr>
              <a:t>(are two types – problem-related and solution-related)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1800" dirty="0">
                <a:solidFill>
                  <a:srgbClr val="00B050"/>
                </a:solidFill>
              </a:rPr>
              <a:t>Critical review of developments in explainability in AI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1800" dirty="0">
                <a:solidFill>
                  <a:srgbClr val="00B050"/>
                </a:solidFill>
              </a:rPr>
              <a:t> Review of the </a:t>
            </a:r>
            <a:r>
              <a:rPr lang="en-US" altLang="en-US" sz="1800" dirty="0">
                <a:solidFill>
                  <a:srgbClr val="00B050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sz="1800" dirty="0">
                <a:solidFill>
                  <a:srgbClr val="00B050"/>
                </a:solidFill>
              </a:rPr>
              <a:t> used to model ES/symbolic AI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1800" dirty="0">
                <a:solidFill>
                  <a:srgbClr val="00B050"/>
                </a:solidFill>
                <a:highlight>
                  <a:srgbClr val="FFFF00"/>
                </a:highlight>
              </a:rPr>
              <a:t> Design and develop an</a:t>
            </a:r>
            <a:r>
              <a:rPr lang="en-US" altLang="en-US" sz="1800" dirty="0">
                <a:solidFill>
                  <a:srgbClr val="00B050"/>
                </a:solidFill>
              </a:rPr>
              <a:t> explainable AI solution for ML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1800" dirty="0">
                <a:solidFill>
                  <a:srgbClr val="00B050"/>
                </a:solidFill>
                <a:highlight>
                  <a:srgbClr val="FFFF00"/>
                </a:highlight>
              </a:rPr>
              <a:t>Evaluate</a:t>
            </a:r>
            <a:r>
              <a:rPr lang="en-US" altLang="en-US" sz="1800" dirty="0">
                <a:solidFill>
                  <a:srgbClr val="00B050"/>
                </a:solidFill>
              </a:rPr>
              <a:t> the explainable AI solution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100" dirty="0">
                <a:solidFill>
                  <a:srgbClr val="FF0000"/>
                </a:solidFill>
              </a:rPr>
              <a:t>2</a:t>
            </a:r>
            <a:r>
              <a:rPr lang="en-US" altLang="en-US" sz="2100" dirty="0">
                <a:solidFill>
                  <a:srgbClr val="0070C0"/>
                </a:solidFill>
              </a:rPr>
              <a:t>. </a:t>
            </a:r>
            <a:r>
              <a:rPr lang="en-US" altLang="en-US" sz="2100" dirty="0">
                <a:solidFill>
                  <a:srgbClr val="FF0000"/>
                </a:solidFill>
              </a:rPr>
              <a:t>Literature Review </a:t>
            </a:r>
            <a:r>
              <a:rPr lang="en-US" altLang="en-US" sz="2100" dirty="0">
                <a:solidFill>
                  <a:srgbClr val="0070C0"/>
                </a:solidFill>
              </a:rPr>
              <a:t>(</a:t>
            </a:r>
            <a:r>
              <a:rPr lang="en-US" altLang="en-US" sz="2100" dirty="0">
                <a:solidFill>
                  <a:srgbClr val="0070C0"/>
                </a:solidFill>
                <a:sym typeface="Wingdings" panose="05000000000000000000" pitchFamily="2" charset="2"/>
              </a:rPr>
              <a:t> problem/technology</a:t>
            </a:r>
            <a:r>
              <a:rPr lang="en-US" altLang="en-US" sz="2100" dirty="0">
                <a:solidFill>
                  <a:srgbClr val="0070C0"/>
                </a:solidFill>
              </a:rPr>
              <a:t>) 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1800" dirty="0">
                <a:solidFill>
                  <a:srgbClr val="00B050"/>
                </a:solidFill>
              </a:rPr>
              <a:t>Summaries of review, issues, </a:t>
            </a:r>
            <a:r>
              <a:rPr lang="en-US" altLang="en-US" sz="1800" dirty="0">
                <a:solidFill>
                  <a:srgbClr val="00B050"/>
                </a:solidFill>
                <a:highlight>
                  <a:srgbClr val="FFFF00"/>
                </a:highlight>
              </a:rPr>
              <a:t>problem definition</a:t>
            </a:r>
            <a:r>
              <a:rPr lang="en-US" altLang="en-US" sz="1800" dirty="0">
                <a:solidFill>
                  <a:srgbClr val="00B050"/>
                </a:solidFill>
              </a:rPr>
              <a:t>, and technology (identify) 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FF0000"/>
                </a:solidFill>
              </a:rPr>
              <a:t>3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00FF00"/>
                </a:highlight>
              </a:rPr>
              <a:t>. </a:t>
            </a:r>
            <a:r>
              <a:rPr lang="en-US" altLang="en-US" sz="2100" dirty="0">
                <a:solidFill>
                  <a:srgbClr val="FF0000"/>
                </a:solidFill>
                <a:highlight>
                  <a:srgbClr val="00FF00"/>
                </a:highlight>
              </a:rPr>
              <a:t>Proposed solution </a:t>
            </a:r>
            <a:r>
              <a:rPr lang="en-US" altLang="en-US" sz="2200" dirty="0">
                <a:solidFill>
                  <a:srgbClr val="FF0000"/>
                </a:solidFill>
              </a:rPr>
              <a:t>(elements in the 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Approach</a:t>
            </a:r>
            <a:r>
              <a:rPr lang="en-US" altLang="en-US" sz="2200" dirty="0">
                <a:solidFill>
                  <a:srgbClr val="FF0000"/>
                </a:solidFill>
              </a:rPr>
              <a:t>)</a:t>
            </a:r>
          </a:p>
          <a:p>
            <a:pPr marL="982662" lvl="2" indent="-285750" eaLnBrk="1" hangingPunct="1">
              <a:lnSpc>
                <a:spcPct val="80000"/>
              </a:lnSpc>
              <a:defRPr/>
            </a:pPr>
            <a:r>
              <a:rPr lang="en-US" altLang="en-US" sz="1800" dirty="0">
                <a:solidFill>
                  <a:srgbClr val="00B050"/>
                </a:solidFill>
              </a:rPr>
              <a:t>Hypothesis, Input, output, </a:t>
            </a:r>
            <a:r>
              <a:rPr lang="en-US" altLang="en-US" sz="1800" dirty="0">
                <a:solidFill>
                  <a:srgbClr val="00B050"/>
                </a:solidFill>
                <a:highlight>
                  <a:srgbClr val="FFFF00"/>
                </a:highlight>
              </a:rPr>
              <a:t>process/technology</a:t>
            </a:r>
            <a:r>
              <a:rPr lang="en-US" altLang="en-US" sz="1800" dirty="0">
                <a:solidFill>
                  <a:srgbClr val="00B050"/>
                </a:solidFill>
              </a:rPr>
              <a:t>, users, features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4. </a:t>
            </a:r>
            <a:r>
              <a:rPr lang="en-US" altLang="en-US" sz="2100" dirty="0">
                <a:solidFill>
                  <a:srgbClr val="3333FF"/>
                </a:solidFill>
              </a:rPr>
              <a:t>Resource Requirements (Tools, HW, SW, Data sets, Cloud)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5. Plan of Action (as per objectives) vs. Time</a:t>
            </a:r>
          </a:p>
          <a:p>
            <a:pPr marL="344487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en-US" sz="2100" dirty="0">
                <a:solidFill>
                  <a:srgbClr val="3333FF"/>
                </a:solidFill>
              </a:rPr>
              <a:t>6. References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altLang="en-US" sz="2600" dirty="0">
              <a:solidFill>
                <a:srgbClr val="FF3300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30FEC0-4856-3474-C653-B26B047306A7}"/>
              </a:ext>
            </a:extLst>
          </p:cNvPr>
          <p:cNvSpPr txBox="1"/>
          <p:nvPr/>
        </p:nvSpPr>
        <p:spPr>
          <a:xfrm>
            <a:off x="9296400" y="1600200"/>
            <a:ext cx="37112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Building intelligence into machines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Building intelligence with humans?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1EA1C7F-9D8C-963A-118F-464536A54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Progress Review Report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89FEF30-B679-2D79-F268-2F9F26E1F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47725"/>
            <a:ext cx="9296400" cy="4835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rgbClr val="FF3300"/>
                </a:solidFill>
              </a:rPr>
              <a:t>Structure for a Progress Review report in 6 months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Abstract (P&lt;S)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Introduction (Intro to problem area, technology, solutions)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Objectives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Literature Review (broader than what is in the Proposal)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Problem definition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sz="2400" dirty="0">
                <a:solidFill>
                  <a:srgbClr val="0070C0"/>
                </a:solidFill>
              </a:rPr>
              <a:t> (extension to proposed solution)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Approach</a:t>
            </a:r>
            <a:r>
              <a:rPr lang="en-US" altLang="en-US" sz="2400" dirty="0">
                <a:solidFill>
                  <a:srgbClr val="0070C0"/>
                </a:solidFill>
              </a:rPr>
              <a:t> (Hypothesis, input, output, </a:t>
            </a:r>
            <a:r>
              <a:rPr lang="en-US" altLang="en-US" sz="2400" dirty="0">
                <a:solidFill>
                  <a:srgbClr val="0070C0"/>
                </a:solidFill>
                <a:highlight>
                  <a:srgbClr val="FFFF00"/>
                </a:highlight>
              </a:rPr>
              <a:t>process</a:t>
            </a:r>
            <a:r>
              <a:rPr lang="en-US" altLang="en-US" sz="2400" dirty="0">
                <a:solidFill>
                  <a:srgbClr val="0070C0"/>
                </a:solidFill>
              </a:rPr>
              <a:t>, features, users)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F3300"/>
                </a:solidFill>
                <a:highlight>
                  <a:srgbClr val="00FFFF"/>
                </a:highlight>
              </a:rPr>
              <a:t>Design </a:t>
            </a:r>
            <a:r>
              <a:rPr lang="en-US" altLang="en-US" sz="2400" dirty="0">
                <a:solidFill>
                  <a:srgbClr val="FF3300"/>
                </a:solidFill>
              </a:rPr>
              <a:t>(modules and connection)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F3300"/>
                </a:solidFill>
                <a:highlight>
                  <a:srgbClr val="FFFF00"/>
                </a:highlight>
              </a:rPr>
              <a:t>Implementation</a:t>
            </a:r>
            <a:r>
              <a:rPr lang="en-US" altLang="en-US" sz="2400" dirty="0">
                <a:solidFill>
                  <a:srgbClr val="FF3300"/>
                </a:solidFill>
              </a:rPr>
              <a:t> (material to implement modules)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Discussion (project is ongoing, no conclusion yet)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Reference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Appendix (Design diagrams)</a:t>
            </a:r>
          </a:p>
          <a:p>
            <a:pPr eaLnBrk="1" hangingPunct="1"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966307-C706-5D3D-78EC-3B60E5B6D202}"/>
              </a:ext>
            </a:extLst>
          </p:cNvPr>
          <p:cNvSpPr txBox="1"/>
          <p:nvPr/>
        </p:nvSpPr>
        <p:spPr>
          <a:xfrm>
            <a:off x="9753600" y="1524000"/>
            <a:ext cx="4839979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1. PhD – concern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  <a:sym typeface="Wingdings" panose="05000000000000000000" pitchFamily="2" charset="2"/>
              </a:rPr>
              <a:t>theory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(Europe)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2. PhD – problem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  <a:sym typeface="Wingdings" panose="05000000000000000000" pitchFamily="2" charset="2"/>
              </a:rPr>
              <a:t>solution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 (US)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3. PhD – Scenario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FF00"/>
                </a:solidFill>
                <a:highlight>
                  <a:srgbClr val="FF00FF"/>
                </a:highlight>
                <a:sym typeface="Wingdings" panose="05000000000000000000" pitchFamily="2" charset="2"/>
              </a:rPr>
              <a:t>problem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 (Sweden)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>
              <a:defRPr/>
            </a:pPr>
            <a:endParaRPr lang="en-US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>
              <a:defRPr/>
            </a:pPr>
            <a:endParaRPr lang="en-US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AAAI – Association for the Advancement of AI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         - American Association for AI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SLAAI - </a:t>
            </a:r>
            <a:endParaRPr lang="en-US" dirty="0">
              <a:solidFill>
                <a:srgbClr val="FFFF00"/>
              </a:solidFill>
            </a:endParaRP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B775C4-53B9-3A18-D642-E0FAC070BB96}"/>
              </a:ext>
            </a:extLst>
          </p:cNvPr>
          <p:cNvSpPr/>
          <p:nvPr/>
        </p:nvSpPr>
        <p:spPr>
          <a:xfrm>
            <a:off x="7239000" y="5995035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6</a:t>
            </a:r>
          </a:p>
          <a:p>
            <a:pPr algn="ctr">
              <a:defRPr/>
            </a:pPr>
            <a:r>
              <a:rPr lang="en-US" sz="1400" dirty="0"/>
              <a:t>26/07/2026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9A4E275B-F584-48F8-2666-541E3C557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40778CC3-225A-A93E-8538-E39027047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76200" y="1163638"/>
            <a:ext cx="9220200" cy="4530725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Discuss the difference between </a:t>
            </a:r>
            <a:r>
              <a:rPr lang="en-US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Introductions</a:t>
            </a:r>
            <a:r>
              <a:rPr lang="en-US" altLang="en-US" sz="2400" dirty="0">
                <a:solidFill>
                  <a:srgbClr val="FF0000"/>
                </a:solidFill>
              </a:rPr>
              <a:t> in the 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Project Proposal (Approach)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Progress Report  (Approach, Design, Implementation)</a:t>
            </a:r>
          </a:p>
          <a:p>
            <a:pPr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Why do you need an Appendix to a Progress Report? </a:t>
            </a:r>
          </a:p>
          <a:p>
            <a:pPr lvl="1"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To support the top-level design</a:t>
            </a:r>
          </a:p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What are possible additional sections to the Progress Review report given here?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At the time of the </a:t>
            </a:r>
            <a:r>
              <a:rPr lang="en-US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Progress Review</a:t>
            </a:r>
            <a:r>
              <a:rPr lang="en-US" altLang="en-US" sz="2400" dirty="0">
                <a:solidFill>
                  <a:srgbClr val="FF0000"/>
                </a:solidFill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how many objectives </a:t>
            </a:r>
            <a:r>
              <a:rPr lang="en-US" altLang="en-US" sz="2400" dirty="0">
                <a:solidFill>
                  <a:srgbClr val="FF0000"/>
                </a:solidFill>
              </a:rPr>
              <a:t>have already been achieved to a certain level? 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Until implementation is fully done, the technology-related objectives are not is not confirmed/achieved. Therefore, only 1</a:t>
            </a:r>
            <a:r>
              <a:rPr lang="en-US" altLang="en-US" sz="2000" baseline="30000" dirty="0">
                <a:solidFill>
                  <a:srgbClr val="FF0000"/>
                </a:solidFill>
              </a:rPr>
              <a:t>st</a:t>
            </a:r>
            <a:r>
              <a:rPr lang="en-US" altLang="en-US" sz="2000" dirty="0">
                <a:solidFill>
                  <a:srgbClr val="FF0000"/>
                </a:solidFill>
              </a:rPr>
              <a:t> objective is achieved to some extend. </a:t>
            </a:r>
          </a:p>
          <a:p>
            <a:pPr>
              <a:defRPr/>
            </a:pP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E7DB6-A5F9-42C5-3CE2-4F8BD6B9869A}"/>
              </a:ext>
            </a:extLst>
          </p:cNvPr>
          <p:cNvSpPr txBox="1"/>
          <p:nvPr/>
        </p:nvSpPr>
        <p:spPr>
          <a:xfrm>
            <a:off x="9601200" y="1163637"/>
            <a:ext cx="17620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Need Appendix</a:t>
            </a:r>
          </a:p>
          <a:p>
            <a:r>
              <a:rPr lang="en-US" dirty="0">
                <a:solidFill>
                  <a:srgbClr val="FFFF00"/>
                </a:solidFill>
              </a:rPr>
              <a:t>Design</a:t>
            </a:r>
          </a:p>
          <a:p>
            <a:r>
              <a:rPr lang="en-US" dirty="0">
                <a:solidFill>
                  <a:srgbClr val="FFFF00"/>
                </a:solidFill>
              </a:rPr>
              <a:t>Implementation</a:t>
            </a:r>
          </a:p>
          <a:p>
            <a:r>
              <a:rPr lang="en-US" dirty="0">
                <a:solidFill>
                  <a:srgbClr val="FFFF00"/>
                </a:solidFill>
              </a:rPr>
              <a:t>Evaluation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712CEB2-E1C5-438D-4FCD-637FC92EC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Paper for a conference/Journal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2D8A6D2-BE28-83DB-89B0-526DEA342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Based on the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Progress Review Report,</a:t>
            </a:r>
            <a:r>
              <a:rPr lang="en-US" altLang="en-US" dirty="0">
                <a:solidFill>
                  <a:srgbClr val="0070C0"/>
                </a:solidFill>
              </a:rPr>
              <a:t> you can write a </a:t>
            </a:r>
            <a:r>
              <a:rPr lang="en-US" altLang="en-US" dirty="0">
                <a:solidFill>
                  <a:srgbClr val="0070C0"/>
                </a:solidFill>
                <a:highlight>
                  <a:srgbClr val="FFFF00"/>
                </a:highlight>
              </a:rPr>
              <a:t>conference  paper with some additions of implementation details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The structure of the paper is similar to that of the Progress Report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Details of contents in the next slide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9411AB18-1AEA-0E9F-C800-37A9DC286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B050"/>
                </a:solidFill>
              </a:rPr>
              <a:t>Structure for a conference paper </a:t>
            </a:r>
            <a:r>
              <a:rPr lang="en-US" altLang="en-US" sz="2800" b="1">
                <a:solidFill>
                  <a:srgbClr val="00B050"/>
                </a:solidFill>
              </a:rPr>
              <a:t>(incomplete) 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9D1472F-B6B6-400D-2402-3CB39AE35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296400" cy="57705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Abstract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Problem, </a:t>
            </a:r>
            <a:r>
              <a:rPr lang="en-US" altLang="en-US" sz="2300" dirty="0">
                <a:solidFill>
                  <a:srgbClr val="0070C0"/>
                </a:solidFill>
              </a:rPr>
              <a:t>solution</a:t>
            </a:r>
            <a:r>
              <a:rPr lang="en-US" altLang="en-US" sz="2300" dirty="0">
                <a:solidFill>
                  <a:srgbClr val="3333FF"/>
                </a:solidFill>
              </a:rPr>
              <a:t> (</a:t>
            </a:r>
            <a:r>
              <a:rPr lang="en-US" altLang="en-US" sz="2300" dirty="0">
                <a:solidFill>
                  <a:srgbClr val="FF0000"/>
                </a:solidFill>
              </a:rPr>
              <a:t>technology, approach, design, implementation</a:t>
            </a:r>
            <a:r>
              <a:rPr lang="en-US" altLang="en-US" sz="2300" dirty="0">
                <a:solidFill>
                  <a:srgbClr val="3333FF"/>
                </a:solidFill>
              </a:rPr>
              <a:t>), conclusion/discussion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300" dirty="0">
                <a:solidFill>
                  <a:srgbClr val="3333FF"/>
                </a:solidFill>
              </a:rPr>
              <a:t>Don’t use citations, abbreviations, limitations, further works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1. Introduction (catchy)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– </a:t>
            </a:r>
            <a:r>
              <a:rPr lang="en-US" altLang="en-US" sz="2300" dirty="0">
                <a:solidFill>
                  <a:srgbClr val="3333FF"/>
                </a:solidFill>
              </a:rPr>
              <a:t>Paragraphs should be structured to read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solidFill>
                  <a:srgbClr val="3333FF"/>
                </a:solidFill>
              </a:rPr>
              <a:t>Background and Motivation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Problem, Solution</a:t>
            </a:r>
            <a:r>
              <a:rPr lang="en-US" altLang="en-US" dirty="0">
                <a:solidFill>
                  <a:srgbClr val="3333FF"/>
                </a:solidFill>
              </a:rPr>
              <a:t>/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conclusion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Structure</a:t>
            </a:r>
            <a:r>
              <a:rPr lang="en-US" altLang="en-US" dirty="0">
                <a:solidFill>
                  <a:srgbClr val="3333FF"/>
                </a:solidFill>
              </a:rPr>
              <a:t> of the rest of the paper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600" dirty="0">
                <a:solidFill>
                  <a:srgbClr val="FF3300"/>
                </a:solidFill>
              </a:rPr>
              <a:t>2. Literature Review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3333FF"/>
                </a:solidFill>
              </a:rPr>
              <a:t>Better to structure the literature review with some subsections like:  (</a:t>
            </a:r>
            <a:r>
              <a:rPr lang="en-US" altLang="en-US" dirty="0" err="1">
                <a:solidFill>
                  <a:srgbClr val="3333FF"/>
                </a:solidFill>
              </a:rPr>
              <a:t>i</a:t>
            </a:r>
            <a:r>
              <a:rPr lang="en-US" altLang="en-US" dirty="0">
                <a:solidFill>
                  <a:srgbClr val="3333FF"/>
                </a:solidFill>
              </a:rPr>
              <a:t>)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gestation of the area (+v, -v, gap); </a:t>
            </a:r>
            <a:r>
              <a:rPr lang="en-US" altLang="en-US" dirty="0">
                <a:solidFill>
                  <a:srgbClr val="3333FF"/>
                </a:solidFill>
              </a:rPr>
              <a:t>(ii) major developments; (iii) current trends and emerging trends; (iv) summary of research gaps; (vi) research gap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en-US" dirty="0">
              <a:solidFill>
                <a:srgbClr val="3333FF"/>
              </a:solidFill>
            </a:endParaRPr>
          </a:p>
          <a:p>
            <a:pPr lvl="3" eaLnBrk="1" hangingPunct="1">
              <a:lnSpc>
                <a:spcPct val="90000"/>
              </a:lnSpc>
              <a:buFontTx/>
              <a:buNone/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FE1BB-E066-1793-5F4D-D98DF291CA2F}"/>
              </a:ext>
            </a:extLst>
          </p:cNvPr>
          <p:cNvSpPr txBox="1"/>
          <p:nvPr/>
        </p:nvSpPr>
        <p:spPr>
          <a:xfrm>
            <a:off x="9677400" y="1295400"/>
            <a:ext cx="186692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1. BSc Hons AI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2. MSc in AI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3. CS/SE/IT + AI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  <a:highlight>
                  <a:srgbClr val="C0C0C0"/>
                </a:highlight>
              </a:rPr>
              <a:t>4..PG Dip  in  AI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4D8D920-CDFC-28EF-C24A-090A3D809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 sz="3800" b="1">
                <a:solidFill>
                  <a:srgbClr val="00B050"/>
                </a:solidFill>
              </a:rPr>
              <a:t>Structure of paper for a conference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1086A45-8513-98B7-65B9-4BBD1EAC9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952500"/>
            <a:ext cx="8991600" cy="49530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FF3300"/>
                </a:solidFill>
              </a:rPr>
              <a:t>Technology/Theory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3333FF"/>
                </a:solidFill>
              </a:rPr>
              <a:t>A technology/inspiration to address the gap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00B050"/>
                </a:solidFill>
              </a:rPr>
              <a:t>Approach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B050"/>
                </a:solidFill>
              </a:rPr>
              <a:t>Tell hypothesis, inputs, output, </a:t>
            </a:r>
            <a:r>
              <a:rPr lang="en-US" altLang="en-US" sz="2000" dirty="0">
                <a:solidFill>
                  <a:srgbClr val="FF0000"/>
                </a:solidFill>
              </a:rPr>
              <a:t>process (technology)</a:t>
            </a:r>
            <a:r>
              <a:rPr lang="en-US" altLang="en-US" sz="2000" dirty="0">
                <a:solidFill>
                  <a:srgbClr val="00B050"/>
                </a:solidFill>
              </a:rPr>
              <a:t>, users, features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00B050"/>
                </a:solidFill>
              </a:rPr>
              <a:t>Design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B050"/>
                </a:solidFill>
              </a:rPr>
              <a:t>Need a good diagram showing modules and report on their functions (WHAT they do)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00B050"/>
                </a:solidFill>
              </a:rPr>
              <a:t>Implementation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B050"/>
                </a:solidFill>
              </a:rPr>
              <a:t>Tell HOW each module is implemented with HW/SW/Algorithms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FF3300"/>
                </a:solidFill>
              </a:rPr>
              <a:t>Discussion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3333FF"/>
                </a:solidFill>
              </a:rPr>
              <a:t>So far work, preparatory work on evaluation.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FF3300"/>
                </a:solidFill>
              </a:rPr>
              <a:t>References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3333FF"/>
                </a:solidFill>
              </a:rPr>
              <a:t> References should include only what you have cited in the text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3333FF"/>
                </a:solidFill>
              </a:rPr>
              <a:t>All Figures and Tables should also be cited in the text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200" dirty="0">
              <a:solidFill>
                <a:srgbClr val="FF33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FFB2B2-E5FB-9F6F-54AF-5C79D00FE473}"/>
              </a:ext>
            </a:extLst>
          </p:cNvPr>
          <p:cNvSpPr txBox="1"/>
          <p:nvPr/>
        </p:nvSpPr>
        <p:spPr>
          <a:xfrm>
            <a:off x="9601200" y="1219200"/>
            <a:ext cx="25741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Symptom</a:t>
            </a:r>
          </a:p>
          <a:p>
            <a:r>
              <a:rPr lang="en-US" dirty="0">
                <a:solidFill>
                  <a:srgbClr val="FFFF00"/>
                </a:solidFill>
              </a:rPr>
              <a:t>Diagnose a disease</a:t>
            </a:r>
          </a:p>
          <a:p>
            <a:r>
              <a:rPr lang="en-US" dirty="0">
                <a:solidFill>
                  <a:srgbClr val="FFFF00"/>
                </a:solidFill>
              </a:rPr>
              <a:t>Treatment/Options/cost</a:t>
            </a:r>
          </a:p>
          <a:p>
            <a:r>
              <a:rPr lang="en-US" dirty="0">
                <a:solidFill>
                  <a:srgbClr val="FFFF00"/>
                </a:solidFill>
              </a:rPr>
              <a:t>Management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29DACFA-6394-C292-8BCD-E87D2DEE2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60387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Paper for a Journal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2AA5F4E-F730-2D07-93DD-776FEFEDD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372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0070C0"/>
                </a:solidFill>
              </a:rPr>
              <a:t>Improve the conference paper with the following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FF0000"/>
                </a:solidFill>
              </a:rPr>
              <a:t>Evaluation (How mother taste a curry)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What do you test? (what was stated in </a:t>
            </a:r>
            <a:r>
              <a:rPr lang="en-US" altLang="en-US" sz="2100" dirty="0">
                <a:solidFill>
                  <a:srgbClr val="3333FF"/>
                </a:solidFill>
                <a:highlight>
                  <a:srgbClr val="FFFF00"/>
                </a:highlight>
              </a:rPr>
              <a:t>the Approach </a:t>
            </a:r>
            <a:r>
              <a:rPr lang="en-US" altLang="en-US" sz="2100" dirty="0">
                <a:solidFill>
                  <a:srgbClr val="3333FF"/>
                </a:solidFill>
              </a:rPr>
              <a:t>–Hypothesis, input, output, process, users, features) -salt, oil, …… color, smell)                                               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Testing environment (Lab, online,   cloud) - kitchen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Testing set up  (group, batch, test cases) – samples, spoons, dish                                                        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  <a:highlight>
                  <a:srgbClr val="FFFF00"/>
                </a:highlight>
              </a:rPr>
              <a:t>Test cases </a:t>
            </a:r>
            <a:r>
              <a:rPr lang="en-US" altLang="en-US" sz="2100" dirty="0">
                <a:solidFill>
                  <a:srgbClr val="3333FF"/>
                </a:solidFill>
              </a:rPr>
              <a:t>(use approach)                                           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Participants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Results (pie-chart, ……)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FF3300"/>
                </a:solidFill>
              </a:rPr>
              <a:t>Conclusion and further work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Overall conclusion – about the hypothesis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</a:rPr>
              <a:t>Objective-wise conclusion – Objective 1 (evidence from Chapter 2 - Literature Review), Objective 2 (Chapter 3 shows Technology), Objective 3 (approach, design, implementation Chapters), Objective 4 (Evaluation)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100" dirty="0">
                <a:solidFill>
                  <a:srgbClr val="3333FF"/>
                </a:solidFill>
                <a:highlight>
                  <a:srgbClr val="FFFF00"/>
                </a:highlight>
              </a:rPr>
              <a:t>Limitations</a:t>
            </a:r>
            <a:r>
              <a:rPr lang="en-US" altLang="en-US" sz="2100" dirty="0">
                <a:solidFill>
                  <a:srgbClr val="3333FF"/>
                </a:solidFill>
              </a:rPr>
              <a:t> (do not list many limitations 1-2)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3333FF"/>
                </a:solidFill>
              </a:rPr>
              <a:t>Further work (how you address the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limitation</a:t>
            </a:r>
            <a:r>
              <a:rPr lang="en-US" altLang="en-US" dirty="0">
                <a:solidFill>
                  <a:srgbClr val="3333FF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>
              <a:solidFill>
                <a:srgbClr val="3333FF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FFBFCA-EF0B-6F30-7278-5006F6287082}"/>
              </a:ext>
            </a:extLst>
          </p:cNvPr>
          <p:cNvSpPr/>
          <p:nvPr/>
        </p:nvSpPr>
        <p:spPr>
          <a:xfrm>
            <a:off x="7578407" y="5970587"/>
            <a:ext cx="1649413" cy="762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7</a:t>
            </a:r>
          </a:p>
          <a:p>
            <a:pPr algn="ctr">
              <a:defRPr/>
            </a:pPr>
            <a:r>
              <a:rPr lang="en-US" sz="1400" dirty="0"/>
              <a:t>02/08/2026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0A524-CB2A-987E-11C7-5D74D3A424CD}"/>
              </a:ext>
            </a:extLst>
          </p:cNvPr>
          <p:cNvSpPr txBox="1"/>
          <p:nvPr/>
        </p:nvSpPr>
        <p:spPr>
          <a:xfrm>
            <a:off x="9448800" y="1143000"/>
            <a:ext cx="3031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Technological area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Technological gap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A technology/inspiration </a:t>
            </a:r>
          </a:p>
          <a:p>
            <a:r>
              <a:rPr lang="en-US" dirty="0">
                <a:solidFill>
                  <a:srgbClr val="FFFF00"/>
                </a:solidFill>
              </a:rPr>
              <a:t>     to address the gap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FEB520DC-1ECE-4B6B-65B7-5C74C5CE0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Discussions..</a:t>
            </a: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AE608D13-5663-0845-8666-7C59F9A38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Abstract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Introduction - Intro. to the area, Problem, Solution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Lit Review   -  </a:t>
            </a:r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Problem</a:t>
            </a:r>
            <a:r>
              <a:rPr lang="en-US" altLang="en-US" sz="2000" dirty="0">
                <a:solidFill>
                  <a:srgbClr val="0070C0"/>
                </a:solidFill>
              </a:rPr>
              <a:t>,  Technology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Technology – Technology 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Approach          -  Proposal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Design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Implementation  - Progress Report/Conference paper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Evaluation         - 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Conclusion        - Thesis/Journal paper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References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Appendix</a:t>
            </a:r>
          </a:p>
        </p:txBody>
      </p:sp>
      <p:sp>
        <p:nvSpPr>
          <p:cNvPr id="80900" name="TextBox 1">
            <a:extLst>
              <a:ext uri="{FF2B5EF4-FFF2-40B4-BE49-F238E27FC236}">
                <a16:creationId xmlns:a16="http://schemas.microsoft.com/office/drawing/2014/main" id="{7FE99E28-D436-14DE-D39E-3D0404CEE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1417638"/>
            <a:ext cx="20828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FFF00"/>
                </a:solidFill>
              </a:rPr>
              <a:t>Abstract</a:t>
            </a:r>
          </a:p>
          <a:p>
            <a:r>
              <a:rPr lang="en-US" altLang="en-US">
                <a:solidFill>
                  <a:srgbClr val="FFFF00"/>
                </a:solidFill>
              </a:rPr>
              <a:t>Introduction</a:t>
            </a:r>
          </a:p>
          <a:p>
            <a:r>
              <a:rPr lang="en-US" altLang="en-US">
                <a:solidFill>
                  <a:srgbClr val="FFFF00"/>
                </a:solidFill>
              </a:rPr>
              <a:t>Lit. Review</a:t>
            </a:r>
          </a:p>
          <a:p>
            <a:r>
              <a:rPr lang="en-US" altLang="en-US">
                <a:solidFill>
                  <a:srgbClr val="FFFF00"/>
                </a:solidFill>
              </a:rPr>
              <a:t>Methodology</a:t>
            </a:r>
          </a:p>
          <a:p>
            <a:r>
              <a:rPr lang="en-US" altLang="en-US">
                <a:solidFill>
                  <a:srgbClr val="FFFF00"/>
                </a:solidFill>
              </a:rPr>
              <a:t>    Technology</a:t>
            </a:r>
          </a:p>
          <a:p>
            <a:r>
              <a:rPr lang="en-US" altLang="en-US">
                <a:solidFill>
                  <a:srgbClr val="FFFF00"/>
                </a:solidFill>
              </a:rPr>
              <a:t>     Approach</a:t>
            </a:r>
          </a:p>
          <a:p>
            <a:r>
              <a:rPr lang="en-US" altLang="en-US">
                <a:solidFill>
                  <a:srgbClr val="FFFF00"/>
                </a:solidFill>
              </a:rPr>
              <a:t>     Design</a:t>
            </a:r>
          </a:p>
          <a:p>
            <a:r>
              <a:rPr lang="en-US" altLang="en-US">
                <a:solidFill>
                  <a:srgbClr val="FFFF00"/>
                </a:solidFill>
              </a:rPr>
              <a:t>     Implementation</a:t>
            </a:r>
          </a:p>
          <a:p>
            <a:r>
              <a:rPr lang="en-US" altLang="en-US">
                <a:solidFill>
                  <a:srgbClr val="FFFF00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B57D42D6-D726-8225-B639-5A28F74B1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Discussion..</a:t>
            </a: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A86D9F51-EAA3-63AC-0E5C-924D1B3E7A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1387475"/>
            <a:ext cx="9067800" cy="4530725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How would you produce a more attractive proposal than a standard proposal? 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Standard proposal – up to approach, an attractive one with a note on </a:t>
            </a:r>
            <a:r>
              <a:rPr lang="en-US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design/preferably a diagram</a:t>
            </a:r>
            <a:endParaRPr lang="en-US" altLang="en-US" sz="2000" dirty="0">
              <a:solidFill>
                <a:srgbClr val="3333FF"/>
              </a:solidFill>
              <a:highlight>
                <a:srgbClr val="FFFF00"/>
              </a:highlight>
            </a:endParaRPr>
          </a:p>
          <a:p>
            <a:pPr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How can you increase the chance of accepting a paper for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    a conference?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Covers only up to implementation; add a </a:t>
            </a:r>
            <a:r>
              <a:rPr lang="en-US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note on how you evaluate. </a:t>
            </a:r>
          </a:p>
          <a:p>
            <a:pPr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Journal paper before or after the Thesis submission? 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If submitted before (</a:t>
            </a:r>
            <a:r>
              <a:rPr lang="en-US" altLang="en-US" sz="2000" dirty="0" err="1">
                <a:solidFill>
                  <a:srgbClr val="FF0000"/>
                </a:solidFill>
              </a:rPr>
              <a:t>i</a:t>
            </a:r>
            <a:r>
              <a:rPr lang="en-US" altLang="en-US" sz="2000" dirty="0">
                <a:solidFill>
                  <a:srgbClr val="FF0000"/>
                </a:solidFill>
              </a:rPr>
              <a:t>) accepted, you may have overestimated yourself. (ii)rejected, you may be demoralized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If submitted after (</a:t>
            </a:r>
            <a:r>
              <a:rPr lang="en-US" altLang="en-US" sz="2000" dirty="0" err="1">
                <a:solidFill>
                  <a:srgbClr val="FF0000"/>
                </a:solidFill>
              </a:rPr>
              <a:t>i</a:t>
            </a:r>
            <a:r>
              <a:rPr lang="en-US" altLang="en-US" sz="2000" dirty="0">
                <a:solidFill>
                  <a:srgbClr val="FF0000"/>
                </a:solidFill>
              </a:rPr>
              <a:t>) accepted,                              (ii) rejected</a:t>
            </a:r>
          </a:p>
          <a:p>
            <a:pPr>
              <a:defRPr/>
            </a:pPr>
            <a:endParaRPr lang="en-US" altLang="en-US" sz="2400" dirty="0">
              <a:solidFill>
                <a:srgbClr val="3333FF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088522F-E238-65B6-B397-1582A83BF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Thesis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599E708-D4F3-38B2-0B8A-15E217F4E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7155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Journal paper and Thesis have similar research material</a:t>
            </a:r>
          </a:p>
          <a:p>
            <a:pPr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But the thesis as a book contains some pre-pages and Appendices</a:t>
            </a:r>
          </a:p>
          <a:p>
            <a:pPr eaLnBrk="1" hangingPunct="1">
              <a:defRPr/>
            </a:pPr>
            <a:r>
              <a:rPr lang="en-US" altLang="en-US" sz="2000" u="sng" dirty="0">
                <a:solidFill>
                  <a:srgbClr val="FF3300"/>
                </a:solidFill>
                <a:highlight>
                  <a:srgbClr val="FFFF00"/>
                </a:highlight>
              </a:rPr>
              <a:t>Pre-pages</a:t>
            </a:r>
            <a:r>
              <a:rPr lang="en-US" altLang="en-US" sz="2000" dirty="0">
                <a:solidFill>
                  <a:srgbClr val="FF3300"/>
                </a:solidFill>
              </a:rPr>
              <a:t> (numbered in Roman numerals)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Title page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Declaration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Abstract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Acknowledgement – express gratitude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Dedications – offering the work to a great one like (father/mother/wife…)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Table of Contents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List of Figures/Tables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3333FF"/>
                </a:solidFill>
              </a:rPr>
              <a:t>Abbreviations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Body of thesis</a:t>
            </a:r>
            <a:r>
              <a:rPr lang="en-US" altLang="en-US" sz="2000" dirty="0">
                <a:solidFill>
                  <a:srgbClr val="00B050"/>
                </a:solidFill>
              </a:rPr>
              <a:t> (Arabic numbers)</a:t>
            </a: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Post pages – Appendix </a:t>
            </a:r>
            <a:r>
              <a:rPr lang="en-US" altLang="en-US" sz="2000" dirty="0">
                <a:solidFill>
                  <a:srgbClr val="00B050"/>
                </a:solidFill>
              </a:rPr>
              <a:t>(Appendix A, Appendix B)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Design</a:t>
            </a:r>
            <a:r>
              <a:rPr lang="en-US" altLang="en-US" sz="2000" dirty="0">
                <a:solidFill>
                  <a:srgbClr val="FF0000"/>
                </a:solidFill>
              </a:rPr>
              <a:t> diagrams</a:t>
            </a:r>
            <a:r>
              <a:rPr lang="en-US" altLang="en-US" sz="2000" dirty="0">
                <a:solidFill>
                  <a:srgbClr val="3333FF"/>
                </a:solidFill>
              </a:rPr>
              <a:t>: use case/class diagrams to support the design chapter</a:t>
            </a:r>
          </a:p>
          <a:p>
            <a:pPr lvl="2" eaLnBrk="1" hangingPunct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Important code segments </a:t>
            </a:r>
            <a:r>
              <a:rPr lang="en-US" altLang="en-US" sz="2000" dirty="0">
                <a:solidFill>
                  <a:srgbClr val="3333FF"/>
                </a:solidFill>
              </a:rPr>
              <a:t>to support the </a:t>
            </a: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implementation</a:t>
            </a:r>
            <a:r>
              <a:rPr lang="en-US" altLang="en-US" sz="2000" dirty="0">
                <a:solidFill>
                  <a:srgbClr val="3333FF"/>
                </a:solidFill>
              </a:rPr>
              <a:t> chapter</a:t>
            </a:r>
          </a:p>
          <a:p>
            <a:pPr lvl="2" eaLnBrk="1" hangingPunct="1">
              <a:buFontTx/>
              <a:buChar char="-"/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Collected Data</a:t>
            </a:r>
            <a:r>
              <a:rPr lang="en-US" altLang="en-US" sz="2000" dirty="0">
                <a:solidFill>
                  <a:srgbClr val="3333FF"/>
                </a:solidFill>
              </a:rPr>
              <a:t>, Questionnaires to support the </a:t>
            </a:r>
            <a:r>
              <a:rPr lang="en-US" altLang="en-US" sz="2000" dirty="0">
                <a:solidFill>
                  <a:srgbClr val="3333FF"/>
                </a:solidFill>
                <a:highlight>
                  <a:srgbClr val="FFFF00"/>
                </a:highlight>
              </a:rPr>
              <a:t>Evaluation</a:t>
            </a:r>
            <a:r>
              <a:rPr lang="en-US" altLang="en-US" sz="2000" dirty="0">
                <a:solidFill>
                  <a:srgbClr val="3333FF"/>
                </a:solidFill>
              </a:rPr>
              <a:t> chapter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3563DC79-F310-5F82-3CDE-219EBC906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All in the Thesis</a:t>
            </a:r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60694FB1-7847-A1EC-EE9A-D5FBAC0C4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Pre-pages</a:t>
            </a:r>
          </a:p>
          <a:p>
            <a:r>
              <a:rPr lang="en-US" altLang="en-US" sz="2000" dirty="0">
                <a:solidFill>
                  <a:srgbClr val="0070C0"/>
                </a:solidFill>
              </a:rPr>
              <a:t>Introduction</a:t>
            </a:r>
          </a:p>
          <a:p>
            <a:r>
              <a:rPr lang="en-US" altLang="en-US" sz="2000" dirty="0">
                <a:solidFill>
                  <a:srgbClr val="0070C0"/>
                </a:solidFill>
              </a:rPr>
              <a:t>Literature Review  </a:t>
            </a:r>
            <a:r>
              <a:rPr lang="en-US" altLang="en-US" sz="2000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rgbClr val="0070C0"/>
                </a:solidFill>
              </a:rPr>
              <a:t>Summary</a:t>
            </a:r>
          </a:p>
          <a:p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Technology</a:t>
            </a:r>
          </a:p>
          <a:p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Approach               </a:t>
            </a:r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  Proposal</a:t>
            </a:r>
          </a:p>
          <a:p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Design</a:t>
            </a:r>
          </a:p>
          <a:p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Implementation  </a:t>
            </a:r>
            <a:r>
              <a:rPr lang="en-US" altLang="en-US" sz="2000" dirty="0">
                <a:solidFill>
                  <a:srgbClr val="0070C0"/>
                </a:solidFill>
              </a:rPr>
              <a:t>    </a:t>
            </a:r>
            <a:r>
              <a:rPr lang="en-US" altLang="en-US" sz="2000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rgbClr val="0070C0"/>
                </a:solidFill>
              </a:rPr>
              <a:t>Progress Report/Conference papers</a:t>
            </a:r>
          </a:p>
          <a:p>
            <a:r>
              <a:rPr lang="en-US" altLang="en-US" sz="2000" dirty="0">
                <a:solidFill>
                  <a:srgbClr val="0070C0"/>
                </a:solidFill>
                <a:highlight>
                  <a:srgbClr val="FFFF00"/>
                </a:highlight>
              </a:rPr>
              <a:t>Evaluation </a:t>
            </a:r>
            <a:r>
              <a:rPr lang="en-US" altLang="en-US" sz="2000" dirty="0">
                <a:solidFill>
                  <a:srgbClr val="0070C0"/>
                </a:solidFill>
              </a:rPr>
              <a:t>        </a:t>
            </a:r>
          </a:p>
          <a:p>
            <a:r>
              <a:rPr lang="en-US" altLang="en-US" sz="2000" dirty="0">
                <a:solidFill>
                  <a:srgbClr val="0070C0"/>
                </a:solidFill>
              </a:rPr>
              <a:t>Conclusion             </a:t>
            </a:r>
            <a:r>
              <a:rPr lang="en-US" altLang="en-US" sz="2000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olidFill>
                  <a:srgbClr val="0070C0"/>
                </a:solidFill>
              </a:rPr>
              <a:t> Thesis/Journal papers</a:t>
            </a:r>
          </a:p>
          <a:p>
            <a:r>
              <a:rPr lang="en-US" altLang="en-US" sz="2000" dirty="0">
                <a:solidFill>
                  <a:srgbClr val="0070C0"/>
                </a:solidFill>
              </a:rPr>
              <a:t>References</a:t>
            </a:r>
          </a:p>
          <a:p>
            <a:r>
              <a:rPr lang="en-US" altLang="en-US" sz="2000" dirty="0">
                <a:solidFill>
                  <a:srgbClr val="FF0000"/>
                </a:solidFill>
              </a:rPr>
              <a:t>Post-pages</a:t>
            </a:r>
          </a:p>
          <a:p>
            <a:r>
              <a:rPr lang="en-US" altLang="en-US" sz="2000" dirty="0">
                <a:solidFill>
                  <a:srgbClr val="0070C0"/>
                </a:solidFill>
              </a:rPr>
              <a:t>Appendix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8BB989C7-9B06-5D92-812D-468541BD2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txBody>
          <a:bodyPr/>
          <a:lstStyle/>
          <a:p>
            <a:r>
              <a:rPr lang="en-US" altLang="en-US" sz="4000" b="1">
                <a:solidFill>
                  <a:srgbClr val="00B050"/>
                </a:solidFill>
              </a:rPr>
              <a:t>Homework -Develop your Proposal</a:t>
            </a:r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0A669197-EAFC-66EA-9D08-53E8C3B86D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3999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Open a Word file with Zotero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Develop the proposal into the following structure</a:t>
            </a:r>
            <a:endParaRPr lang="en-US" altLang="en-US" sz="2400" dirty="0">
              <a:solidFill>
                <a:srgbClr val="3333F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Project Title - Problem + Technology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Name of the reporter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Introduction – problem (area/problem)+ solution + The rest of the proposal is organized with objectives, Literature Review, Problem in brief, proposed solution, ….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Objectives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Literature Review </a:t>
            </a:r>
            <a:r>
              <a:rPr lang="en-US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 reviews + problems + technology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Problem in Brief – your research problem derived from LR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Proposed solution </a:t>
            </a:r>
            <a:r>
              <a:rPr lang="en-US" altLang="en-US" sz="2400" dirty="0">
                <a:solidFill>
                  <a:srgbClr val="FF0000"/>
                </a:solidFill>
              </a:rPr>
              <a:t>– elements of approach + design diagram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Resource Requirements – OS/HW/SW/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Summary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>
                <a:solidFill>
                  <a:srgbClr val="3333FF"/>
                </a:solidFill>
              </a:rPr>
              <a:t>Plan of Action / Schedule – based on the objectives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altLang="en-US" sz="2400" dirty="0">
                <a:solidFill>
                  <a:srgbClr val="3333FF"/>
                </a:solidFill>
              </a:rPr>
              <a:t>Reference</a:t>
            </a:r>
          </a:p>
          <a:p>
            <a:pPr>
              <a:defRPr/>
            </a:pP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84996" name="TextBox 1">
            <a:extLst>
              <a:ext uri="{FF2B5EF4-FFF2-40B4-BE49-F238E27FC236}">
                <a16:creationId xmlns:a16="http://schemas.microsoft.com/office/drawing/2014/main" id="{1E4CEA5B-6ED4-24C4-3E55-7FB350804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1333500"/>
            <a:ext cx="29035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FFF00"/>
                </a:solidFill>
              </a:rPr>
              <a:t>Since we know actions </a:t>
            </a:r>
          </a:p>
          <a:p>
            <a:r>
              <a:rPr lang="en-US" altLang="en-US">
                <a:solidFill>
                  <a:srgbClr val="FFFF00"/>
                </a:solidFill>
              </a:rPr>
              <a:t>from the process, we can</a:t>
            </a:r>
          </a:p>
          <a:p>
            <a:r>
              <a:rPr lang="en-US" altLang="en-US">
                <a:solidFill>
                  <a:srgbClr val="FFFF00"/>
                </a:solidFill>
              </a:rPr>
              <a:t>Draw design diagrams</a:t>
            </a:r>
          </a:p>
          <a:p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State the technology when</a:t>
            </a:r>
          </a:p>
          <a:p>
            <a:r>
              <a:rPr lang="en-US" altLang="en-US">
                <a:solidFill>
                  <a:srgbClr val="FFFF00"/>
                </a:solidFill>
              </a:rPr>
              <a:t>describing input-actions</a:t>
            </a:r>
          </a:p>
          <a:p>
            <a:endParaRPr lang="en-US" altLang="en-US">
              <a:solidFill>
                <a:srgbClr val="FFFF00"/>
              </a:solidFill>
            </a:endParaRPr>
          </a:p>
          <a:p>
            <a:endParaRPr lang="en-US" altLang="en-US">
              <a:solidFill>
                <a:srgbClr val="FFFF00"/>
              </a:solidFill>
            </a:endParaRPr>
          </a:p>
          <a:p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Deliverables</a:t>
            </a:r>
          </a:p>
          <a:p>
            <a:r>
              <a:rPr lang="en-US" altLang="en-US">
                <a:solidFill>
                  <a:srgbClr val="FFFF00"/>
                </a:solidFill>
              </a:rPr>
              <a:t>Progress Review Report</a:t>
            </a:r>
          </a:p>
          <a:p>
            <a:r>
              <a:rPr lang="en-US" altLang="en-US">
                <a:solidFill>
                  <a:srgbClr val="FFFF00"/>
                </a:solidFill>
              </a:rPr>
              <a:t>Conference paper</a:t>
            </a:r>
          </a:p>
          <a:p>
            <a:r>
              <a:rPr lang="en-US" altLang="en-US">
                <a:solidFill>
                  <a:srgbClr val="FFFF00"/>
                </a:solidFill>
              </a:rPr>
              <a:t>Thesis</a:t>
            </a:r>
          </a:p>
          <a:p>
            <a:r>
              <a:rPr lang="en-US" altLang="en-US">
                <a:solidFill>
                  <a:srgbClr val="FFFF00"/>
                </a:solidFill>
              </a:rPr>
              <a:t>AI Agent for Mindfulness </a:t>
            </a:r>
          </a:p>
          <a:p>
            <a:r>
              <a:rPr lang="en-US" altLang="en-US">
                <a:solidFill>
                  <a:srgbClr val="FFFF00"/>
                </a:solidFill>
              </a:rPr>
              <a:t>actioners</a:t>
            </a:r>
          </a:p>
          <a:p>
            <a:endParaRPr lang="en-US" altLang="en-US">
              <a:solidFill>
                <a:srgbClr val="FFFF00"/>
              </a:solidFill>
            </a:endParaRPr>
          </a:p>
          <a:p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F000FFE-FF78-13BF-9550-550FFDD8A9CE}"/>
              </a:ext>
            </a:extLst>
          </p:cNvPr>
          <p:cNvSpPr/>
          <p:nvPr/>
        </p:nvSpPr>
        <p:spPr>
          <a:xfrm>
            <a:off x="7537450" y="5791200"/>
            <a:ext cx="1992313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08</a:t>
            </a:r>
          </a:p>
          <a:p>
            <a:pPr algn="ctr">
              <a:defRPr/>
            </a:pPr>
            <a:r>
              <a:rPr lang="en-US" sz="1900" dirty="0"/>
              <a:t>09/082026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82B13-9914-A634-2DAB-06E228201068}"/>
              </a:ext>
            </a:extLst>
          </p:cNvPr>
          <p:cNvSpPr txBox="1"/>
          <p:nvPr/>
        </p:nvSpPr>
        <p:spPr>
          <a:xfrm>
            <a:off x="-2895600" y="1676400"/>
            <a:ext cx="25016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Doing research</a:t>
            </a:r>
          </a:p>
          <a:p>
            <a:r>
              <a:rPr lang="en-US" dirty="0">
                <a:solidFill>
                  <a:srgbClr val="FFFF00"/>
                </a:solidFill>
              </a:rPr>
              <a:t>Writing about research</a:t>
            </a:r>
          </a:p>
          <a:p>
            <a:r>
              <a:rPr lang="en-US" dirty="0">
                <a:solidFill>
                  <a:srgbClr val="FFFF00"/>
                </a:solidFill>
              </a:rPr>
              <a:t>Presentation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InPRAWeb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FE1A-C15A-0A38-D3DD-E4BA020C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Start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7D21-5744-4371-C7A6-F1F011E2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839200" cy="4530725"/>
          </a:xfrm>
        </p:spPr>
        <p:txBody>
          <a:bodyPr/>
          <a:lstStyle/>
          <a:p>
            <a:r>
              <a:rPr lang="en-US" dirty="0"/>
              <a:t>Identify a technological area of your project</a:t>
            </a:r>
          </a:p>
          <a:p>
            <a:pPr lvl="1"/>
            <a:r>
              <a:rPr lang="en-US" dirty="0"/>
              <a:t>Lecturers (NLP, ES, RNN, Transformer, …..)</a:t>
            </a:r>
          </a:p>
          <a:p>
            <a:r>
              <a:rPr lang="en-US" dirty="0"/>
              <a:t> Identify a gap in your technological area with papers for reading</a:t>
            </a:r>
          </a:p>
          <a:p>
            <a:pPr lvl="1"/>
            <a:r>
              <a:rPr lang="en-US" dirty="0"/>
              <a:t>Search ……</a:t>
            </a:r>
          </a:p>
          <a:p>
            <a:r>
              <a:rPr lang="en-US" dirty="0"/>
              <a:t>Now you have a gap and a technology to solve it</a:t>
            </a:r>
          </a:p>
          <a:p>
            <a:r>
              <a:rPr lang="en-US" dirty="0"/>
              <a:t>Proposal (Approach)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8454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1F7DF8F-EB99-472D-AA2C-40851457B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PRESENTATIONS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F49C78D-D589-1B52-B2C4-A90911D61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Knowledge is the power</a:t>
            </a:r>
          </a:p>
          <a:p>
            <a:pPr eaLnBrk="1" hangingPunct="1">
              <a:defRPr/>
            </a:pPr>
            <a:r>
              <a:rPr lang="en-US" altLang="en-US" dirty="0"/>
              <a:t>Discovery of knowledge (</a:t>
            </a:r>
            <a:r>
              <a:rPr lang="en-US" altLang="en-US" dirty="0">
                <a:highlight>
                  <a:srgbClr val="FFFF00"/>
                </a:highlight>
              </a:rPr>
              <a:t>Research</a:t>
            </a:r>
            <a:r>
              <a:rPr lang="en-US" altLang="en-US" dirty="0"/>
              <a:t>) is the main business</a:t>
            </a:r>
          </a:p>
          <a:p>
            <a:pPr eaLnBrk="1" hangingPunct="1">
              <a:defRPr/>
            </a:pPr>
            <a:r>
              <a:rPr lang="en-US" altLang="en-US" dirty="0"/>
              <a:t>Countries with authority in knowledge control the world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3C4095F3-E879-3859-785E-F84FDC578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Presentations – general points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554EF99-FC4E-476A-F2CF-71894C00B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3338" y="1163638"/>
            <a:ext cx="9634538" cy="5416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FF3300"/>
                </a:solidFill>
              </a:rPr>
              <a:t>Help the </a:t>
            </a:r>
            <a:r>
              <a:rPr lang="en-GB" altLang="en-US" sz="2700" dirty="0">
                <a:solidFill>
                  <a:srgbClr val="FF3300"/>
                </a:solidFill>
                <a:highlight>
                  <a:srgbClr val="FFFF00"/>
                </a:highlight>
              </a:rPr>
              <a:t>audience understand </a:t>
            </a:r>
            <a:r>
              <a:rPr lang="en-GB" altLang="en-US" sz="2700" dirty="0">
                <a:solidFill>
                  <a:srgbClr val="FF3300"/>
                </a:solidFill>
              </a:rPr>
              <a:t>a </a:t>
            </a:r>
            <a:r>
              <a:rPr lang="en-GB" altLang="en-US" sz="2700" dirty="0">
                <a:solidFill>
                  <a:srgbClr val="FF3300"/>
                </a:solidFill>
                <a:highlight>
                  <a:srgbClr val="FFFF00"/>
                </a:highlight>
              </a:rPr>
              <a:t>document</a:t>
            </a:r>
            <a:r>
              <a:rPr lang="en-GB" altLang="en-US" sz="2700" dirty="0">
                <a:solidFill>
                  <a:srgbClr val="FF3300"/>
                </a:solidFill>
              </a:rPr>
              <a:t> like a proposal/progress report/paper/thesis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3333FF"/>
                </a:solidFill>
              </a:rPr>
              <a:t>You can prepare PowerPoint slides for this purpose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FF3300"/>
                </a:solidFill>
              </a:rPr>
              <a:t>Structure must be compatible with the document format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3333FF"/>
                </a:solidFill>
              </a:rPr>
              <a:t>Talk </a:t>
            </a:r>
            <a:r>
              <a:rPr lang="en-GB" altLang="en-US" sz="2700" dirty="0">
                <a:solidFill>
                  <a:srgbClr val="3333FF"/>
                </a:solidFill>
                <a:highlight>
                  <a:srgbClr val="FFFF00"/>
                </a:highlight>
              </a:rPr>
              <a:t>more</a:t>
            </a:r>
            <a:r>
              <a:rPr lang="en-GB" altLang="en-US" sz="2700" dirty="0">
                <a:solidFill>
                  <a:srgbClr val="3333FF"/>
                </a:solidFill>
              </a:rPr>
              <a:t> about </a:t>
            </a:r>
            <a:r>
              <a:rPr lang="en-GB" altLang="en-US" sz="2700" dirty="0">
                <a:solidFill>
                  <a:srgbClr val="3333FF"/>
                </a:solidFill>
                <a:highlight>
                  <a:srgbClr val="FFFF00"/>
                </a:highlight>
              </a:rPr>
              <a:t>your work</a:t>
            </a:r>
            <a:r>
              <a:rPr lang="en-GB" altLang="en-US" sz="2700" dirty="0">
                <a:solidFill>
                  <a:srgbClr val="3333FF"/>
                </a:solidFill>
              </a:rPr>
              <a:t>, but less about others’ work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FF3300"/>
                </a:solidFill>
              </a:rPr>
              <a:t> </a:t>
            </a:r>
            <a:r>
              <a:rPr lang="en-GB" altLang="en-US" sz="2600" dirty="0">
                <a:solidFill>
                  <a:srgbClr val="FF3300"/>
                </a:solidFill>
              </a:rPr>
              <a:t>T</a:t>
            </a:r>
            <a:r>
              <a:rPr lang="en-GB" altLang="en-US" sz="2600" dirty="0">
                <a:solidFill>
                  <a:srgbClr val="FF3300"/>
                </a:solidFill>
                <a:highlight>
                  <a:srgbClr val="FFFF00"/>
                </a:highlight>
              </a:rPr>
              <a:t>echnological gap</a:t>
            </a:r>
            <a:r>
              <a:rPr lang="en-GB" altLang="en-US" sz="2600" dirty="0">
                <a:solidFill>
                  <a:srgbClr val="FF3300"/>
                </a:solidFill>
              </a:rPr>
              <a:t> and </a:t>
            </a:r>
            <a:r>
              <a:rPr lang="en-GB" altLang="en-US" sz="2600" dirty="0">
                <a:solidFill>
                  <a:srgbClr val="FF3300"/>
                </a:solidFill>
                <a:highlight>
                  <a:srgbClr val="FFFF00"/>
                </a:highlight>
              </a:rPr>
              <a:t>objectives</a:t>
            </a:r>
            <a:r>
              <a:rPr lang="en-GB" altLang="en-US" sz="2600" dirty="0">
                <a:solidFill>
                  <a:srgbClr val="FF3300"/>
                </a:solidFill>
              </a:rPr>
              <a:t> must be stated clearly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3333FF"/>
                </a:solidFill>
              </a:rPr>
              <a:t>Take time to talk more about the </a:t>
            </a:r>
            <a:r>
              <a:rPr lang="en-GB" altLang="en-US" sz="2700" dirty="0">
                <a:solidFill>
                  <a:srgbClr val="3333FF"/>
                </a:solidFill>
                <a:highlight>
                  <a:srgbClr val="FFFF00"/>
                </a:highlight>
              </a:rPr>
              <a:t>Solution </a:t>
            </a:r>
            <a:r>
              <a:rPr lang="en-GB" altLang="en-US" sz="2700" u="sng" dirty="0">
                <a:solidFill>
                  <a:srgbClr val="3333FF"/>
                </a:solidFill>
              </a:rPr>
              <a:t>(</a:t>
            </a:r>
            <a:r>
              <a:rPr lang="en-GB" altLang="en-US" sz="2700" dirty="0">
                <a:solidFill>
                  <a:srgbClr val="3333FF"/>
                </a:solidFill>
              </a:rPr>
              <a:t>approach, design, implementation), but less about the </a:t>
            </a:r>
            <a:r>
              <a:rPr lang="en-GB" altLang="en-US" sz="2700" dirty="0">
                <a:solidFill>
                  <a:srgbClr val="3333FF"/>
                </a:solidFill>
                <a:highlight>
                  <a:srgbClr val="FFFF00"/>
                </a:highlight>
              </a:rPr>
              <a:t>Problem/gap</a:t>
            </a:r>
            <a:endParaRPr lang="en-GB" altLang="en-US" sz="2700" u="sng" dirty="0">
              <a:solidFill>
                <a:srgbClr val="3333FF"/>
              </a:solidFill>
              <a:highlight>
                <a:srgbClr val="FFFF00"/>
              </a:highligh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FF3300"/>
                </a:solidFill>
              </a:rPr>
              <a:t>Also spend time describing the </a:t>
            </a:r>
            <a:r>
              <a:rPr lang="en-GB" altLang="en-US" sz="2700" dirty="0">
                <a:solidFill>
                  <a:srgbClr val="FF3300"/>
                </a:solidFill>
                <a:highlight>
                  <a:srgbClr val="FFFF00"/>
                </a:highlight>
              </a:rPr>
              <a:t>Evaluation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3333FF"/>
                </a:solidFill>
                <a:highlight>
                  <a:srgbClr val="FFFF00"/>
                </a:highlight>
              </a:rPr>
              <a:t>Conclusion</a:t>
            </a:r>
            <a:r>
              <a:rPr lang="en-GB" altLang="en-US" sz="2700" dirty="0">
                <a:solidFill>
                  <a:srgbClr val="3333FF"/>
                </a:solidFill>
              </a:rPr>
              <a:t>  based on the evaluation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altLang="en-US" sz="2700" dirty="0">
                <a:solidFill>
                  <a:srgbClr val="FF0000"/>
                </a:solidFill>
              </a:rPr>
              <a:t>End of a presentation, questions/comments come to you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altLang="en-US" sz="2700" dirty="0">
              <a:solidFill>
                <a:srgbClr val="3333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GB" altLang="en-US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B7FC627F-D58E-985A-CBE4-2EE101759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Presentations – general points…</a:t>
            </a:r>
            <a:endParaRPr lang="en-US" altLang="en-US" b="1">
              <a:solidFill>
                <a:srgbClr val="00B050"/>
              </a:solidFill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96E9FA1-FCEE-8E2B-1528-135BC9419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60438"/>
            <a:ext cx="9372600" cy="5059362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Do not use unnecessary </a:t>
            </a:r>
            <a:r>
              <a:rPr lang="en-GB" altLang="en-US" sz="2200" dirty="0" err="1">
                <a:solidFill>
                  <a:srgbClr val="3333FF"/>
                </a:solidFill>
              </a:rPr>
              <a:t>colors</a:t>
            </a:r>
            <a:r>
              <a:rPr lang="en-GB" altLang="en-US" sz="2200" dirty="0">
                <a:solidFill>
                  <a:srgbClr val="3333FF"/>
                </a:solidFill>
              </a:rPr>
              <a:t>, styles, and animations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</a:rPr>
              <a:t>Do not flood slides with too much information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Do not look at additional notes; it shows that you are not confident.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3300"/>
                </a:solidFill>
              </a:rPr>
              <a:t>Do not talk more about further work, but about the conclusions. 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</a:rPr>
              <a:t>When answering a question, open the relevant slide for the audience  </a:t>
            </a:r>
          </a:p>
          <a:p>
            <a:pPr eaLnBrk="1" hangingPunct="1">
              <a:defRPr/>
            </a:pPr>
            <a:r>
              <a:rPr lang="en-GB" altLang="en-US" sz="2200" dirty="0">
                <a:solidFill>
                  <a:srgbClr val="FF0000"/>
                </a:solidFill>
              </a:rPr>
              <a:t>If you are not sure exactly which slide to open, then open the slide on </a:t>
            </a:r>
            <a:r>
              <a:rPr lang="en-GB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Approach [1]</a:t>
            </a:r>
          </a:p>
          <a:p>
            <a:pPr eaLnBrk="1" hangingPunct="1">
              <a:defRPr/>
            </a:pPr>
            <a:r>
              <a:rPr lang="en-US" altLang="en-US" sz="2200" dirty="0">
                <a:solidFill>
                  <a:srgbClr val="FF3300"/>
                </a:solidFill>
              </a:rPr>
              <a:t>If you are interrupted in the middle of the presentation, it means something is missing in what has been said so far.</a:t>
            </a:r>
          </a:p>
          <a:p>
            <a:pPr eaLnBrk="1" hangingPunct="1">
              <a:defRPr/>
            </a:pPr>
            <a:r>
              <a:rPr lang="en-US" altLang="en-US" sz="2200" dirty="0">
                <a:solidFill>
                  <a:srgbClr val="3333FF"/>
                </a:solidFill>
              </a:rPr>
              <a:t>List the references related to a slide at the bottom </a:t>
            </a:r>
          </a:p>
          <a:p>
            <a:pPr eaLnBrk="1" hangingPunct="1">
              <a:defRPr/>
            </a:pPr>
            <a:endParaRPr lang="en-US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A. Gruber, “A Translation Approach to portable Ontology Specification,” </a:t>
            </a:r>
            <a:r>
              <a:rPr lang="en-US" sz="1800" i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Acquisition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5, no. 2, pp. 199–220, 1993.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Iskoola Pota" panose="020B0502040204020203" pitchFamily="34" charset="0"/>
            </a:endParaRPr>
          </a:p>
          <a:p>
            <a:pPr eaLnBrk="1" hangingPunct="1">
              <a:defRPr/>
            </a:pPr>
            <a:endParaRPr lang="en-US" altLang="en-US" sz="27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AAFA665-05EE-0F15-1DD8-412A3AE4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Presentations – key points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4DA5512-12E3-B300-EE9A-317B9741F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63638"/>
            <a:ext cx="9144000" cy="4530725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Never creates enemies</a:t>
            </a:r>
          </a:p>
          <a:p>
            <a:pPr algn="just" eaLnBrk="1" hangingPunct="1">
              <a:defRPr/>
            </a:pPr>
            <a:r>
              <a:rPr lang="en-US" altLang="en-US" sz="2800" dirty="0">
                <a:solidFill>
                  <a:srgbClr val="FF3300"/>
                </a:solidFill>
              </a:rPr>
              <a:t>Let </a:t>
            </a:r>
            <a:r>
              <a:rPr lang="en-US" altLang="en-US" sz="2800" dirty="0">
                <a:solidFill>
                  <a:srgbClr val="FF3300"/>
                </a:solidFill>
                <a:highlight>
                  <a:srgbClr val="FFFF00"/>
                </a:highlight>
              </a:rPr>
              <a:t>enemies collect resources</a:t>
            </a:r>
            <a:r>
              <a:rPr lang="en-US" altLang="en-US" sz="2800" dirty="0">
                <a:solidFill>
                  <a:srgbClr val="FF3300"/>
                </a:solidFill>
              </a:rPr>
              <a:t> for you free of charge</a:t>
            </a:r>
          </a:p>
          <a:p>
            <a:pPr algn="just"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If the audience says </a:t>
            </a:r>
            <a:r>
              <a:rPr lang="en-US" altLang="en-US" sz="2800" dirty="0">
                <a:solidFill>
                  <a:srgbClr val="3333FF"/>
                </a:solidFill>
                <a:highlight>
                  <a:srgbClr val="FFFF00"/>
                </a:highlight>
              </a:rPr>
              <a:t>something</a:t>
            </a:r>
            <a:r>
              <a:rPr lang="en-US" altLang="en-US" sz="2800" dirty="0">
                <a:solidFill>
                  <a:srgbClr val="3333FF"/>
                </a:solidFill>
              </a:rPr>
              <a:t> is better than yours, thank them and request it</a:t>
            </a:r>
          </a:p>
          <a:p>
            <a:pPr algn="just" eaLnBrk="1" hangingPunct="1">
              <a:defRPr/>
            </a:pPr>
            <a:r>
              <a:rPr lang="en-US" altLang="en-US" sz="2800" dirty="0">
                <a:solidFill>
                  <a:srgbClr val="FF3300"/>
                </a:solidFill>
              </a:rPr>
              <a:t>If the audience asks the same question twice</a:t>
            </a:r>
          </a:p>
          <a:p>
            <a:pPr lvl="1" algn="just" eaLnBrk="1" hangingPunct="1">
              <a:defRPr/>
            </a:pPr>
            <a:r>
              <a:rPr lang="en-US" altLang="en-US" sz="2400" dirty="0">
                <a:solidFill>
                  <a:srgbClr val="FF3300"/>
                </a:solidFill>
              </a:rPr>
              <a:t> You may be WRONG, or they check for your confidence</a:t>
            </a:r>
          </a:p>
          <a:p>
            <a:pPr algn="just"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First listen, then answer (it shows you have come with a prepared answer for the question)</a:t>
            </a:r>
          </a:p>
          <a:p>
            <a:pPr algn="just" eaLnBrk="1" hangingPunct="1">
              <a:defRPr/>
            </a:pPr>
            <a:r>
              <a:rPr lang="en-US" altLang="en-US" sz="2800" dirty="0">
                <a:solidFill>
                  <a:srgbClr val="FF3300"/>
                </a:solidFill>
              </a:rPr>
              <a:t>Never try to fool the audience</a:t>
            </a:r>
          </a:p>
          <a:p>
            <a:pPr algn="just"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  <a:highlight>
                  <a:srgbClr val="FFFF00"/>
                </a:highlight>
              </a:rPr>
              <a:t>Presentations are generally for seeking feedback</a:t>
            </a:r>
            <a:r>
              <a:rPr lang="en-US" altLang="en-US" sz="2800" dirty="0">
                <a:solidFill>
                  <a:srgbClr val="FF3300"/>
                </a:solidFill>
                <a:highlight>
                  <a:srgbClr val="FFFF00"/>
                </a:highlight>
              </a:rPr>
              <a:t>.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solidFill>
                <a:srgbClr val="FF3300"/>
              </a:solidFill>
            </a:endParaRPr>
          </a:p>
          <a:p>
            <a:pPr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93783B7D-B95D-D38F-7EF3-709404D44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Structure of a Presentation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86EF967-99E5-CC1B-41B2-628CE48C7F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altLang="en-US" dirty="0">
                <a:solidFill>
                  <a:srgbClr val="3333FF"/>
                </a:solidFill>
              </a:rPr>
              <a:t>Depends on the purpose – below is for the </a:t>
            </a:r>
            <a:r>
              <a:rPr lang="en-GB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thesis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Title page (Title and Name)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Outline (order of slides below)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Introduction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Research Problem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Objectives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Literature Review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Methodology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Approach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Design (NEED a diagram)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Implementation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Evaluation (how you test) !!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Conclusion </a:t>
            </a:r>
          </a:p>
          <a:p>
            <a:pPr marL="3429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GB" altLang="en-US" sz="22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/>
          </a:p>
        </p:txBody>
      </p:sp>
      <p:sp>
        <p:nvSpPr>
          <p:cNvPr id="91140" name="TextBox 1">
            <a:extLst>
              <a:ext uri="{FF2B5EF4-FFF2-40B4-BE49-F238E27FC236}">
                <a16:creationId xmlns:a16="http://schemas.microsoft.com/office/drawing/2014/main" id="{160697A0-AC3B-170B-308C-C52F60A8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690813"/>
            <a:ext cx="3719513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Universal Structure for Thesis, etc.</a:t>
            </a:r>
          </a:p>
          <a:p>
            <a:endParaRPr lang="en-US" altLang="en-US" dirty="0"/>
          </a:p>
          <a:p>
            <a:r>
              <a:rPr lang="en-US" altLang="en-US" dirty="0"/>
              <a:t>   Introduction</a:t>
            </a:r>
          </a:p>
          <a:p>
            <a:r>
              <a:rPr lang="en-US" altLang="en-US" dirty="0"/>
              <a:t>   Literature Review (others’ work)</a:t>
            </a:r>
          </a:p>
          <a:p>
            <a:r>
              <a:rPr lang="en-US" altLang="en-US" dirty="0"/>
              <a:t>   Methodology (your work)</a:t>
            </a:r>
          </a:p>
          <a:p>
            <a:r>
              <a:rPr lang="en-US" altLang="en-US" dirty="0"/>
              <a:t>   Conclusion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3C746F44-D7EB-9A3A-718E-B73C1A43E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</a:t>
            </a:r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AF17F9EA-109E-4F7A-EB6A-9FF8F1853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C57C0948-85C3-8F1D-38E2-4859DAEFF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Homework</a:t>
            </a:r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E829F81D-63AA-F111-11A4-23F435B96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8915400" cy="5140325"/>
          </a:xfrm>
        </p:spPr>
        <p:txBody>
          <a:bodyPr/>
          <a:lstStyle/>
          <a:p>
            <a:pPr>
              <a:defRPr/>
            </a:pPr>
            <a:r>
              <a:rPr lang="en-US" altLang="en-US" sz="2300" dirty="0">
                <a:solidFill>
                  <a:srgbClr val="0070C0"/>
                </a:solidFill>
              </a:rPr>
              <a:t>Modify the presentation on the previous slide for a presentation on (</a:t>
            </a:r>
            <a:r>
              <a:rPr lang="en-US" altLang="en-US" sz="2300" dirty="0" err="1">
                <a:solidFill>
                  <a:srgbClr val="0070C0"/>
                </a:solidFill>
              </a:rPr>
              <a:t>i</a:t>
            </a:r>
            <a:r>
              <a:rPr lang="en-US" altLang="en-US" sz="2300" dirty="0">
                <a:solidFill>
                  <a:srgbClr val="0070C0"/>
                </a:solidFill>
              </a:rPr>
              <a:t>) Progress Review, Thesis, A paper for a conference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Title page  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Outline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Introduction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Objectives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Literature Review 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Research Problem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Methodology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Approach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Design (NEED a diagram)</a:t>
            </a:r>
          </a:p>
          <a:p>
            <a:pPr marL="1127125" lvl="2" indent="-45720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dirty="0">
                <a:solidFill>
                  <a:srgbClr val="00B050"/>
                </a:solidFill>
              </a:rPr>
              <a:t>Implementation (brief)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Discussion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References</a:t>
            </a:r>
          </a:p>
          <a:p>
            <a:pPr marL="857250" lvl="1" indent="-514350" eaLnBrk="1" hangingPunct="1">
              <a:lnSpc>
                <a:spcPct val="90000"/>
              </a:lnSpc>
              <a:buFont typeface="Garamond" panose="02020404030301010803" pitchFamily="18" charset="0"/>
              <a:buAutoNum type="arabicPeriod"/>
              <a:defRPr/>
            </a:pPr>
            <a:r>
              <a:rPr lang="en-GB" altLang="en-US" sz="2200" dirty="0">
                <a:solidFill>
                  <a:srgbClr val="00B050"/>
                </a:solidFill>
              </a:rPr>
              <a:t>Plan of Action </a:t>
            </a:r>
          </a:p>
          <a:p>
            <a:pPr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7EE40-29AF-59CB-F1B3-1F1A0622CCF9}"/>
              </a:ext>
            </a:extLst>
          </p:cNvPr>
          <p:cNvSpPr txBox="1"/>
          <p:nvPr/>
        </p:nvSpPr>
        <p:spPr>
          <a:xfrm>
            <a:off x="5715000" y="3352800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definition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Literature Review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50528227-59F0-BFB2-8ECE-BDAE54B0A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B050"/>
                </a:solidFill>
              </a:rPr>
              <a:t>What does the audience expect?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3A2C1B50-018C-F378-699D-1A7FF0CC4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2108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sz="2600" dirty="0">
                <a:solidFill>
                  <a:srgbClr val="3333FF"/>
                </a:solidFill>
              </a:rPr>
              <a:t>Audience or examiners expect many things from you</a:t>
            </a:r>
          </a:p>
          <a:p>
            <a:pPr eaLnBrk="1" hangingPunct="1">
              <a:defRPr/>
            </a:pPr>
            <a:r>
              <a:rPr lang="en-GB" altLang="en-US" sz="2600" dirty="0">
                <a:solidFill>
                  <a:srgbClr val="FF3300"/>
                </a:solidFill>
              </a:rPr>
              <a:t>The following are some of the key points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Clarity</a:t>
            </a:r>
            <a:r>
              <a:rPr lang="en-GB" altLang="en-US" sz="2200" dirty="0">
                <a:solidFill>
                  <a:srgbClr val="3333FF"/>
                </a:solidFill>
              </a:rPr>
              <a:t> of presentation </a:t>
            </a:r>
          </a:p>
          <a:p>
            <a:pPr lvl="2" eaLnBrk="1" hangingPunct="1">
              <a:defRPr/>
            </a:pPr>
            <a:r>
              <a:rPr lang="en-GB" altLang="en-US" sz="2000" dirty="0">
                <a:solidFill>
                  <a:srgbClr val="FF3300"/>
                </a:solidFill>
              </a:rPr>
              <a:t>Structure (order)</a:t>
            </a:r>
          </a:p>
          <a:p>
            <a:pPr lvl="2" eaLnBrk="1" hangingPunct="1">
              <a:defRPr/>
            </a:pPr>
            <a:r>
              <a:rPr lang="en-GB" altLang="en-US" sz="2000" dirty="0">
                <a:solidFill>
                  <a:srgbClr val="FF3300"/>
                </a:solidFill>
              </a:rPr>
              <a:t>Flow</a:t>
            </a:r>
          </a:p>
          <a:p>
            <a:pPr lvl="2" eaLnBrk="1" hangingPunct="1">
              <a:defRPr/>
            </a:pPr>
            <a:r>
              <a:rPr lang="en-GB" altLang="en-US" sz="2000" dirty="0">
                <a:solidFill>
                  <a:srgbClr val="FF3300"/>
                </a:solidFill>
              </a:rPr>
              <a:t>Colour, fonts, design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Contents</a:t>
            </a:r>
          </a:p>
          <a:p>
            <a:pPr lvl="2" eaLnBrk="1" hangingPunct="1">
              <a:defRPr/>
            </a:pPr>
            <a:r>
              <a:rPr lang="en-GB" altLang="en-US" sz="2000" dirty="0">
                <a:solidFill>
                  <a:srgbClr val="FF3300"/>
                </a:solidFill>
              </a:rPr>
              <a:t>Accuracy/missing/wrong (use citations) </a:t>
            </a:r>
          </a:p>
          <a:p>
            <a:pPr lvl="2" eaLnBrk="1" hangingPunct="1">
              <a:defRPr/>
            </a:pPr>
            <a:r>
              <a:rPr lang="en-GB" altLang="en-US" sz="2000" dirty="0">
                <a:solidFill>
                  <a:srgbClr val="FF3300"/>
                </a:solidFill>
              </a:rPr>
              <a:t>Depth abstract/Intro/conclusion only (</a:t>
            </a:r>
            <a:r>
              <a:rPr lang="en-GB" altLang="en-US" sz="2000" dirty="0">
                <a:solidFill>
                  <a:srgbClr val="FF3300"/>
                </a:solidFill>
                <a:highlight>
                  <a:srgbClr val="FFFF00"/>
                </a:highlight>
              </a:rPr>
              <a:t>lesser points</a:t>
            </a:r>
            <a:r>
              <a:rPr lang="en-GB" altLang="en-US" sz="2000" dirty="0">
                <a:solidFill>
                  <a:srgbClr val="FF3300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Timing</a:t>
            </a:r>
            <a:r>
              <a:rPr lang="en-GB" altLang="en-US" sz="2200" dirty="0">
                <a:solidFill>
                  <a:srgbClr val="3333FF"/>
                </a:solidFill>
              </a:rPr>
              <a:t> (more/time/useless info – </a:t>
            </a: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less/no material</a:t>
            </a:r>
            <a:r>
              <a:rPr lang="en-GB" altLang="en-US" sz="2200" dirty="0">
                <a:solidFill>
                  <a:srgbClr val="3333FF"/>
                </a:solidFill>
              </a:rPr>
              <a:t>) practice before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Confidence </a:t>
            </a:r>
            <a:r>
              <a:rPr lang="en-GB" altLang="en-US" sz="2200" dirty="0">
                <a:solidFill>
                  <a:srgbClr val="3333FF"/>
                </a:solidFill>
              </a:rPr>
              <a:t>(same question again, </a:t>
            </a:r>
            <a:r>
              <a:rPr lang="en-GB" altLang="en-US" sz="2200" dirty="0">
                <a:solidFill>
                  <a:srgbClr val="3333FF"/>
                </a:solidFill>
                <a:sym typeface="Wingdings" panose="05000000000000000000" pitchFamily="2" charset="2"/>
              </a:rPr>
              <a:t>you are wrong, overconfident</a:t>
            </a:r>
            <a:r>
              <a:rPr lang="en-GB" altLang="en-US" sz="2200" dirty="0">
                <a:solidFill>
                  <a:srgbClr val="3333FF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GB" altLang="en-US" sz="2200" dirty="0">
                <a:solidFill>
                  <a:srgbClr val="3333FF"/>
                </a:solidFill>
                <a:highlight>
                  <a:srgbClr val="FFFF00"/>
                </a:highlight>
              </a:rPr>
              <a:t>Answering questions </a:t>
            </a:r>
            <a:r>
              <a:rPr lang="en-GB" altLang="en-US" sz="2200" dirty="0">
                <a:solidFill>
                  <a:srgbClr val="3333FF"/>
                </a:solidFill>
              </a:rPr>
              <a:t>(wait until the question is asked, refer to the relevant slide, do not lead to another question, clear/speed answer)</a:t>
            </a:r>
          </a:p>
          <a:p>
            <a:pPr lvl="1" eaLnBrk="1" hangingPunct="1">
              <a:defRPr/>
            </a:pPr>
            <a:endParaRPr lang="en-GB" altLang="en-US" sz="2200" dirty="0">
              <a:solidFill>
                <a:srgbClr val="3333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>
            <a:extLst>
              <a:ext uri="{FF2B5EF4-FFF2-40B4-BE49-F238E27FC236}">
                <a16:creationId xmlns:a16="http://schemas.microsoft.com/office/drawing/2014/main" id="{3EF057F7-EF8E-1AEA-5C94-EBCF3BC5A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B050"/>
                </a:solidFill>
              </a:rPr>
              <a:t>Exercise</a:t>
            </a:r>
          </a:p>
        </p:txBody>
      </p:sp>
      <p:sp>
        <p:nvSpPr>
          <p:cNvPr id="94211" name="Content Placeholder 2">
            <a:extLst>
              <a:ext uri="{FF2B5EF4-FFF2-40B4-BE49-F238E27FC236}">
                <a16:creationId xmlns:a16="http://schemas.microsoft.com/office/drawing/2014/main" id="{2AB2CFEE-2096-2343-D2E1-76FCECF03D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sz="2500" dirty="0">
                <a:solidFill>
                  <a:srgbClr val="0070C0"/>
                </a:solidFill>
              </a:rPr>
              <a:t>Which of a </a:t>
            </a:r>
            <a:r>
              <a:rPr lang="en-US" altLang="en-US" sz="2500" dirty="0">
                <a:solidFill>
                  <a:srgbClr val="0070C0"/>
                </a:solidFill>
                <a:highlight>
                  <a:srgbClr val="FFFF00"/>
                </a:highlight>
              </a:rPr>
              <a:t>conference publication</a:t>
            </a:r>
            <a:r>
              <a:rPr lang="en-US" altLang="en-US" sz="2500" dirty="0">
                <a:solidFill>
                  <a:srgbClr val="0070C0"/>
                </a:solidFill>
              </a:rPr>
              <a:t> or a </a:t>
            </a:r>
            <a:r>
              <a:rPr lang="en-US" altLang="en-US" sz="2500" dirty="0">
                <a:solidFill>
                  <a:srgbClr val="0070C0"/>
                </a:solidFill>
                <a:highlight>
                  <a:srgbClr val="FFFF00"/>
                </a:highlight>
              </a:rPr>
              <a:t>journal publication</a:t>
            </a:r>
            <a:r>
              <a:rPr lang="en-US" altLang="en-US" sz="2500" dirty="0">
                <a:solidFill>
                  <a:srgbClr val="0070C0"/>
                </a:solidFill>
              </a:rPr>
              <a:t> is more applicable for a research student who is near completion?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altLang="en-US" sz="2500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en-US" sz="2500" dirty="0">
                <a:solidFill>
                  <a:srgbClr val="0070C0"/>
                </a:solidFill>
              </a:rPr>
              <a:t>Assume a student can produce a </a:t>
            </a:r>
            <a:r>
              <a:rPr lang="en-US" altLang="en-US" sz="2500" dirty="0">
                <a:solidFill>
                  <a:srgbClr val="0070C0"/>
                </a:solidFill>
                <a:highlight>
                  <a:srgbClr val="FFFF00"/>
                </a:highlight>
              </a:rPr>
              <a:t>thesis</a:t>
            </a:r>
            <a:r>
              <a:rPr lang="en-US" altLang="en-US" sz="2500" dirty="0">
                <a:solidFill>
                  <a:srgbClr val="0070C0"/>
                </a:solidFill>
              </a:rPr>
              <a:t> and a </a:t>
            </a:r>
            <a:r>
              <a:rPr lang="en-US" altLang="en-US" sz="2500" dirty="0">
                <a:solidFill>
                  <a:srgbClr val="0070C0"/>
                </a:solidFill>
                <a:highlight>
                  <a:srgbClr val="FFFF00"/>
                </a:highlight>
              </a:rPr>
              <a:t>Journal paper</a:t>
            </a:r>
            <a:r>
              <a:rPr lang="en-US" altLang="en-US" sz="2500" dirty="0">
                <a:solidFill>
                  <a:srgbClr val="0070C0"/>
                </a:solidFill>
              </a:rPr>
              <a:t> at the same time. Which one should be done first? </a:t>
            </a:r>
          </a:p>
          <a:p>
            <a:pPr>
              <a:defRPr/>
            </a:pPr>
            <a:endParaRPr lang="en-US" altLang="en-US" sz="25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61406615-3C96-90DD-01A5-B008037E9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VIVA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48CB1B00-B5AF-9EBB-5338-7B6E4F465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530725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A4DA6ACB-07E3-1728-A94C-CDCF3C2F0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Why Viva?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93FE3E5-932F-1709-1999-7FED3AEDE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991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Your thesis may be excellent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How do examiners know you did the project?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Let the examiners ask questions and clarify it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For that, you should defend your thesis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To test you, the examiners try to disprove you by saying </a:t>
            </a:r>
            <a:r>
              <a:rPr lang="en-US" altLang="en-US" dirty="0">
                <a:solidFill>
                  <a:srgbClr val="FF3300"/>
                </a:solidFill>
                <a:highlight>
                  <a:srgbClr val="FFFF00"/>
                </a:highlight>
              </a:rPr>
              <a:t>negative things </a:t>
            </a:r>
            <a:r>
              <a:rPr lang="en-US" altLang="en-US" dirty="0">
                <a:solidFill>
                  <a:srgbClr val="FF3300"/>
                </a:solidFill>
              </a:rPr>
              <a:t>(Evaluations)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Show that you are confident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Being overconfident is an indication of ignorance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 Confidence may also lead to adamant behavior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3333FF"/>
                </a:solidFill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solidFill>
                <a:srgbClr val="3333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C0B10-A0F8-247F-096A-D95562ADE306}"/>
              </a:ext>
            </a:extLst>
          </p:cNvPr>
          <p:cNvSpPr txBox="1"/>
          <p:nvPr/>
        </p:nvSpPr>
        <p:spPr>
          <a:xfrm>
            <a:off x="9448800" y="2286000"/>
            <a:ext cx="3236784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00"/>
                </a:solidFill>
              </a:rPr>
              <a:t>(</a:t>
            </a:r>
            <a:r>
              <a:rPr lang="en-US" dirty="0" err="1">
                <a:solidFill>
                  <a:srgbClr val="FFFF00"/>
                </a:solidFill>
              </a:rPr>
              <a:t>i</a:t>
            </a:r>
            <a:r>
              <a:rPr lang="en-US" dirty="0">
                <a:solidFill>
                  <a:srgbClr val="FFFF00"/>
                </a:solidFill>
              </a:rPr>
              <a:t>) Thesis is bad, but viva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is Good (pass with some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minor/major correction) </a:t>
            </a:r>
          </a:p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00"/>
                </a:solidFill>
              </a:rPr>
              <a:t>(2) Thesis is good, viva </a:t>
            </a:r>
          </a:p>
          <a:p>
            <a:pPr>
              <a:defRPr/>
            </a:pPr>
            <a:r>
              <a:rPr lang="en-US" dirty="0">
                <a:solidFill>
                  <a:srgbClr val="FFFF00"/>
                </a:solidFill>
              </a:rPr>
              <a:t>           bad  (fail)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294C92B-3876-929C-2014-5CAC2CD7F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What does Viva check?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4AC801C-049E-3020-FA47-5B988C500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84275"/>
            <a:ext cx="92964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>
                <a:solidFill>
                  <a:srgbClr val="0070C0"/>
                </a:solidFill>
              </a:rPr>
              <a:t>Your </a:t>
            </a:r>
            <a:r>
              <a:rPr lang="en-US" altLang="en-US" sz="2600" dirty="0">
                <a:solidFill>
                  <a:srgbClr val="0070C0"/>
                </a:solidFill>
                <a:highlight>
                  <a:srgbClr val="FFFF00"/>
                </a:highlight>
              </a:rPr>
              <a:t>solution</a:t>
            </a:r>
            <a:r>
              <a:rPr lang="en-US" altLang="en-US" sz="2600" dirty="0">
                <a:solidFill>
                  <a:srgbClr val="0070C0"/>
                </a:solidFill>
              </a:rPr>
              <a:t> (theoretical basis/soundness)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FF0000"/>
                </a:solidFill>
                <a:highlight>
                  <a:srgbClr val="FFFF00"/>
                </a:highlight>
              </a:rPr>
              <a:t>Thesis</a:t>
            </a:r>
            <a:r>
              <a:rPr lang="en-US" altLang="en-US" sz="2600" dirty="0">
                <a:solidFill>
                  <a:srgbClr val="FF0000"/>
                </a:solidFill>
              </a:rPr>
              <a:t> (written) </a:t>
            </a:r>
          </a:p>
          <a:p>
            <a:pPr eaLnBrk="1" hangingPunct="1">
              <a:defRPr/>
            </a:pPr>
            <a:r>
              <a:rPr lang="en-US" altLang="en-US" sz="2500" dirty="0">
                <a:solidFill>
                  <a:srgbClr val="0070C0"/>
                </a:solidFill>
                <a:highlight>
                  <a:srgbClr val="FFFF00"/>
                </a:highlight>
              </a:rPr>
              <a:t>Presentation (v</a:t>
            </a:r>
            <a:r>
              <a:rPr lang="en-US" altLang="en-US" sz="2500" dirty="0">
                <a:solidFill>
                  <a:srgbClr val="0070C0"/>
                </a:solidFill>
              </a:rPr>
              <a:t>erbal) - clarity, content, time, confidence, Q&amp;A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FF0000"/>
                </a:solidFill>
              </a:rPr>
              <a:t>Skills in doing a project: </a:t>
            </a:r>
            <a:r>
              <a:rPr lang="en-US" altLang="en-US" sz="2500" dirty="0">
                <a:solidFill>
                  <a:srgbClr val="FF0000"/>
                </a:solidFill>
              </a:rPr>
              <a:t>Getting on with others, facing criticisms, reaching consensus</a:t>
            </a:r>
          </a:p>
          <a:p>
            <a:pPr eaLnBrk="1" hangingPunct="1">
              <a:defRPr/>
            </a:pPr>
            <a:r>
              <a:rPr lang="en-US" altLang="en-US" sz="2600" dirty="0">
                <a:solidFill>
                  <a:srgbClr val="3333FF"/>
                </a:solidFill>
                <a:highlight>
                  <a:srgbClr val="FFFF00"/>
                </a:highlight>
              </a:rPr>
              <a:t>Exposure to the research </a:t>
            </a:r>
            <a:r>
              <a:rPr lang="en-US" altLang="en-US" sz="2600" dirty="0">
                <a:solidFill>
                  <a:srgbClr val="3333FF"/>
                </a:solidFill>
              </a:rPr>
              <a:t>area: key people, institutes, projects, journals, and conferences in your area</a:t>
            </a:r>
          </a:p>
          <a:p>
            <a:pPr lvl="1" eaLnBrk="1" hangingPunct="1">
              <a:defRPr/>
            </a:pP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en-US" sz="2600" dirty="0"/>
          </a:p>
          <a:p>
            <a:pPr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6F309BC-8760-09E5-6396-5BFF0924C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Essential Questions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5AF4A4F-EA3D-66EB-E474-AF3B0F8CB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163638"/>
            <a:ext cx="9144000" cy="49323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All the chapters bring questions ( </a:t>
            </a:r>
            <a:r>
              <a:rPr lang="en-US" altLang="en-US" dirty="0">
                <a:solidFill>
                  <a:srgbClr val="FF3300"/>
                </a:solidFill>
                <a:highlight>
                  <a:srgbClr val="FFFF00"/>
                </a:highlight>
              </a:rPr>
              <a:t>Why&gt;What </a:t>
            </a:r>
            <a:r>
              <a:rPr lang="en-US" altLang="en-US" dirty="0">
                <a:solidFill>
                  <a:srgbClr val="FF3300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Problem</a:t>
            </a:r>
            <a:r>
              <a:rPr lang="en-US" altLang="en-US" dirty="0">
                <a:solidFill>
                  <a:srgbClr val="3333FF"/>
                </a:solidFill>
              </a:rPr>
              <a:t> (sound and supported by literature),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Objectives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Your knowledge about the work done by others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Choice of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Technology</a:t>
            </a:r>
            <a:r>
              <a:rPr lang="en-US" altLang="en-US" dirty="0">
                <a:solidFill>
                  <a:srgbClr val="3333FF"/>
                </a:solidFill>
              </a:rPr>
              <a:t>(why?)/Theory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Difference in your approach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Rationale (Basis) for the design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Why implementation is done this way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How you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evaluate -</a:t>
            </a:r>
            <a:r>
              <a:rPr lang="en-US" altLang="en-US" dirty="0">
                <a:solidFill>
                  <a:srgbClr val="3333FF"/>
                </a:solidFill>
              </a:rPr>
              <a:t> Why do you get only 80% accuracy?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Achievement of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objectives</a:t>
            </a:r>
            <a:r>
              <a:rPr lang="en-US" altLang="en-US" dirty="0">
                <a:solidFill>
                  <a:srgbClr val="3333FF"/>
                </a:solidFill>
              </a:rPr>
              <a:t> – shown in chapters</a:t>
            </a:r>
          </a:p>
          <a:p>
            <a:pPr eaLnBrk="1" hangingPunct="1">
              <a:defRPr/>
            </a:pPr>
            <a:r>
              <a:rPr lang="en-US" altLang="en-US" sz="2900" dirty="0">
                <a:solidFill>
                  <a:srgbClr val="FF0000"/>
                </a:solidFill>
              </a:rPr>
              <a:t>Remember to open the slide related to the question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54093092-1E05-9461-DB8E-9F0BF370F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Vulnerable points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C8C64E54-69D7-A843-104A-69A8563FC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9753600" cy="53609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Abstract (problem, solution(A-E), conclusion)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</a:rPr>
              <a:t>Literature review (major research/projects/..)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FF3300"/>
                </a:solidFill>
              </a:rPr>
              <a:t>Choice of theory/technology/Algorithm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FF3300"/>
                </a:solidFill>
                <a:highlight>
                  <a:srgbClr val="FFFF00"/>
                </a:highlight>
              </a:rPr>
              <a:t>Design</a:t>
            </a:r>
            <a:r>
              <a:rPr lang="en-US" altLang="en-US" sz="2800" dirty="0">
                <a:solidFill>
                  <a:srgbClr val="FF3300"/>
                </a:solidFill>
              </a:rPr>
              <a:t> (modules/connections)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  <a:highlight>
                  <a:srgbClr val="FFFF00"/>
                </a:highlight>
              </a:rPr>
              <a:t>Evaluation</a:t>
            </a:r>
            <a:r>
              <a:rPr lang="en-US" altLang="en-US" sz="2800" dirty="0">
                <a:solidFill>
                  <a:srgbClr val="3333FF"/>
                </a:solidFill>
              </a:rPr>
              <a:t> (setup/strategy/test cases/participant)</a:t>
            </a:r>
          </a:p>
          <a:p>
            <a:pPr eaLnBrk="1" hangingPunct="1">
              <a:defRPr/>
            </a:pPr>
            <a:r>
              <a:rPr lang="en-US" altLang="en-US" sz="2800" dirty="0">
                <a:solidFill>
                  <a:srgbClr val="3333FF"/>
                </a:solidFill>
                <a:highlight>
                  <a:srgbClr val="FFFF00"/>
                </a:highlight>
              </a:rPr>
              <a:t>Conclusion</a:t>
            </a:r>
            <a:r>
              <a:rPr lang="en-US" altLang="en-US" sz="2800" dirty="0">
                <a:solidFill>
                  <a:srgbClr val="3333FF"/>
                </a:solidFill>
              </a:rPr>
              <a:t>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Overall conclusion - (statistically significant -80% accuracy with (95% confidence)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Objective-wise conclusion referring to </a:t>
            </a:r>
            <a:r>
              <a:rPr lang="en-US" altLang="en-US" dirty="0" err="1">
                <a:solidFill>
                  <a:srgbClr val="3333FF"/>
                </a:solidFill>
              </a:rPr>
              <a:t>chaLimitation</a:t>
            </a:r>
            <a:endParaRPr lang="en-US" altLang="en-US" dirty="0">
              <a:solidFill>
                <a:srgbClr val="3333FF"/>
              </a:solidFill>
            </a:endParaRP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Limitation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Further work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C4F36B9-7469-E589-C409-3A2449AA6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52413"/>
            <a:ext cx="8229600" cy="712787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B050"/>
                </a:solidFill>
              </a:rPr>
              <a:t>Things to remember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D430DEB-FAC8-0B8E-FE7F-842E78771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92202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3333FF"/>
                </a:solidFill>
              </a:rPr>
              <a:t>You are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the boss</a:t>
            </a:r>
            <a:r>
              <a:rPr lang="en-US" altLang="en-US" dirty="0">
                <a:solidFill>
                  <a:srgbClr val="3333FF"/>
                </a:solidFill>
              </a:rPr>
              <a:t> of your work, but the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examiner</a:t>
            </a:r>
            <a:r>
              <a:rPr lang="en-US" altLang="en-US" dirty="0">
                <a:solidFill>
                  <a:srgbClr val="3333FF"/>
                </a:solidFill>
              </a:rPr>
              <a:t> has done much research </a:t>
            </a: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before you</a:t>
            </a:r>
          </a:p>
          <a:p>
            <a:pPr eaLnBrk="1" hangingPunct="1">
              <a:defRPr/>
            </a:pPr>
            <a:r>
              <a:rPr lang="en-US" altLang="en-US" sz="2900" dirty="0">
                <a:solidFill>
                  <a:srgbClr val="FF3300"/>
                </a:solidFill>
              </a:rPr>
              <a:t>Let the </a:t>
            </a:r>
            <a:r>
              <a:rPr lang="en-US" altLang="en-US" sz="2900" dirty="0">
                <a:solidFill>
                  <a:srgbClr val="FF3300"/>
                </a:solidFill>
                <a:highlight>
                  <a:srgbClr val="FFFF00"/>
                </a:highlight>
              </a:rPr>
              <a:t>examiner</a:t>
            </a:r>
            <a:r>
              <a:rPr lang="en-US" altLang="en-US" sz="2900" dirty="0">
                <a:solidFill>
                  <a:srgbClr val="FF3300"/>
                </a:solidFill>
              </a:rPr>
              <a:t> be a </a:t>
            </a:r>
            <a:r>
              <a:rPr lang="en-US" altLang="en-US" sz="2900" dirty="0">
                <a:solidFill>
                  <a:srgbClr val="FF3300"/>
                </a:solidFill>
                <a:highlight>
                  <a:srgbClr val="FFFF00"/>
                </a:highlight>
              </a:rPr>
              <a:t>friend of yours</a:t>
            </a:r>
            <a:r>
              <a:rPr lang="en-US" altLang="en-US" sz="2900" dirty="0">
                <a:solidFill>
                  <a:srgbClr val="FF3300"/>
                </a:solidFill>
              </a:rPr>
              <a:t> after the viva</a:t>
            </a:r>
          </a:p>
          <a:p>
            <a:pPr eaLnBrk="1" hangingPunct="1">
              <a:defRPr/>
            </a:pPr>
            <a:r>
              <a:rPr lang="en-US" altLang="en-US" sz="2900" dirty="0">
                <a:solidFill>
                  <a:srgbClr val="FF3300"/>
                </a:solidFill>
                <a:highlight>
                  <a:srgbClr val="FFFF00"/>
                </a:highlight>
              </a:rPr>
              <a:t>Examiner thinks </a:t>
            </a:r>
            <a:r>
              <a:rPr lang="en-US" altLang="en-US" sz="2900" dirty="0">
                <a:solidFill>
                  <a:srgbClr val="FF3300"/>
                </a:solidFill>
              </a:rPr>
              <a:t>that he knows better than the </a:t>
            </a:r>
            <a:r>
              <a:rPr lang="en-US" altLang="en-US" sz="2900" dirty="0">
                <a:solidFill>
                  <a:srgbClr val="FF3300"/>
                </a:solidFill>
                <a:highlight>
                  <a:srgbClr val="FFFF00"/>
                </a:highlight>
              </a:rPr>
              <a:t>student or the supervisor</a:t>
            </a:r>
            <a:r>
              <a:rPr lang="en-US" altLang="en-US" sz="2900" dirty="0">
                <a:highlight>
                  <a:srgbClr val="FFFF00"/>
                </a:highlight>
              </a:rPr>
              <a:t> 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3333FF"/>
                </a:solidFill>
                <a:highlight>
                  <a:srgbClr val="FFFF00"/>
                </a:highlight>
              </a:rPr>
              <a:t>Research for a degree is </a:t>
            </a:r>
            <a:r>
              <a:rPr lang="en-US" altLang="en-US" dirty="0">
                <a:solidFill>
                  <a:srgbClr val="3333FF"/>
                </a:solidFill>
              </a:rPr>
              <a:t>only a license to do research 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FF3300"/>
                </a:solidFill>
              </a:rPr>
              <a:t>Never interpret unachieved objectives as </a:t>
            </a:r>
            <a:r>
              <a:rPr lang="en-US" altLang="en-US" dirty="0">
                <a:solidFill>
                  <a:srgbClr val="FF3300"/>
                </a:solidFill>
                <a:highlight>
                  <a:srgbClr val="FFFF00"/>
                </a:highlight>
              </a:rPr>
              <a:t>further work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0070C0"/>
                </a:solidFill>
              </a:rPr>
              <a:t>Never bring the examiner to the beginning </a:t>
            </a:r>
          </a:p>
          <a:p>
            <a:pPr eaLnBrk="1" hangingPunct="1">
              <a:defRPr/>
            </a:pPr>
            <a:endParaRPr lang="en-US" altLang="en-US" dirty="0">
              <a:solidFill>
                <a:srgbClr val="FF3300"/>
              </a:solidFill>
            </a:endParaRP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15349</TotalTime>
  <Words>7969</Words>
  <Application>Microsoft Office PowerPoint</Application>
  <PresentationFormat>On-screen Show (4:3)</PresentationFormat>
  <Paragraphs>1233</Paragraphs>
  <Slides>90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5" baseType="lpstr">
      <vt:lpstr>Arial</vt:lpstr>
      <vt:lpstr>Calibri</vt:lpstr>
      <vt:lpstr>Garamond</vt:lpstr>
      <vt:lpstr>Wingdings</vt:lpstr>
      <vt:lpstr>Edge</vt:lpstr>
      <vt:lpstr>IT 5913 – Scientific Communication Problem + Solution </vt:lpstr>
      <vt:lpstr>PowerPoint Presentation</vt:lpstr>
      <vt:lpstr>Resource required</vt:lpstr>
      <vt:lpstr>Overview</vt:lpstr>
      <vt:lpstr>INTRODUCTION</vt:lpstr>
      <vt:lpstr>Why we communicate?</vt:lpstr>
      <vt:lpstr>Why do we communicate?</vt:lpstr>
      <vt:lpstr>Why do we communicate?</vt:lpstr>
      <vt:lpstr>PowerPoint Presentation</vt:lpstr>
      <vt:lpstr>Exercise</vt:lpstr>
      <vt:lpstr>Means of communication</vt:lpstr>
      <vt:lpstr>Means of communication….</vt:lpstr>
      <vt:lpstr>Storytelling</vt:lpstr>
      <vt:lpstr>Aspects of Communications</vt:lpstr>
      <vt:lpstr>Elements of a language</vt:lpstr>
      <vt:lpstr>Exercise 1</vt:lpstr>
      <vt:lpstr>Some questions about writing</vt:lpstr>
      <vt:lpstr>Translation </vt:lpstr>
      <vt:lpstr>Why are some reluctant to write?</vt:lpstr>
      <vt:lpstr>Why are some reluctant to write?</vt:lpstr>
      <vt:lpstr>Exercise 1</vt:lpstr>
      <vt:lpstr>Issues with our own students</vt:lpstr>
      <vt:lpstr>Issues with our students…..</vt:lpstr>
      <vt:lpstr>Issues with our own students…..</vt:lpstr>
      <vt:lpstr>Exercise 2</vt:lpstr>
      <vt:lpstr>Summary of improvements</vt:lpstr>
      <vt:lpstr>Preparing for Exams</vt:lpstr>
      <vt:lpstr>READING</vt:lpstr>
      <vt:lpstr>Why Reading?</vt:lpstr>
      <vt:lpstr>Note</vt:lpstr>
      <vt:lpstr>Some Sources for reading</vt:lpstr>
      <vt:lpstr>Jargons in scientific publications</vt:lpstr>
      <vt:lpstr>Planning for a research paper</vt:lpstr>
      <vt:lpstr>How to publish a paper</vt:lpstr>
      <vt:lpstr>Exercise</vt:lpstr>
      <vt:lpstr>Reading Exercise </vt:lpstr>
      <vt:lpstr>By the time of Viva</vt:lpstr>
      <vt:lpstr>Psychology of reading/writing</vt:lpstr>
      <vt:lpstr>Note</vt:lpstr>
      <vt:lpstr>Exercise to gain mindfulness</vt:lpstr>
      <vt:lpstr>Forward/backward incremental reading</vt:lpstr>
      <vt:lpstr>Homework</vt:lpstr>
      <vt:lpstr>How to improve your reading</vt:lpstr>
      <vt:lpstr>Practice of reading</vt:lpstr>
      <vt:lpstr>How to improve your reading</vt:lpstr>
      <vt:lpstr>How to improve your reading</vt:lpstr>
      <vt:lpstr>How to write a summary</vt:lpstr>
      <vt:lpstr>Example for a summary</vt:lpstr>
      <vt:lpstr>Exercise</vt:lpstr>
      <vt:lpstr>Understanding in reading</vt:lpstr>
      <vt:lpstr>WRITING</vt:lpstr>
      <vt:lpstr>Types of writings</vt:lpstr>
      <vt:lpstr>Scientific Writing</vt:lpstr>
      <vt:lpstr>About the Problem/Technological gap</vt:lpstr>
      <vt:lpstr>About the Solution</vt:lpstr>
      <vt:lpstr>Knowing the problem/gap &amp; technology</vt:lpstr>
      <vt:lpstr>Framework for writing</vt:lpstr>
      <vt:lpstr>Blank-page fear</vt:lpstr>
      <vt:lpstr>Building Blocks in Scientific Writing</vt:lpstr>
      <vt:lpstr>Scientific docs and their purposes</vt:lpstr>
      <vt:lpstr>Exercise</vt:lpstr>
      <vt:lpstr>Writing a Project Proposal</vt:lpstr>
      <vt:lpstr>Writing a Project Proposal ….</vt:lpstr>
      <vt:lpstr>Progress Review Report</vt:lpstr>
      <vt:lpstr>Exercise</vt:lpstr>
      <vt:lpstr>Paper for a conference/Journal</vt:lpstr>
      <vt:lpstr>Structure for a conference paper (incomplete) </vt:lpstr>
      <vt:lpstr>Structure of paper for a conference</vt:lpstr>
      <vt:lpstr>Paper for a Journal</vt:lpstr>
      <vt:lpstr>Discussions..</vt:lpstr>
      <vt:lpstr>Discussion..</vt:lpstr>
      <vt:lpstr>Thesis</vt:lpstr>
      <vt:lpstr>All in the Thesis</vt:lpstr>
      <vt:lpstr>Homework -Develop your Proposal</vt:lpstr>
      <vt:lpstr>Start the project</vt:lpstr>
      <vt:lpstr>PRESENTATIONS</vt:lpstr>
      <vt:lpstr>Presentations – general points</vt:lpstr>
      <vt:lpstr>Presentations – general points…</vt:lpstr>
      <vt:lpstr>Presentations – key points</vt:lpstr>
      <vt:lpstr>Structure of a Presentation</vt:lpstr>
      <vt:lpstr>Exercise</vt:lpstr>
      <vt:lpstr>Homework</vt:lpstr>
      <vt:lpstr>What does the audience expect?</vt:lpstr>
      <vt:lpstr>Exercise</vt:lpstr>
      <vt:lpstr>VIVA</vt:lpstr>
      <vt:lpstr>Why Viva?</vt:lpstr>
      <vt:lpstr>What does Viva check?</vt:lpstr>
      <vt:lpstr>Essential Questions</vt:lpstr>
      <vt:lpstr>Vulnerable points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 Karunananda</dc:creator>
  <cp:lastModifiedBy>Asoka Karunananda</cp:lastModifiedBy>
  <cp:revision>749</cp:revision>
  <cp:lastPrinted>1601-01-01T00:00:00Z</cp:lastPrinted>
  <dcterms:created xsi:type="dcterms:W3CDTF">1601-01-01T00:00:00Z</dcterms:created>
  <dcterms:modified xsi:type="dcterms:W3CDTF">2026-08-09T12:53:04Z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