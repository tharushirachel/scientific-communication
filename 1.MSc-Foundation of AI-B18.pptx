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10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7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6.xml" ContentType="application/vnd.openxmlformats-officedocument.presentationml.slide+xml"/>
  <Override PartName="/ppt/slides/slide105.xml" ContentType="application/vnd.openxmlformats-officedocument.presentationml.slide+xml"/>
  <Override PartName="/ppt/slides/slide104.xml" ContentType="application/vnd.openxmlformats-officedocument.presentationml.slide+xml"/>
  <Override PartName="/ppt/slides/slide100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97.xml" ContentType="application/vnd.openxmlformats-officedocument.presentationml.slide+xml"/>
  <Override PartName="/ppt/slides/slide94.xml" ContentType="application/vnd.openxmlformats-officedocument.presentationml.slide+xml"/>
  <Override PartName="/ppt/slides/slide89.xml" ContentType="application/vnd.openxmlformats-officedocument.presentationml.slide+xml"/>
  <Override PartName="/ppt/slides/slide88.xml" ContentType="application/vnd.openxmlformats-officedocument.presentationml.slide+xml"/>
  <Override PartName="/ppt/slides/slide93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86.xml" ContentType="application/vnd.openxmlformats-officedocument.presentationml.slide+xml"/>
  <Override PartName="/ppt/slides/slide85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94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0.xml" ContentType="application/vnd.openxmlformats-officedocument.presentationml.notesSlide+xml"/>
  <Override PartName="/ppt/slides/slide77.xml" ContentType="application/vnd.openxmlformats-officedocument.presentationml.slide+xml"/>
  <Override PartName="/ppt/slides/slide75.xml" ContentType="application/vnd.openxmlformats-officedocument.presentationml.slide+xml"/>
  <Override PartName="/ppt/slides/slide84.xml" ContentType="application/vnd.openxmlformats-officedocument.presentationml.slide+xml"/>
  <Override PartName="/ppt/slides/slide73.xml" ContentType="application/vnd.openxmlformats-officedocument.presentationml.slide+xml"/>
  <Override PartName="/ppt/slides/slide69.xml" ContentType="application/vnd.openxmlformats-officedocument.presentationml.slide+xml"/>
  <Override PartName="/ppt/notesSlides/notesSlide82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67.xml" ContentType="application/vnd.openxmlformats-officedocument.presentationml.slide+xml"/>
  <Override PartName="/ppt/slides/slide66.xml" ContentType="application/vnd.openxmlformats-officedocument.presentationml.slide+xml"/>
  <Override PartName="/ppt/slides/slide98.xml" ContentType="application/vnd.openxmlformats-officedocument.presentationml.slide+xml"/>
  <Override PartName="/ppt/slides/slide76.xml" ContentType="application/vnd.openxmlformats-officedocument.presentationml.slide+xml"/>
  <Override PartName="/ppt/slides/slide65.xml" ContentType="application/vnd.openxmlformats-officedocument.presentationml.slide+xml"/>
  <Override PartName="/ppt/slides/slide64.xml" ContentType="application/vnd.openxmlformats-officedocument.presentationml.slide+xml"/>
  <Override PartName="/ppt/slides/slide78.xml" ContentType="application/vnd.openxmlformats-officedocument.presentationml.slide+xml"/>
  <Override PartName="/ppt/slides/slide63.xml" ContentType="application/vnd.openxmlformats-officedocument.presentationml.slide+xml"/>
  <Override PartName="/ppt/notesSlides/notesSlide5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s/slide58.xml" ContentType="application/vnd.openxmlformats-officedocument.presentationml.slide+xml"/>
  <Override PartName="/ppt/slides/slide57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9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72.xml" ContentType="application/vnd.openxmlformats-officedocument.presentationml.slide+xml"/>
  <Override PartName="/ppt/slides/slide92.xml" ContentType="application/vnd.openxmlformats-officedocument.presentationml.slide+xml"/>
  <Override PartName="/ppt/notesSlides/notesSlide96.xml" ContentType="application/vnd.openxmlformats-officedocument.presentationml.notesSlide+xml"/>
  <Override PartName="/ppt/notesSlides/notesSlide87.xml" ContentType="application/vnd.openxmlformats-officedocument.presentationml.notesSlide+xml"/>
  <Override PartName="/ppt/slides/slide41.xml" ContentType="application/vnd.openxmlformats-officedocument.presentationml.slide+xml"/>
  <Override PartName="/ppt/slides/slide46.xml" ContentType="application/vnd.openxmlformats-officedocument.presentationml.slide+xml"/>
  <Override PartName="/ppt/slides/slide51.xml" ContentType="application/vnd.openxmlformats-officedocument.presentationml.slide+xml"/>
  <Override PartName="/ppt/notesSlides/notesSlide102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32.xml" ContentType="application/vnd.openxmlformats-officedocument.presentationml.slide+xml"/>
  <Override PartName="/ppt/slides/slide91.xml" ContentType="application/vnd.openxmlformats-officedocument.presentationml.slide+xml"/>
  <Override PartName="/ppt/slides/slide36.xml" ContentType="application/vnd.openxmlformats-officedocument.presentationml.slide+xml"/>
  <Override PartName="/ppt/slides/slide30.xml" ContentType="application/vnd.openxmlformats-officedocument.presentationml.slide+xml"/>
  <Override PartName="/ppt/notesSlides/notesSlide65.xml" ContentType="application/vnd.openxmlformats-officedocument.presentationml.notesSlide+xml"/>
  <Override PartName="/ppt/notesSlides/notesSlide36.xml" ContentType="application/vnd.openxmlformats-officedocument.presentationml.notesSlide+xml"/>
  <Override PartName="/ppt/slides/slide28.xml" ContentType="application/vnd.openxmlformats-officedocument.presentationml.slide+xml"/>
  <Override PartName="/ppt/slides/slide34.xml" ContentType="application/vnd.openxmlformats-officedocument.presentationml.slide+xml"/>
  <Override PartName="/ppt/slides/slide27.xml" ContentType="application/vnd.openxmlformats-officedocument.presentationml.slide+xml"/>
  <Override PartName="/ppt/slides/slide24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95.xml" ContentType="application/vnd.openxmlformats-officedocument.presentationml.slide+xml"/>
  <Override PartName="/ppt/slides/slide15.xml" ContentType="application/vnd.openxmlformats-officedocument.presentationml.slide+xml"/>
  <Override PartName="/ppt/slides/slide61.xml" ContentType="application/vnd.openxmlformats-officedocument.presentationml.slide+xml"/>
  <Override PartName="/ppt/slides/slide14.xml" ContentType="application/vnd.openxmlformats-officedocument.presentationml.slide+xml"/>
  <Override PartName="/ppt/slides/slide87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9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43.xml" ContentType="application/vnd.openxmlformats-officedocument.presentationml.slide+xml"/>
  <Override PartName="/ppt/slides/slide80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42.xml" ContentType="application/vnd.openxmlformats-officedocument.presentationml.slide+xml"/>
  <Override PartName="/ppt/slides/slide9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10.xml" ContentType="application/vnd.openxmlformats-officedocument.presentationml.slide+xml"/>
  <Override PartName="/ppt/slides/slide35.xml" ContentType="application/vnd.openxmlformats-officedocument.presentationml.slide+xml"/>
  <Override PartName="/ppt/slides/slide6.xml" ContentType="application/vnd.openxmlformats-officedocument.presentationml.slide+xml"/>
  <Override PartName="/ppt/slides/slide68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56.xml" ContentType="application/vnd.openxmlformats-officedocument.presentationml.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s/slide7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29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4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s/slide96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5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71.xml" ContentType="application/vnd.openxmlformats-officedocument.presentationml.slide+xml"/>
  <Override PartName="/ppt/slides/slide102.xml" ContentType="application/vnd.openxmlformats-officedocument.presentationml.slide+xml"/>
  <Override PartName="/ppt/notesSlides/notesSlide14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Slides/notesSlide61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s/slide109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slides/slide59.xml" ContentType="application/vnd.openxmlformats-officedocument.presentationml.slide+xml"/>
  <Override PartName="/ppt/slides/slide49.xml" ContentType="application/vnd.openxmlformats-officedocument.presentationml.slide+xml"/>
  <Override PartName="/ppt/notesSlides/notesSlide34.xml" ContentType="application/vnd.openxmlformats-officedocument.presentationml.notesSlide+xml"/>
  <Override PartName="/ppt/theme/theme2.xml" ContentType="application/vnd.openxmlformats-officedocument.theme+xml"/>
  <Override PartName="/ppt/slides/slide4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5.xml" ContentType="application/vnd.openxmlformats-officedocument.presentationml.slide+xml"/>
  <Override PartName="/ppt/slides/slide60.xml" ContentType="application/vnd.openxmlformats-officedocument.presentationml.slide+xml"/>
  <Override PartName="/ppt/slides/slide70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slides/slide90.xml" ContentType="application/vnd.openxmlformats-officedocument.presentationml.slide+xml"/>
  <Override PartName="/ppt/viewProps.xml" ContentType="application/vnd.openxmlformats-officedocument.presentationml.viewProps+xml"/>
  <Override PartName="/ppt/slides/slide74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notesSlides/notesSlide50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47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3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38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s/slide62.xml" ContentType="application/vnd.openxmlformats-officedocument.presentationml.slide+xml"/>
  <Override PartName="/ppt/theme/theme1.xml" ContentType="application/vnd.openxmlformats-officedocument.theme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  <p:sldMasterId id="2147483650" r:id="rId2"/>
  </p:sldMasterIdLst>
  <p:notesMasterIdLst>
    <p:notesMasterId r:id="rId1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</p:sldIdLst>
  <p:sldSz cx="9144000" cy="6858000"/>
  <p:notesSz cx="6781800" cy="9926625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BE508B7-5C0A-4AB1-BE71-38C4D81AF5E0}">
  <a:tblStyle styleId="{6BE508B7-5C0A-4AB1-BE71-38C4D81AF5E0}" styleName="Table_0">
    <a:wholeTbl>
      <a:tcTxStyle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 /><Relationship Id="rId118" Type="http://schemas.openxmlformats.org/officeDocument/2006/relationships/tableStyles" Target="tableStyles.xml" /><Relationship Id="rId1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0313896" name="Google Shape;3;n"/>
          <p:cNvSpPr txBox="1"/>
          <p:nvPr>
            <p:ph type="hdr" idx="2"/>
          </p:nvPr>
        </p:nvSpPr>
        <p:spPr bwMode="auto">
          <a:xfrm>
            <a:off x="0" y="0"/>
            <a:ext cx="29400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31700897" name="Google Shape;4;n"/>
          <p:cNvSpPr txBox="1"/>
          <p:nvPr>
            <p:ph type="dt" idx="10"/>
          </p:nvPr>
        </p:nvSpPr>
        <p:spPr bwMode="auto">
          <a:xfrm>
            <a:off x="3840162" y="0"/>
            <a:ext cx="29400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48472013" name="Google Shape;5;n"/>
          <p:cNvSpPr/>
          <p:nvPr>
            <p:ph type="sldImg" idx="3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9219117" name="Google Shape;6;n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pPr>
              <a:defRPr/>
            </a:pPr>
            <a:endParaRPr/>
          </a:p>
        </p:txBody>
      </p:sp>
      <p:sp>
        <p:nvSpPr>
          <p:cNvPr id="2089167667" name="Google Shape;7;n"/>
          <p:cNvSpPr txBox="1"/>
          <p:nvPr>
            <p:ph type="ftr" idx="11"/>
          </p:nvPr>
        </p:nvSpPr>
        <p:spPr bwMode="auto">
          <a:xfrm>
            <a:off x="0" y="9428162"/>
            <a:ext cx="29400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896892341" name="Google Shape;8;n"/>
          <p:cNvSpPr txBox="1"/>
          <p:nvPr>
            <p:ph type="sldNum" idx="12"/>
          </p:nvPr>
        </p:nvSpPr>
        <p:spPr bwMode="auto">
          <a:xfrm>
            <a:off x="3840162" y="9428162"/>
            <a:ext cx="29400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 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 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 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 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 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 ?>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 ?>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 ?>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 ?>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 ?>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 ?>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 ?>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 ?>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 ?>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 ?>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 ?>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 ?>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 ?>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 ?>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 ?>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 ?>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 ?>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 ?>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 ?>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 ?>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 ?>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 ?>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 ?>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 ?>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 ?>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 ?>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 ?>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 ?>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 ?>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 ?>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293140" name="Google Shape;95;p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06950770" name="Google Shape;96;p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513317" name="Google Shape;103;p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3399263" name="Google Shape;104;p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568253" name="Google Shape;110;p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9044723" name="Google Shape;111;p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02963" name="Google Shape;118;p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33436002" name="Google Shape;119;p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442795" name="Google Shape;126;p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76322764" name="Google Shape;127;p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6954" name="Google Shape;133;p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29630899" name="Google Shape;134;p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980294" name="Google Shape;140;p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26005248" name="Google Shape;141;p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682725" name="Google Shape;150;p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71649375" name="Google Shape;151;p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62396" name="Google Shape;156;p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78649087" name="Google Shape;157;p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125752" name="Google Shape;166;p1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5249997" name="Google Shape;167;p1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23945925" name="Google Shape;168;p10:notes"/>
          <p:cNvSpPr txBox="1"/>
          <p:nvPr/>
        </p:nvSpPr>
        <p:spPr bwMode="auto">
          <a:xfrm>
            <a:off x="3840162" y="9428162"/>
            <a:ext cx="29400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756202" name="Google Shape;177;p1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9467221" name="Google Shape;178;p1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423841" name="Google Shape;184;p1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95126625" name="Google Shape;185;p1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171405" name="Google Shape;191;p1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25339723" name="Google Shape;192;p1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022361" name="Google Shape;199;p1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54790379" name="Google Shape;200;p1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396113" name="Google Shape;206;p1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5992792" name="Google Shape;207;p1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24444429" name="Google Shape;208;p15:notes"/>
          <p:cNvSpPr txBox="1"/>
          <p:nvPr/>
        </p:nvSpPr>
        <p:spPr bwMode="auto">
          <a:xfrm>
            <a:off x="3840162" y="9428162"/>
            <a:ext cx="29400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783411" name="Google Shape;213;p1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282367" name="Google Shape;214;p1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653940" name="Google Shape;228;p1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93361770" name="Google Shape;229;p1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853475" name="Google Shape;235;p1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76780182" name="Google Shape;236;p1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896541" name="Google Shape;243;p1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14001781" name="Google Shape;244;p1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84193" name="Google Shape;250;p2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16791637" name="Google Shape;251;p2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22436" name="Google Shape;257;p2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99117131" name="Google Shape;258;p2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221753" name="Google Shape;264;p2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89743903" name="Google Shape;265;p2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307844" name="Google Shape;272;p2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1514669" name="Google Shape;273;p2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33720407" name="Google Shape;274;p23:notes"/>
          <p:cNvSpPr txBox="1"/>
          <p:nvPr/>
        </p:nvSpPr>
        <p:spPr bwMode="auto">
          <a:xfrm>
            <a:off x="3840162" y="9428162"/>
            <a:ext cx="29400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460730" name="Google Shape;295;p2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37159640" name="Google Shape;296;p2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572456" name="Google Shape;302;p2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92577149" name="Google Shape;303;p2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5893464" name="Google Shape;332;p2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95641936" name="Google Shape;333;p2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093217" name="Google Shape;339;p2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5445262" name="Google Shape;340;p2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926395" name="Google Shape;347;p2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37533024" name="Google Shape;348;p2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2699966" name="Google Shape;354;p2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56312228" name="Google Shape;355;p2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316190" name="Google Shape;362;p3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55793623" name="Google Shape;363;p3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558215" name="Google Shape;369;p3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6123546" name="Google Shape;370;p3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336331" name="Google Shape;376;p3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6819574" name="Google Shape;377;p3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125832" name="Google Shape;398;p3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28952976" name="Google Shape;399;p3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178409" name="Google Shape;405;p3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69077750" name="Google Shape;406;p3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364039" name="Google Shape;412;p3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22008710" name="Google Shape;413;p3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096001" name="Google Shape;425;p3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38961680" name="Google Shape;426;p3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298637" name="Google Shape;449;p3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89627998" name="Google Shape;450;p3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1835054" name="Google Shape;457;p3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87331657" name="Google Shape;458;p3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935807" name="Google Shape;464;p3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60278064" name="Google Shape;465;p3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253071" name="Google Shape;473;p4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74263201" name="Google Shape;474;p4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893898" name="Google Shape;481;p4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1637745" name="Google Shape;482;p4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856074" name="Google Shape;488;p4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52136483" name="Google Shape;489;p4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231894" name="Google Shape;494;p4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32273921" name="Google Shape;495;p4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00788" name="Google Shape;548;p4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6558781" name="Google Shape;549;p4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167342" name="Google Shape;557;p4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30291036" name="Google Shape;558;p4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051967" name="Google Shape;563;p4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27417756" name="Google Shape;564;p4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066886" name="Google Shape;617;p4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96831742" name="Google Shape;618;p4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169988" name="Google Shape;623;p4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98054816" name="Google Shape;624;p4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363172" name="Google Shape;640;p4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70294277" name="Google Shape;641;p4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946847" name="Google Shape;646;p5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08151984" name="Google Shape;647;p5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23582" name="Google Shape;654;p5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16438546" name="Google Shape;655;p5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784838" name="Google Shape;690;p5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60616224" name="Google Shape;691;p5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523406" name="Google Shape;703;p5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84806246" name="Google Shape;704;p5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062124" name="Google Shape;710;p5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32576147" name="Google Shape;711;p5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018188" name="Google Shape;721;p5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72735025" name="Google Shape;722;p5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4507530" name="Google Shape;728;p5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25598968" name="Google Shape;729;p5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758309" name="Google Shape;736;p5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53578" name="Google Shape;737;p5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75604000" name="Google Shape;738;p57:notes"/>
          <p:cNvSpPr txBox="1"/>
          <p:nvPr/>
        </p:nvSpPr>
        <p:spPr bwMode="auto">
          <a:xfrm>
            <a:off x="3840162" y="9428162"/>
            <a:ext cx="294005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fld id="{00000000-1234-1234-1234-123412341234}" type="slidenum">
              <a:rPr lang="en-US" sz="12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</p:spTree>
  </p:cSld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57302" name="Google Shape;745;p5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29415197" name="Google Shape;746;p5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702173" name="Google Shape;752;p5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29742099" name="Google Shape;753;p5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53298" name="Google Shape;759;p6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92623813" name="Google Shape;760;p6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821893" name="Google Shape;766;p6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07548170" name="Google Shape;767;p6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98392" name="Google Shape;773;p6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80376733" name="Google Shape;774;p6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814463" name="Google Shape;780;p6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68980361" name="Google Shape;781;p6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340128" name="Google Shape;806;p6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85827106" name="Google Shape;807;p6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703674" name="Google Shape;833;p6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80351500" name="Google Shape;834;p6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210530" name="Google Shape;840;p6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99109859" name="Google Shape;841;p6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705226" name="Google Shape;847;p6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09473082" name="Google Shape;848;p6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023272" name="Google Shape;854;p6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58418329" name="Google Shape;855;p6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049310" name="Google Shape;861;p6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62766038" name="Google Shape;862;p6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932071" name="Google Shape;868;p7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39526884" name="Google Shape;869;p7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817834" name="Google Shape;875;p7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08491862" name="Google Shape;876;p7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860418" name="Google Shape;882;p7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33823837" name="Google Shape;883;p7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703367" name="Google Shape;890;p7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53262583" name="Google Shape;891;p7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89022" name="Google Shape;897;p7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2672567" name="Google Shape;898;p7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82668" name="Google Shape;904;p7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2467529" name="Google Shape;905;p7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0801636" name="Google Shape;911;p7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90969926" name="Google Shape;912;p7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370087" name="Google Shape;918;p7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93717654" name="Google Shape;919;p7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685532" name="Google Shape;925;p7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12652739" name="Google Shape;926;p7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736744" name="Google Shape;946;p7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4021033" name="Google Shape;947;p7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231124" name="Google Shape;953;p8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88162769" name="Google Shape;954;p8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000413" name="Google Shape;960;p8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205117" name="Google Shape;961;p8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935708" name="Google Shape;968;p8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000659" name="Google Shape;969;p8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050323" name="Google Shape;975;p8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47040039" name="Google Shape;976;p8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6566087" name="Google Shape;982;p8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40211230" name="Google Shape;983;p8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9210810" name="Google Shape;990;p8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68032599" name="Google Shape;991;p8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8510" name="Google Shape;997;p8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417799" name="Google Shape;998;p8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064180" name="Google Shape;1005;p8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9670199" name="Google Shape;1006;p8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544336" name="Google Shape;1012;p8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76698924" name="Google Shape;1013;p8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7914219" name="Google Shape;1020;p8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53410770" name="Google Shape;1021;p8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476357" name="Google Shape;1028;p9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56219383" name="Google Shape;1029;p9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618651" name="Google Shape;1035;p9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45912617" name="Google Shape;1036;p9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200800" name="Google Shape;1042;p9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31862406" name="Google Shape;1043;p9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680313" name="Google Shape;1050;p9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2437288" name="Google Shape;1051;p9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754013" name="Google Shape;1058;p9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61969244" name="Google Shape;1059;p9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273090" name="Google Shape;1066;p9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69438719" name="Google Shape;1067;p9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433236" name="Google Shape;1073;p9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4313348" name="Google Shape;1074;p9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262215" name="Google Shape;1083;p9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02111051" name="Google Shape;1084;p9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90901" name="Google Shape;1091;p9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30402437" name="Google Shape;1092;p9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971464" name="Google Shape;1099;p9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21343661" name="Google Shape;1100;p9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475294" name="Google Shape;1106;p10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64181151" name="Google Shape;1107;p10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683934" name="Google Shape;1113;p101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05666305" name="Google Shape;1114;p101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162216" name="Google Shape;1120;p102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71366286" name="Google Shape;1121;p102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063107" name="Google Shape;1127;p103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1682526" name="Google Shape;1128;p103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893716" name="Google Shape;1134;p104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04098218" name="Google Shape;1135;p104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597890" name="Google Shape;1141;p105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47521117" name="Google Shape;1142;p105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441871" name="Google Shape;1148;p106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11242975" name="Google Shape;1149;p106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28303" name="Google Shape;1156;p107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86841540" name="Google Shape;1157;p107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842758" name="Google Shape;1164;p108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99971059" name="Google Shape;1165;p108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16104" name="Google Shape;1171;p109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33639134" name="Google Shape;1172;p109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723287" name="Google Shape;1237;p110:notes"/>
          <p:cNvSpPr txBox="1"/>
          <p:nvPr>
            <p:ph type="body" idx="1"/>
          </p:nvPr>
        </p:nvSpPr>
        <p:spPr bwMode="auto">
          <a:xfrm>
            <a:off x="679450" y="4716462"/>
            <a:ext cx="5422900" cy="4465637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5673051" name="Google Shape;1238;p110:notes"/>
          <p:cNvSpPr/>
          <p:nvPr>
            <p:ph type="sldImg" idx="2"/>
          </p:nvPr>
        </p:nvSpPr>
        <p:spPr bwMode="auto">
          <a:xfrm>
            <a:off x="909637" y="744537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146866" name="Google Shape;18;p112"/>
          <p:cNvSpPr txBox="1"/>
          <p:nvPr>
            <p:ph type="ctrTitle"/>
          </p:nvPr>
        </p:nvSpPr>
        <p:spPr bwMode="auto">
          <a:xfrm>
            <a:off x="914400" y="1524000"/>
            <a:ext cx="7623174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4112354" name="Google Shape;19;p112"/>
          <p:cNvSpPr txBox="1"/>
          <p:nvPr>
            <p:ph type="subTitle" idx="1"/>
          </p:nvPr>
        </p:nvSpPr>
        <p:spPr bwMode="auto">
          <a:xfrm>
            <a:off x="1981200" y="3962400"/>
            <a:ext cx="65532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None/>
              <a:defRPr sz="2800"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8253686" name="Google Shape;20;p112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4893257" name="Google Shape;21;p112"/>
          <p:cNvSpPr txBox="1"/>
          <p:nvPr>
            <p:ph type="ftr" idx="11"/>
          </p:nvPr>
        </p:nvSpPr>
        <p:spPr bwMode="auto"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3730904" name="Google Shape;22;p112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338696" name="Google Shape;32;p114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62876478" name="Google Shape;33;p114"/>
          <p:cNvSpPr txBox="1"/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marL="3200400" lvl="6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marL="3657600" lvl="7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marL="4114800" lvl="8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3156009" name="Google Shape;34;p114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8946251" name="Google Shape;35;p114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1337550" name="Google Shape;36;p114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858542" name="Google Shape;38;p115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6309007" name="Google Shape;39;p115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9943269" name="Google Shape;40;p115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99632" name="Google Shape;42;p116"/>
          <p:cNvSpPr txBox="1"/>
          <p:nvPr>
            <p:ph type="title"/>
          </p:nvPr>
        </p:nvSpPr>
        <p:spPr bwMode="auto">
          <a:xfrm rot="5400000">
            <a:off x="4731544" y="2175669"/>
            <a:ext cx="585311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5663573" name="Google Shape;43;p116"/>
          <p:cNvSpPr txBox="1"/>
          <p:nvPr>
            <p:ph type="body" idx="1"/>
          </p:nvPr>
        </p:nvSpPr>
        <p:spPr bwMode="auto">
          <a:xfrm rot="5400000">
            <a:off x="540544" y="194469"/>
            <a:ext cx="585311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marL="3200400" lvl="6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marL="3657600" lvl="7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marL="4114800" lvl="8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7690494" name="Google Shape;44;p116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8173163" name="Google Shape;45;p116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9198272" name="Google Shape;46;p116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127104" name="Google Shape;48;p117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93167926" name="Google Shape;49;p117"/>
          <p:cNvSpPr txBox="1"/>
          <p:nvPr>
            <p:ph type="body" idx="1"/>
          </p:nvPr>
        </p:nvSpPr>
        <p:spPr bwMode="auto">
          <a:xfrm rot="5400000">
            <a:off x="2306638" y="-249237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marL="3200400" lvl="6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marL="3657600" lvl="7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marL="4114800" lvl="8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5599102" name="Google Shape;50;p117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3303599" name="Google Shape;51;p117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0730860" name="Google Shape;52;p117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722020" name="Google Shape;54;p118"/>
          <p:cNvSpPr txBox="1"/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6482977" name="Google Shape;55;p118"/>
          <p:cNvSpPr/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532300673" name="Google Shape;56;p118"/>
          <p:cNvSpPr txBox="1"/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1108133273" name="Google Shape;57;p118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0837027" name="Google Shape;58;p118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50750095" name="Google Shape;59;p118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373620" name="Google Shape;61;p119"/>
          <p:cNvSpPr txBox="1"/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6010175" name="Google Shape;62;p119"/>
          <p:cNvSpPr txBox="1"/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640"/>
              </a:spcBef>
              <a:spcAft>
                <a:spcPts val="0"/>
              </a:spcAft>
              <a:buSzPts val="2080"/>
              <a:buChar char="■"/>
              <a:defRPr sz="3200"/>
            </a:lvl1pPr>
            <a:lvl2pPr marL="914400" lvl="1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2pPr>
            <a:lvl3pPr marL="1371600" lvl="2" indent="-32766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❑"/>
              <a:defRPr sz="2000"/>
            </a:lvl4pPr>
            <a:lvl5pPr marL="2286000" lvl="4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5pPr>
            <a:lvl6pPr marL="2743200" lvl="5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6pPr>
            <a:lvl7pPr marL="3200400" lvl="6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7pPr>
            <a:lvl8pPr marL="3657600" lvl="7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8pPr>
            <a:lvl9pPr marL="4114800" lvl="8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929731151" name="Google Shape;63;p119"/>
          <p:cNvSpPr txBox="1"/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7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2069554799" name="Google Shape;64;p119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34670946" name="Google Shape;65;p119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0010299" name="Google Shape;66;p119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280679" name="Google Shape;68;p120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3934687" name="Google Shape;69;p120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9376003" name="Google Shape;70;p120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12893793" name="Google Shape;71;p120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149266" name="Google Shape;73;p12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2476540" name="Google Shape;74;p121"/>
          <p:cNvSpPr txBox="1"/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56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207061482" name="Google Shape;75;p121"/>
          <p:cNvSpPr txBox="1"/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766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marL="914400" lvl="1" indent="-3048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marL="2286000" lvl="4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marL="2743200" lvl="5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marL="3200400" lvl="6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marL="3657600" lvl="7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marL="4114800" lvl="8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53865074" name="Google Shape;76;p121"/>
          <p:cNvSpPr txBox="1"/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56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746020100" name="Google Shape;77;p121"/>
          <p:cNvSpPr txBox="1"/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766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1pPr>
            <a:lvl2pPr marL="914400" lvl="1" indent="-304800" algn="l">
              <a:spcBef>
                <a:spcPts val="400"/>
              </a:spcBef>
              <a:spcAft>
                <a:spcPts val="0"/>
              </a:spcAft>
              <a:buSzPts val="1200"/>
              <a:buChar char="❑"/>
              <a:defRPr sz="2000"/>
            </a:lvl2pPr>
            <a:lvl3pPr marL="1371600" lvl="2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❑"/>
              <a:defRPr sz="1600"/>
            </a:lvl4pPr>
            <a:lvl5pPr marL="2286000" lvl="4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marL="2743200" lvl="5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marL="3200400" lvl="6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marL="3657600" lvl="7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marL="4114800" lvl="8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241986553" name="Google Shape;78;p121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0797874" name="Google Shape;79;p121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3218095" name="Google Shape;80;p121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555412" name="Google Shape;82;p122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4945341" name="Google Shape;83;p122"/>
          <p:cNvSpPr txBox="1"/>
          <p:nvPr>
            <p:ph type="body" idx="1"/>
          </p:nvPr>
        </p:nvSpPr>
        <p:spPr bwMode="auto"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417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marL="2743200" lvl="5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marL="3200400" lvl="6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marL="3657600" lvl="7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marL="4114800" lvl="8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2055010364" name="Google Shape;84;p122"/>
          <p:cNvSpPr txBox="1"/>
          <p:nvPr>
            <p:ph type="body" idx="2"/>
          </p:nvPr>
        </p:nvSpPr>
        <p:spPr bwMode="auto"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4170" algn="l">
              <a:spcBef>
                <a:spcPts val="560"/>
              </a:spcBef>
              <a:spcAft>
                <a:spcPts val="0"/>
              </a:spcAft>
              <a:buSzPts val="1820"/>
              <a:buChar char="■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❑"/>
              <a:defRPr sz="2400"/>
            </a:lvl2pPr>
            <a:lvl3pPr marL="1371600" lvl="2" indent="-311150" algn="l">
              <a:spcBef>
                <a:spcPts val="400"/>
              </a:spcBef>
              <a:spcAft>
                <a:spcPts val="0"/>
              </a:spcAft>
              <a:buSzPts val="1300"/>
              <a:buChar char="■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 sz="1800"/>
            </a:lvl4pPr>
            <a:lvl5pPr marL="2286000" lvl="4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marL="2743200" lvl="5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marL="3200400" lvl="6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marL="3657600" lvl="7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marL="4114800" lvl="8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414338241" name="Google Shape;85;p122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1825597" name="Google Shape;86;p122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2048316" name="Google Shape;87;p122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66051" name="Google Shape;89;p123"/>
          <p:cNvSpPr txBox="1"/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8771866" name="Google Shape;90;p123"/>
          <p:cNvSpPr txBox="1"/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3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08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9pPr>
          </a:lstStyle>
          <a:p>
            <a:pPr>
              <a:defRPr/>
            </a:pPr>
            <a:endParaRPr/>
          </a:p>
        </p:txBody>
      </p:sp>
      <p:sp>
        <p:nvSpPr>
          <p:cNvPr id="1972616174" name="Google Shape;91;p123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3176429" name="Google Shape;92;p123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5166716" name="Google Shape;93;p123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812139" name="Google Shape;10;p111"/>
          <p:cNvSpPr/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1000" h="1000" fill="norm" stroke="1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524288"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66263931" name="Google Shape;11;p111"/>
          <p:cNvCxnSpPr/>
          <p:nvPr/>
        </p:nvCxnSpPr>
        <p:spPr bwMode="auto">
          <a:xfrm>
            <a:off x="1981200" y="3962400"/>
            <a:ext cx="6511925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696019913" name="Google Shape;12;p111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91901928" name="Google Shape;13;p111"/>
          <p:cNvSpPr txBox="1"/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2425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lvl="1" indent="-32766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19405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238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238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238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238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238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59554855" name="Google Shape;14;p111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56864403" name="Google Shape;15;p111"/>
          <p:cNvSpPr txBox="1"/>
          <p:nvPr>
            <p:ph type="ftr" idx="11"/>
          </p:nvPr>
        </p:nvSpPr>
        <p:spPr bwMode="auto"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49287196" name="Google Shape;16;p111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692967" name="Google Shape;24;p113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86462992" name="Google Shape;25;p113"/>
          <p:cNvSpPr txBox="1"/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2425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lvl="1" indent="-32766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lvl="2" indent="-319405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lvl="3" indent="-31750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lvl="4" indent="-3238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lvl="5" indent="-3238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lvl="6" indent="-3238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lvl="7" indent="-3238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lvl="8" indent="-3238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94302884" name="Google Shape;26;p113"/>
          <p:cNvSpPr txBox="1"/>
          <p:nvPr>
            <p:ph type="dt" idx="10"/>
          </p:nvPr>
        </p:nvSpPr>
        <p:spPr bwMode="auto"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38271757" name="Google Shape;27;p113"/>
          <p:cNvSpPr txBox="1"/>
          <p:nvPr>
            <p:ph type="ft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33944474" name="Google Shape;28;p113"/>
          <p:cNvSpPr txBox="1"/>
          <p:nvPr>
            <p:ph type="sldNum" idx="12"/>
          </p:nvPr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9950918" name="Google Shape;29;p113"/>
          <p:cNvSpPr/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1000" h="1000" fill="norm" stroke="1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524288"/>
            <a:headEnd type="none" w="med" len="med"/>
            <a:tailEnd type="none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535998262" name="Google Shape;30;p113"/>
          <p:cNvCxnSpPr/>
          <p:nvPr/>
        </p:nvCxnSpPr>
        <p:spPr bwMode="auto">
          <a:xfrm>
            <a:off x="457200" y="6172200"/>
            <a:ext cx="82296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jpg"/><Relationship Id="rId4" Type="http://schemas.openxmlformats.org/officeDocument/2006/relationships/image" Target="../media/image30.jp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jpg"/><Relationship Id="rId4" Type="http://schemas.openxmlformats.org/officeDocument/2006/relationships/image" Target="../media/image35.jp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jp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7.png"/><Relationship Id="rId4" Type="http://schemas.openxmlformats.org/officeDocument/2006/relationships/image" Target="../media/image38.jp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7.jpg"/><Relationship Id="rId4" Type="http://schemas.openxmlformats.org/officeDocument/2006/relationships/image" Target="../media/image48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9.png"/><Relationship Id="rId4" Type="http://schemas.openxmlformats.org/officeDocument/2006/relationships/image" Target="../media/image50.jpg"/><Relationship Id="rId5" Type="http://schemas.openxmlformats.org/officeDocument/2006/relationships/image" Target="../media/image51.jp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image" Target="../media/image55.jp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6.png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7.jpg"/><Relationship Id="rId4" Type="http://schemas.openxmlformats.org/officeDocument/2006/relationships/image" Target="../media/image58.jp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hyperlink" Target="https://mitpress.mit.edu/author/james-l-mcclelland-5325" TargetMode="External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hyperlink" Target="http://psych.fullerton.edu/mbirnbaum/psych101/Eliza.htm" TargetMode="External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hyperlink" Target="https://mitpress.mit.edu/author/james-l-mcclelland-5325" TargetMode="External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9.png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858296" name="Google Shape;98;p1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436575326" name="Google Shape;99;p1"/>
          <p:cNvSpPr txBox="1"/>
          <p:nvPr>
            <p:ph type="ctrTitle"/>
          </p:nvPr>
        </p:nvSpPr>
        <p:spPr bwMode="auto">
          <a:xfrm>
            <a:off x="914400" y="1524000"/>
            <a:ext cx="7623174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000"/>
              <a:buFont typeface="Garamond"/>
              <a:buNone/>
              <a:defRPr/>
            </a:pPr>
            <a:r>
              <a:rPr lang="en-US" sz="50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IT 5431 - Essentials of Artificial Intelligence</a:t>
            </a:r>
            <a:br>
              <a:rPr lang="en-US" sz="50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</a:br>
            <a:r>
              <a:rPr lang="en-US" sz="5000" b="1" i="1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                   </a:t>
            </a:r>
            <a:r>
              <a:rPr lang="en-US" sz="3600" b="1" i="1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Blackboard version</a:t>
            </a:r>
            <a:endParaRPr/>
          </a:p>
        </p:txBody>
      </p:sp>
      <p:sp>
        <p:nvSpPr>
          <p:cNvPr id="152895910" name="Google Shape;100;p1"/>
          <p:cNvSpPr txBox="1"/>
          <p:nvPr>
            <p:ph type="subTitle" idx="1"/>
          </p:nvPr>
        </p:nvSpPr>
        <p:spPr bwMode="auto">
          <a:xfrm>
            <a:off x="420687" y="4032250"/>
            <a:ext cx="86106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pPr>
            <a:r>
              <a:rPr lang="en-US" sz="2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Prof. Asoka S Karunananda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pPr>
            <a:r>
              <a:rPr lang="en-US" sz="2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Senior Professor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pPr>
            <a:r>
              <a:rPr lang="en-US" sz="2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Department of Computational Mathematics</a:t>
            </a:r>
            <a:endParaRPr/>
          </a:p>
          <a:p>
            <a:pPr marL="0" lvl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None/>
              <a:defRPr/>
            </a:pPr>
            <a:endParaRPr sz="2800" b="0" i="0" u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0" lvl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None/>
              <a:defRPr/>
            </a:pPr>
            <a:r>
              <a:rPr lang="en-US" sz="28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MSc AI                                                                   B18</a:t>
            </a: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                          </a:t>
            </a:r>
            <a:endParaRPr/>
          </a:p>
        </p:txBody>
      </p:sp>
      <p:sp>
        <p:nvSpPr>
          <p:cNvPr id="620032860" name="Google Shape;101;p1"/>
          <p:cNvSpPr/>
          <p:nvPr/>
        </p:nvSpPr>
        <p:spPr bwMode="auto">
          <a:xfrm>
            <a:off x="3556000" y="5784850"/>
            <a:ext cx="2030412" cy="946150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19/07/2025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581384" name="Google Shape;106;p2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787085363" name="Google Shape;107;p2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Structure of the Lecture series</a:t>
            </a:r>
            <a:endParaRPr/>
          </a:p>
        </p:txBody>
      </p:sp>
      <p:sp>
        <p:nvSpPr>
          <p:cNvPr id="938661618" name="Google Shape;108;p2"/>
          <p:cNvSpPr txBox="1"/>
          <p:nvPr>
            <p:ph type="body" idx="1"/>
          </p:nvPr>
        </p:nvSpPr>
        <p:spPr bwMode="auto">
          <a:xfrm>
            <a:off x="381000" y="1547812"/>
            <a:ext cx="9069387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Topic 1 - Foundation of AI (12 hrs)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Topic 2 – Search (12 hrs) - Transformer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Topic 3 - Knowledge Representation (12 hrs) - LLM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Topic 4 – Major areas of AI (4 hrs) – covered in Topic 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504761" name="Google Shape;113;p3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Preamble</a:t>
            </a:r>
            <a:endParaRPr/>
          </a:p>
        </p:txBody>
      </p:sp>
      <p:sp>
        <p:nvSpPr>
          <p:cNvPr id="792899179" name="Google Shape;114;p3"/>
          <p:cNvSpPr txBox="1"/>
          <p:nvPr>
            <p:ph type="body" idx="4294967295"/>
          </p:nvPr>
        </p:nvSpPr>
        <p:spPr bwMode="auto">
          <a:xfrm>
            <a:off x="381000" y="9906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One should learn a subject, first by knowing about the subject (Math and Science?)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What AI is about: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is about understanding intelligence and building intelligence into machines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is about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understanding intelligence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and constructing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machines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is about the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science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(understanding) and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engineering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(construction) of building intelligent machines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strives to understand intelligence and program intelligence into machines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Need a transformation in the way we learn</a:t>
            </a:r>
            <a:endParaRPr/>
          </a:p>
          <a:p>
            <a:pPr marL="669925" marR="0" lvl="1" indent="-22637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9814309" name="Google Shape;115;p3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705341644" name="Google Shape;116;p3"/>
          <p:cNvSpPr txBox="1"/>
          <p:nvPr/>
        </p:nvSpPr>
        <p:spPr bwMode="auto">
          <a:xfrm>
            <a:off x="9829800" y="1600200"/>
            <a:ext cx="3514725" cy="258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BSc - Prepare for set questions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MSc 🡪 capacity to give answers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Na + Cl 🡪 NaCl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P+A 🡪 </a:t>
            </a: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681613" name="Google Shape;121;p4"/>
          <p:cNvSpPr txBox="1"/>
          <p:nvPr>
            <p:ph type="title"/>
          </p:nvPr>
        </p:nvSpPr>
        <p:spPr bwMode="auto">
          <a:xfrm>
            <a:off x="457200" y="187325"/>
            <a:ext cx="8229600" cy="73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Preamble</a:t>
            </a:r>
            <a:endParaRPr/>
          </a:p>
        </p:txBody>
      </p:sp>
      <p:sp>
        <p:nvSpPr>
          <p:cNvPr id="1156720544" name="Google Shape;122;p4"/>
          <p:cNvSpPr txBox="1"/>
          <p:nvPr>
            <p:ph type="body" idx="4294967295"/>
          </p:nvPr>
        </p:nvSpPr>
        <p:spPr bwMode="auto">
          <a:xfrm>
            <a:off x="-20320" y="838200"/>
            <a:ext cx="9448799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Secondary education – </a:t>
            </a:r>
            <a:r>
              <a:rPr lang="en-US" sz="2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Learning</a:t>
            </a: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 subject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Tertiary education – </a:t>
            </a:r>
            <a:r>
              <a:rPr lang="en-US" sz="27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Apply/Extend the subject (Research)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Understanding</a:t>
            </a: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is a fundamental concept in learning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Prior knowledge + </a:t>
            </a:r>
            <a:r>
              <a:rPr lang="en-US" sz="23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New knowledge </a:t>
            </a: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+ </a:t>
            </a:r>
            <a:r>
              <a:rPr lang="en-US" sz="2300" b="0" i="0" u="none" strike="noStrike" cap="none">
                <a:solidFill>
                  <a:srgbClr val="0070C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</a:rPr>
              <a:t>Th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</a:rPr>
              <a:t>inking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🡪 Understanding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Issues with understanding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Reading comprehension (at exams)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Inability to pick important points</a:t>
            </a:r>
            <a:endParaRPr sz="2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Taking own notes gives multiple benefits 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Build the ability to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pick the points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 Note is a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cognitive device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for memory and thinking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Everything may not be understood during a lecture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9045116" name="Google Shape;123;p4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276566186" name="Google Shape;124;p4"/>
          <p:cNvSpPr txBox="1"/>
          <p:nvPr/>
        </p:nvSpPr>
        <p:spPr bwMode="auto">
          <a:xfrm>
            <a:off x="9982200" y="2895600"/>
            <a:ext cx="117792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275*38 =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31761" name="Google Shape;129;p5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Preamble</a:t>
            </a:r>
            <a:endParaRPr/>
          </a:p>
        </p:txBody>
      </p:sp>
      <p:sp>
        <p:nvSpPr>
          <p:cNvPr id="1970774552" name="Google Shape;130;p5"/>
          <p:cNvSpPr txBox="1"/>
          <p:nvPr>
            <p:ph type="body" idx="4294967295"/>
          </p:nvPr>
        </p:nvSpPr>
        <p:spPr bwMode="auto">
          <a:xfrm>
            <a:off x="381000" y="1163637"/>
            <a:ext cx="8610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Einstein – The purpose of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education 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is to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build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students with the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capacity to think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Thinking produces almost all cognitive skills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Intelligence, Memory, understanding, creativity, visualizing, problem-solving, reasoning,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 field of Artificial Intelligence is central to the concept of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intelligence (natural)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Therefore, the AI community should be curious about </a:t>
            </a:r>
            <a:r>
              <a:rPr lang="en-US" sz="30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thinking</a:t>
            </a:r>
            <a:endParaRPr/>
          </a:p>
        </p:txBody>
      </p:sp>
      <p:sp>
        <p:nvSpPr>
          <p:cNvPr id="1983065604" name="Google Shape;131;p5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309821" name="Google Shape;136;p6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Preamble</a:t>
            </a:r>
            <a:endParaRPr/>
          </a:p>
        </p:txBody>
      </p:sp>
      <p:pic>
        <p:nvPicPr>
          <p:cNvPr id="1633450344" name="Google Shape;137;p6" descr="A diagram of a human brain&#10;&#10;Description automatically generated"/>
          <p:cNvPicPr/>
          <p:nvPr>
            <p:ph type="body" idx="1"/>
          </p:nvPr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941387" y="1392237"/>
            <a:ext cx="7261225" cy="4530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5909760" name="Google Shape;138;p6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454904" name="Google Shape;143;p7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Hippocampus</a:t>
            </a:r>
            <a:endParaRPr/>
          </a:p>
        </p:txBody>
      </p:sp>
      <p:pic>
        <p:nvPicPr>
          <p:cNvPr id="33903724" name="Google Shape;144;p7" descr="A diagram of the brain"/>
          <p:cNvPicPr/>
          <p:nvPr>
            <p:ph type="body" idx="1"/>
          </p:nvPr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1765300" y="1816100"/>
            <a:ext cx="5326062" cy="3473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811759" name="Google Shape;145;p7"/>
          <p:cNvSpPr txBox="1"/>
          <p:nvPr/>
        </p:nvSpPr>
        <p:spPr bwMode="auto">
          <a:xfrm>
            <a:off x="830262" y="5543550"/>
            <a:ext cx="3986211" cy="34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None/>
              <a:defRPr/>
            </a:pPr>
            <a:r>
              <a:rPr lang="en-US" sz="16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Hippocampus forms long term memories</a:t>
            </a:r>
            <a:endParaRPr/>
          </a:p>
        </p:txBody>
      </p:sp>
      <p:sp>
        <p:nvSpPr>
          <p:cNvPr id="1119375269" name="Google Shape;146;p7"/>
          <p:cNvSpPr txBox="1"/>
          <p:nvPr/>
        </p:nvSpPr>
        <p:spPr bwMode="auto">
          <a:xfrm>
            <a:off x="4747846" y="4831373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fear</a:t>
            </a:r>
            <a:endParaRPr/>
          </a:p>
        </p:txBody>
      </p:sp>
      <p:sp>
        <p:nvSpPr>
          <p:cNvPr id="873259675" name="Google Shape;147;p7"/>
          <p:cNvSpPr txBox="1"/>
          <p:nvPr/>
        </p:nvSpPr>
        <p:spPr bwMode="auto">
          <a:xfrm>
            <a:off x="628650" y="3802680"/>
            <a:ext cx="251058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pPr>
            <a:r>
              <a:rPr lang="en-US" sz="15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Memory formation and access</a:t>
            </a:r>
            <a:endParaRPr/>
          </a:p>
        </p:txBody>
      </p:sp>
      <p:sp>
        <p:nvSpPr>
          <p:cNvPr id="593696712" name="Google Shape;148;p7"/>
          <p:cNvSpPr txBox="1"/>
          <p:nvPr/>
        </p:nvSpPr>
        <p:spPr bwMode="auto">
          <a:xfrm>
            <a:off x="6471139" y="4190113"/>
            <a:ext cx="24534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pPr>
            <a:r>
              <a:rPr lang="en-US" sz="15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Regulate: temperature,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pPr>
            <a:r>
              <a:rPr lang="en-US" sz="15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hunger, thirst, sleep, mood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447295" name="Google Shape;153;p8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Evolution of the brain</a:t>
            </a:r>
            <a:endParaRPr/>
          </a:p>
        </p:txBody>
      </p:sp>
      <p:pic>
        <p:nvPicPr>
          <p:cNvPr id="77817276" name="Google Shape;154;p8" descr="A diagram of a brain evolution&#10;&#10;Description automatically generated"/>
          <p:cNvPicPr/>
          <p:nvPr>
            <p:ph type="body" idx="1"/>
          </p:nvPr>
        </p:nvPicPr>
        <p:blipFill>
          <a:blip r:embed="rId3">
            <a:alphaModFix/>
          </a:blip>
          <a:srcRect l="0" t="19688" r="0" b="0"/>
          <a:stretch/>
        </p:blipFill>
        <p:spPr bwMode="auto">
          <a:xfrm>
            <a:off x="1230312" y="2052637"/>
            <a:ext cx="6515100" cy="3948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32590" name="Google Shape;159;p9"/>
          <p:cNvSpPr txBox="1"/>
          <p:nvPr>
            <p:ph type="title"/>
          </p:nvPr>
        </p:nvSpPr>
        <p:spPr bwMode="auto">
          <a:xfrm>
            <a:off x="457200" y="307975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Two ways of </a:t>
            </a:r>
            <a:r>
              <a:rPr lang="en-US" sz="4200" b="1" i="0" u="sng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Intelligence</a:t>
            </a:r>
            <a:endParaRPr/>
          </a:p>
        </p:txBody>
      </p:sp>
      <p:sp>
        <p:nvSpPr>
          <p:cNvPr id="1774737430" name="Google Shape;160;p9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pic>
        <p:nvPicPr>
          <p:cNvPr id="1962919133" name="Google Shape;161;p9" descr="Right Brain Development - Left Brain Right Brain Kids, HD Png Download -  kindpng"/>
          <p:cNvPicPr/>
          <p:nvPr>
            <p:ph type="body" idx="1"/>
          </p:nvPr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95300" y="1181099"/>
            <a:ext cx="8191500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1039145" name="Google Shape;162;p9"/>
          <p:cNvSpPr txBox="1"/>
          <p:nvPr/>
        </p:nvSpPr>
        <p:spPr bwMode="auto">
          <a:xfrm>
            <a:off x="1295400" y="4927600"/>
            <a:ext cx="1890261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Logica/analytical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Symbolic (</a:t>
            </a:r>
            <a:r>
              <a:rPr lang="en-US" sz="1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ACS)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Algorithmic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Formal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Knowledge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0621738" name="Google Shape;163;p9"/>
          <p:cNvSpPr txBox="1"/>
          <p:nvPr/>
        </p:nvSpPr>
        <p:spPr bwMode="auto">
          <a:xfrm>
            <a:off x="6553200" y="4900612"/>
            <a:ext cx="1826141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Training </a:t>
            </a:r>
            <a:r>
              <a:rPr lang="en-US" sz="1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(ML)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Non-Symbolic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Non-Algorithmic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Informal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Data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4550824" name="Google Shape;164;p9"/>
          <p:cNvSpPr txBox="1"/>
          <p:nvPr/>
        </p:nvSpPr>
        <p:spPr bwMode="auto">
          <a:xfrm>
            <a:off x="9829800" y="2133600"/>
            <a:ext cx="2011362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Language (NLP)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Games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Deep Blue (L)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AlphaGo (R)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Robots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2x3 = 6  (R)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375x97 = …… (L)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20B/100B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16645" name="Google Shape;170;p10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4200">
              <a:solidFill>
                <a:schemeClr val="dk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01064469" name="Google Shape;171;p10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pic>
        <p:nvPicPr>
          <p:cNvPr id="1262719226" name="Google Shape;172;p10" descr="Right, Left, Right, Wrong! - Handedness and the Brain"/>
          <p:cNvPicPr/>
          <p:nvPr>
            <p:ph type="body" idx="1"/>
          </p:nvPr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152400" y="404812"/>
            <a:ext cx="8458200" cy="616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8281153" name="Google Shape;173;p10"/>
          <p:cNvSpPr txBox="1"/>
          <p:nvPr/>
        </p:nvSpPr>
        <p:spPr bwMode="auto">
          <a:xfrm flipH="1">
            <a:off x="9220200" y="1981200"/>
            <a:ext cx="3581400" cy="147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Mindful walking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Char char="•"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Distinguish Left/right (L)</a:t>
            </a:r>
            <a:endParaRPr/>
          </a:p>
          <a:p>
            <a:pPr marL="0" marR="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Char char="•"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sensation - heat/softness (R)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</p:txBody>
      </p:sp>
      <p:sp>
        <p:nvSpPr>
          <p:cNvPr id="504710954" name="Google Shape;174;p10"/>
          <p:cNvSpPr txBox="1"/>
          <p:nvPr/>
        </p:nvSpPr>
        <p:spPr bwMode="auto">
          <a:xfrm>
            <a:off x="3429000" y="315912"/>
            <a:ext cx="49212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ES</a:t>
            </a:r>
            <a:endParaRPr/>
          </a:p>
        </p:txBody>
      </p:sp>
      <p:sp>
        <p:nvSpPr>
          <p:cNvPr id="1218552331" name="Google Shape;175;p10"/>
          <p:cNvSpPr txBox="1"/>
          <p:nvPr/>
        </p:nvSpPr>
        <p:spPr bwMode="auto">
          <a:xfrm>
            <a:off x="5375275" y="315912"/>
            <a:ext cx="67151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773493" name="Google Shape;180;p11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795850074" name="Google Shape;181;p11"/>
          <p:cNvSpPr txBox="1"/>
          <p:nvPr>
            <p:ph type="ctrTitle"/>
          </p:nvPr>
        </p:nvSpPr>
        <p:spPr bwMode="auto">
          <a:xfrm>
            <a:off x="914400" y="1524000"/>
            <a:ext cx="7623174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5000"/>
              <a:buFont typeface="Garamond"/>
              <a:buNone/>
              <a:defRPr/>
            </a:pPr>
            <a:r>
              <a:rPr lang="en-US" sz="50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Topic 1 – Foundation of AI</a:t>
            </a:r>
            <a:endParaRPr/>
          </a:p>
        </p:txBody>
      </p:sp>
      <p:sp>
        <p:nvSpPr>
          <p:cNvPr id="1375530688" name="Google Shape;182;p11"/>
          <p:cNvSpPr txBox="1"/>
          <p:nvPr>
            <p:ph type="subTitle" idx="1"/>
          </p:nvPr>
        </p:nvSpPr>
        <p:spPr bwMode="auto">
          <a:xfrm>
            <a:off x="1981200" y="3962400"/>
            <a:ext cx="65532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SzPts val="1820"/>
              <a:buFont typeface="Noto Sans Symbols"/>
              <a:buNone/>
              <a:defRPr/>
            </a:pP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733111" name="Google Shape;187;p12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982029988" name="Google Shape;188;p12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Foundation of AI</a:t>
            </a:r>
            <a:endParaRPr/>
          </a:p>
        </p:txBody>
      </p:sp>
      <p:sp>
        <p:nvSpPr>
          <p:cNvPr id="1728855306" name="Google Shape;189;p12"/>
          <p:cNvSpPr txBox="1"/>
          <p:nvPr>
            <p:ph type="body" idx="4294967295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Introduction (General, Academia, Industry)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Intelligent machines – a dream or reality?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Influential areas for AI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Major Areas of AI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Turing Test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John Searle’s argument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Four Schools of Thought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History of AI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State of the art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Agent Technology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211702" name="Google Shape;194;p13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1</a:t>
            </a:r>
            <a:endParaRPr/>
          </a:p>
        </p:txBody>
      </p:sp>
      <p:sp>
        <p:nvSpPr>
          <p:cNvPr id="1745310141" name="Google Shape;195;p13"/>
          <p:cNvSpPr txBox="1"/>
          <p:nvPr>
            <p:ph type="body" idx="4294967295"/>
          </p:nvPr>
        </p:nvSpPr>
        <p:spPr bwMode="auto">
          <a:xfrm>
            <a:off x="76200" y="1066800"/>
            <a:ext cx="9067800" cy="506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What does AI do?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❑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builds intelligent machines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❑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Machines can also evolve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(Arthur Samuel) 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from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manual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to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❑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Intelligent machines are a result of the evolution of manual machines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We are in the Age of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Machines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How does AI  build/construct intelligent machines?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programs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natural intelligence 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into a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machine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We can develop an intelligent fan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Program the tasks that require human intervention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When hot, increase fan speed. No people, switch off the fan, more people, swing the fan</a:t>
            </a:r>
            <a:endParaRPr/>
          </a:p>
          <a:p>
            <a:pPr marL="1022350" marR="0" lvl="2" indent="-260032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  <a:defRPr/>
            </a:pPr>
            <a:endParaRPr sz="22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1022350" marR="0" lvl="2" indent="-260032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None/>
              <a:defRPr/>
            </a:pPr>
            <a:endParaRPr sz="22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4568980" name="Google Shape;196;p13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423772895" name="Google Shape;197;p13"/>
          <p:cNvSpPr txBox="1"/>
          <p:nvPr/>
        </p:nvSpPr>
        <p:spPr bwMode="auto">
          <a:xfrm>
            <a:off x="9753600" y="2057400"/>
            <a:ext cx="3378200" cy="286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The idea of intelligence can be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programmed to a machine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was presented by Turing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(1952)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Read, write, left, right, delete,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do nothing.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Paper making -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094586" name="Google Shape;202;p14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848481882" name="Google Shape;203;p14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References</a:t>
            </a:r>
            <a:endParaRPr/>
          </a:p>
        </p:txBody>
      </p:sp>
      <p:sp>
        <p:nvSpPr>
          <p:cNvPr id="1983281989" name="Google Shape;204;p14"/>
          <p:cNvSpPr txBox="1"/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Russell and Norvig (2020), Artificial Intelligence – a Modern Approach, 4</a:t>
            </a:r>
            <a:r>
              <a:rPr lang="en-US" sz="3000" b="0" i="0" u="none" baseline="30000">
                <a:solidFill>
                  <a:srgbClr val="0070C0"/>
                </a:solidFill>
                <a:latin typeface="Arial"/>
                <a:ea typeface="Arial"/>
                <a:cs typeface="Arial"/>
              </a:rPr>
              <a:t>th</a:t>
            </a: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Edition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  <a:defRPr/>
            </a:pPr>
            <a:endParaRPr sz="3000" b="0" i="0" u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UMBC Agent 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Carnegie Mellon University (First Faculty of AI, First BSc Hons in AI) 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  <a:defRPr/>
            </a:pPr>
            <a:endParaRPr sz="3000" b="0" i="0" u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290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lvl="0" indent="-219074" algn="l">
              <a:spcBef>
                <a:spcPts val="600"/>
              </a:spcBef>
              <a:spcAft>
                <a:spcPts val="0"/>
              </a:spcAft>
              <a:buSzPts val="1950"/>
              <a:buNone/>
              <a:defRPr/>
            </a:pPr>
            <a:endParaRPr sz="30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678950" name="Google Shape;210;p15"/>
          <p:cNvSpPr txBox="1"/>
          <p:nvPr>
            <p:ph type="title"/>
          </p:nvPr>
        </p:nvSpPr>
        <p:spPr bwMode="auto">
          <a:xfrm>
            <a:off x="438149" y="228600"/>
            <a:ext cx="78867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Introduction - General</a:t>
            </a:r>
            <a:endParaRPr/>
          </a:p>
        </p:txBody>
      </p:sp>
      <p:sp>
        <p:nvSpPr>
          <p:cNvPr id="442750976" name="Google Shape;211;p15"/>
          <p:cNvSpPr txBox="1"/>
          <p:nvPr>
            <p:ph type="body" idx="4294967295"/>
          </p:nvPr>
        </p:nvSpPr>
        <p:spPr bwMode="auto">
          <a:xfrm>
            <a:off x="0" y="1066800"/>
            <a:ext cx="8991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is the most cited buzzword in the modern world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AI </a:t>
            </a: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is the Science and Engineering of building Intelligent Machines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accent2"/>
              </a:buClr>
              <a:buSzPct val="59999"/>
              <a:buFont typeface="Noto Sans Symbols"/>
              <a:buChar char="❑"/>
              <a:defRPr/>
            </a:pP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S, E, both, </a:t>
            </a:r>
            <a:r>
              <a:rPr lang="en-US" sz="7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distinct area</a:t>
            </a: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?   (four-fold logic)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Can you understand NaCl by knowing the features of Na and Cl separately?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strives to understand </a:t>
            </a:r>
            <a:r>
              <a:rPr lang="en-US" sz="7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natural intelligenc</a:t>
            </a: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 (science) and build intelligent machines (engineering)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</a:t>
            </a:r>
            <a:r>
              <a:rPr lang="en-US" sz="7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does not talk </a:t>
            </a:r>
            <a:r>
              <a:rPr lang="en-US" sz="7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of machine-generated artificial (කෘතිම) forms of intelligence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has gone </a:t>
            </a:r>
            <a:r>
              <a:rPr lang="en-US" sz="7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into all sectors</a:t>
            </a:r>
            <a:r>
              <a:rPr lang="en-US" sz="7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(health, agriculture, transportation, online marketing, war)  of society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Nowadays, people cannot live without AI (facing the competition)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ans Symbols"/>
              <a:buChar char="■"/>
              <a:defRPr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has </a:t>
            </a:r>
            <a:r>
              <a:rPr lang="en-US" sz="80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revolutionized</a:t>
            </a: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80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academia </a:t>
            </a: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80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industry</a:t>
            </a:r>
            <a:endParaRPr/>
          </a:p>
          <a:p>
            <a:pPr marL="342900" marR="0" lvl="0" indent="-24095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None/>
              <a:defRPr/>
            </a:pPr>
            <a:endParaRPr sz="76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201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ans Symbols"/>
              <a:buNone/>
              <a:defRPr/>
            </a:pPr>
            <a:endParaRPr sz="31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672900" name="Google Shape;216;p16"/>
          <p:cNvSpPr txBox="1"/>
          <p:nvPr>
            <p:ph type="title"/>
          </p:nvPr>
        </p:nvSpPr>
        <p:spPr bwMode="auto">
          <a:xfrm>
            <a:off x="457200" y="277812"/>
            <a:ext cx="8229600" cy="63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Introduction - General</a:t>
            </a:r>
            <a:endParaRPr/>
          </a:p>
        </p:txBody>
      </p:sp>
      <p:sp>
        <p:nvSpPr>
          <p:cNvPr id="581066551" name="Google Shape;217;p16"/>
          <p:cNvSpPr txBox="1"/>
          <p:nvPr>
            <p:ph type="body" idx="4294967295"/>
          </p:nvPr>
        </p:nvSpPr>
        <p:spPr bwMode="auto">
          <a:xfrm>
            <a:off x="0" y="1143000"/>
            <a:ext cx="92202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is the fuel for the 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4</a:t>
            </a:r>
            <a:r>
              <a:rPr lang="en-US" sz="2400" b="0" i="0" u="none" strike="noStrike" cap="none" baseline="3000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industrial revolution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(modern machines are powered by AI programs)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steam, electricity, electronics, 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AI (programs/algorithms)</a:t>
            </a:r>
            <a:endParaRPr sz="2400" b="0" i="0" u="none" strike="noStrike" cap="none">
              <a:solidFill>
                <a:srgbClr val="0070C0"/>
              </a:solidFill>
              <a:highlight>
                <a:srgbClr val="FFFF00"/>
              </a:highlight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has changed how people do things everywhere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Home - cleaning, WM, CCTV, engineering,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Health – disease diagnosis, online 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Will AI lead to technological singularity (supersedes humanity?)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People promoted 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Machine Learning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 but forgot 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Human Learning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Knowledge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(money, weapons, lands, technologies) is the power </a:t>
            </a:r>
            <a:endParaRPr sz="2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outperforms humans when humans face biological limitations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efficiency, accuracy, high access/reaction timeline, exploring an unknown environment, dealing with many parameters, reaching inaccessible locations </a:t>
            </a:r>
            <a:endParaRPr sz="2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7785335" name="Google Shape;218;p16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405403789" name="Google Shape;219;p16"/>
          <p:cNvSpPr txBox="1"/>
          <p:nvPr/>
        </p:nvSpPr>
        <p:spPr bwMode="auto">
          <a:xfrm>
            <a:off x="9525000" y="1184275"/>
            <a:ext cx="762000" cy="4921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553E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</a:t>
            </a:r>
            <a:endParaRPr/>
          </a:p>
        </p:txBody>
      </p:sp>
      <p:sp>
        <p:nvSpPr>
          <p:cNvPr id="66549592" name="Google Shape;220;p16"/>
          <p:cNvSpPr txBox="1"/>
          <p:nvPr/>
        </p:nvSpPr>
        <p:spPr bwMode="auto">
          <a:xfrm>
            <a:off x="11887200" y="1184275"/>
            <a:ext cx="914400" cy="4921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553E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</a:t>
            </a:r>
            <a:endParaRPr/>
          </a:p>
        </p:txBody>
      </p:sp>
      <p:sp>
        <p:nvSpPr>
          <p:cNvPr id="279944337" name="Google Shape;221;p16"/>
          <p:cNvSpPr txBox="1"/>
          <p:nvPr/>
        </p:nvSpPr>
        <p:spPr bwMode="auto">
          <a:xfrm>
            <a:off x="10515600" y="1184275"/>
            <a:ext cx="1062037" cy="4921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553E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</a:t>
            </a:r>
            <a:endParaRPr/>
          </a:p>
        </p:txBody>
      </p:sp>
      <p:sp>
        <p:nvSpPr>
          <p:cNvPr id="445566101" name="Google Shape;222;p16"/>
          <p:cNvSpPr txBox="1"/>
          <p:nvPr/>
        </p:nvSpPr>
        <p:spPr bwMode="auto">
          <a:xfrm>
            <a:off x="10558462" y="1936750"/>
            <a:ext cx="1222375" cy="4921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553E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Power</a:t>
            </a:r>
            <a:endParaRPr/>
          </a:p>
        </p:txBody>
      </p:sp>
      <p:sp>
        <p:nvSpPr>
          <p:cNvPr id="490201577" name="Google Shape;223;p16"/>
          <p:cNvSpPr txBox="1"/>
          <p:nvPr/>
        </p:nvSpPr>
        <p:spPr bwMode="auto">
          <a:xfrm>
            <a:off x="10037762" y="415925"/>
            <a:ext cx="1084262" cy="4921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553E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memory</a:t>
            </a:r>
            <a:endParaRPr/>
          </a:p>
        </p:txBody>
      </p:sp>
      <p:sp>
        <p:nvSpPr>
          <p:cNvPr id="1947925355" name="Google Shape;224;p16"/>
          <p:cNvSpPr txBox="1"/>
          <p:nvPr/>
        </p:nvSpPr>
        <p:spPr bwMode="auto">
          <a:xfrm>
            <a:off x="11104561" y="400050"/>
            <a:ext cx="468312" cy="492125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553E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</a:t>
            </a:r>
            <a:endParaRPr/>
          </a:p>
        </p:txBody>
      </p:sp>
      <p:pic>
        <p:nvPicPr>
          <p:cNvPr id="1915715159" name="Google Shape;225;p16" descr="A drone with four propellers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9915525" y="2689225"/>
            <a:ext cx="2235200" cy="22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3251479" name="Google Shape;226;p16"/>
          <p:cNvSpPr txBox="1"/>
          <p:nvPr/>
        </p:nvSpPr>
        <p:spPr bwMode="auto">
          <a:xfrm>
            <a:off x="9378950" y="5002212"/>
            <a:ext cx="3519487" cy="203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If one propeller is broken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What are the possible solutions?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Repairer (mechanical/electrical)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Replace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Program propellers to maintain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The balance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788906" name="Google Shape;231;p17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2</a:t>
            </a:r>
            <a:endParaRPr/>
          </a:p>
        </p:txBody>
      </p:sp>
      <p:sp>
        <p:nvSpPr>
          <p:cNvPr id="1201359468" name="Google Shape;232;p17"/>
          <p:cNvSpPr txBox="1"/>
          <p:nvPr>
            <p:ph type="body" idx="4294967295"/>
          </p:nvPr>
        </p:nvSpPr>
        <p:spPr bwMode="auto">
          <a:xfrm>
            <a:off x="0" y="1163638"/>
            <a:ext cx="9296400" cy="49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Identify the situations where machines are better than humans.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high access time for the available knowledge (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exam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High reaction time when generating an answer (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calculation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Dealing with a large number of parameters (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flight scheduling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Decision-making in changing situations (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Pandemic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Exploring unknown environments (underground, seabed, space)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Exploiting hazardous, unreachable situations (fire, radiation)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Working in Emotional, disastrous, etc.  situations </a:t>
            </a:r>
            <a:endParaRPr/>
          </a:p>
          <a:p>
            <a:pPr marL="669925" marR="0" lvl="1" indent="-22637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6214585" name="Google Shape;233;p17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861300" name="Google Shape;238;p18"/>
          <p:cNvSpPr txBox="1"/>
          <p:nvPr>
            <p:ph type="title"/>
          </p:nvPr>
        </p:nvSpPr>
        <p:spPr bwMode="auto">
          <a:xfrm>
            <a:off x="381000" y="15716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Introduction - Academic</a:t>
            </a:r>
            <a:endParaRPr/>
          </a:p>
        </p:txBody>
      </p:sp>
      <p:sp>
        <p:nvSpPr>
          <p:cNvPr id="2105212954" name="Google Shape;239;p18"/>
          <p:cNvSpPr txBox="1"/>
          <p:nvPr>
            <p:ph type="body" idx="4294967295"/>
          </p:nvPr>
        </p:nvSpPr>
        <p:spPr bwMode="auto">
          <a:xfrm>
            <a:off x="20320" y="869950"/>
            <a:ext cx="9448799" cy="523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is the subject to program </a:t>
            </a:r>
            <a:r>
              <a:rPr lang="en-US" sz="25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natural intelligence</a:t>
            </a: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into machines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AI solves 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problems that could not be solved otherwise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can use knowledge or data for problem-solving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can model solutions even with less or zero data/knowledge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can solve both algorithmic and non-algorithmic systems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Neuroscience provides a strong basis for AI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Logical/analytical-based intelligence (symbolic AI) – left brain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Training-based intelligence (non-symbolic AI) – right brain</a:t>
            </a:r>
            <a:endParaRPr sz="23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1950s - AI is a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module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within Computer Science degrees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20xx –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MSc in AI 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– two-year part time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None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2010  -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AI specialization 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(2+2) in CS degree (Edinburgh, UK)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None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2018  -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BSc 4 degrees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in AI (CMU-2018, UoM-2021)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None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203x - 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Specializations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in ML, NLP within AI degree</a:t>
            </a:r>
            <a:endParaRPr/>
          </a:p>
          <a:p>
            <a:pPr marL="342900" marR="0" lvl="0" indent="-235583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None/>
              <a:defRPr/>
            </a:pPr>
            <a:endParaRPr sz="2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5191546" name="Google Shape;240;p18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736092827" name="Google Shape;241;p18"/>
          <p:cNvSpPr txBox="1"/>
          <p:nvPr/>
        </p:nvSpPr>
        <p:spPr bwMode="auto">
          <a:xfrm>
            <a:off x="9906000" y="874712"/>
            <a:ext cx="2878137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X+Y =  3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2X+2Y = 5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No mathematical solution,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But AI can find reasonable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X=1. y=1  Er =1, Er=1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X=0, Y=1  Er= 2  Er=3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917500" name="Google Shape;246;p19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Introduction - Industry</a:t>
            </a:r>
            <a:endParaRPr/>
          </a:p>
        </p:txBody>
      </p:sp>
      <p:sp>
        <p:nvSpPr>
          <p:cNvPr id="1193154626" name="Google Shape;247;p19"/>
          <p:cNvSpPr txBox="1"/>
          <p:nvPr>
            <p:ph type="body" idx="4294967295"/>
          </p:nvPr>
        </p:nvSpPr>
        <p:spPr bwMode="auto">
          <a:xfrm>
            <a:off x="-20320" y="1039018"/>
            <a:ext cx="10020299" cy="477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AI implements</a:t>
            </a:r>
            <a:r>
              <a:rPr lang="en-US" sz="25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how </a:t>
            </a:r>
            <a:r>
              <a:rPr lang="en-US" sz="25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humans/animals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(natural) solve problems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As a model of the human brain, AI can solve </a:t>
            </a:r>
            <a:r>
              <a:rPr lang="en-US" sz="2500" b="0" i="0" u="sng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any problem</a:t>
            </a: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can solve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 problem in more than one way 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like humans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can generate evolvable so</a:t>
            </a:r>
            <a:r>
              <a:rPr lang="en-US" sz="2500" b="0" i="0" u="sng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lutions</a:t>
            </a: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 (accurate/efficient)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solutions are </a:t>
            </a:r>
            <a:r>
              <a:rPr lang="en-US" sz="25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extensible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solutions can be built on </a:t>
            </a:r>
            <a:r>
              <a:rPr lang="en-US" sz="2500" b="0" i="0" u="sng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existing systems</a:t>
            </a:r>
            <a:r>
              <a:rPr lang="en-US" sz="2500" b="0" i="0" u="sng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(DB, ERP, MIS, Web)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can give not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only answers but also reasons  (ES)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can give answers </a:t>
            </a:r>
            <a:r>
              <a:rPr lang="en-US" sz="25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very quickly </a:t>
            </a: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(time-critical applications)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can handle many parameters at one time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can work on incomplete, noisy, dynamic data/knowledge</a:t>
            </a:r>
            <a:endParaRPr/>
          </a:p>
          <a:p>
            <a:pPr marL="342900" marR="0" lvl="0" indent="-23971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None/>
              <a:defRPr/>
            </a:pPr>
            <a:endParaRPr sz="25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4490662" name="Google Shape;248;p19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694594" name="Google Shape;253;p20"/>
          <p:cNvSpPr txBox="1"/>
          <p:nvPr>
            <p:ph type="title"/>
          </p:nvPr>
        </p:nvSpPr>
        <p:spPr bwMode="auto">
          <a:xfrm>
            <a:off x="381000" y="38100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3</a:t>
            </a:r>
            <a:endParaRPr/>
          </a:p>
        </p:txBody>
      </p:sp>
      <p:sp>
        <p:nvSpPr>
          <p:cNvPr id="1553890014" name="Google Shape;254;p20"/>
          <p:cNvSpPr txBox="1"/>
          <p:nvPr>
            <p:ph type="body" idx="4294967295"/>
          </p:nvPr>
        </p:nvSpPr>
        <p:spPr bwMode="auto">
          <a:xfrm>
            <a:off x="457200" y="1600200"/>
            <a:ext cx="88392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Explain why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humans need a higher reaction time than cobras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.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Humans deal with so many sensory inputs to make decisions, where lots of information processing is involved. But cobras mainly use only smell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Cobra has developed processing of its single sensory input.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1347577" name="Google Shape;255;p20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721731" name="Google Shape;260;p21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Introduction - Enthusiasm for AI </a:t>
            </a:r>
            <a:endParaRPr/>
          </a:p>
        </p:txBody>
      </p:sp>
      <p:sp>
        <p:nvSpPr>
          <p:cNvPr id="2043200818" name="Google Shape;261;p21"/>
          <p:cNvSpPr txBox="1"/>
          <p:nvPr>
            <p:ph type="body" idx="4294967295"/>
          </p:nvPr>
        </p:nvSpPr>
        <p:spPr bwMode="auto">
          <a:xfrm>
            <a:off x="0" y="1447800"/>
            <a:ext cx="10058400" cy="472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ans Symbols"/>
              <a:buChar char="■"/>
              <a:defRPr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had a hard time for 35 years – development was invisible, no recognition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ans Symbols"/>
              <a:buChar char="■"/>
              <a:defRPr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Many programs gave popularity to AI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Noto Sans Symbols"/>
              <a:buChar char="❑"/>
              <a:defRPr/>
            </a:pPr>
            <a:r>
              <a:rPr lang="en-US" sz="8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XCON (1989) – Expert System  (ES) - gave industry recognition for AI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accuracy, efficiency, (symbolic AI)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Noto Sans Symbols"/>
              <a:buChar char="❑"/>
              <a:defRPr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DART (1991) – Expert system (ES), which did the entire Gulf War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Real-time, large no. entities (50,000), accuracy (pinpoint)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Noto Sans Symbols"/>
              <a:buChar char="❑"/>
              <a:defRPr/>
            </a:pPr>
            <a:r>
              <a:rPr lang="en-US" sz="8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Pathfinder (1997) – Exploring Mars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Working in an unknown environment, real-time,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Noto Sans Symbols"/>
              <a:buChar char="❑"/>
              <a:defRPr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Deep Blue (1996)  - Grandmaster of chess Kasparov, was defeated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multiple options (25-35), best move, many steps ahead, efficiency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Noto Sans Symbols"/>
              <a:buChar char="❑"/>
              <a:defRPr/>
            </a:pPr>
            <a:r>
              <a:rPr lang="en-US" sz="8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Watson (2011) – large expert systems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Versatility, use </a:t>
            </a:r>
            <a:r>
              <a:rPr lang="en-US" sz="7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symbolic</a:t>
            </a: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and </a:t>
            </a:r>
            <a:r>
              <a:rPr lang="en-US" sz="7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non-symbolic</a:t>
            </a: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(ML) approaches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Noto Sans Symbols"/>
              <a:buChar char="❑"/>
              <a:defRPr/>
            </a:pPr>
            <a:r>
              <a:rPr lang="en-US" sz="8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AlphaGo (2015) – ML-based solution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Millions of options, accuracy, efficiency,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Noto Sans Symbols"/>
              <a:buChar char="❑"/>
              <a:defRPr/>
            </a:pPr>
            <a:r>
              <a:rPr lang="en-US" sz="8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Self-driving cars (2009) – 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7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Autonomy, adaptability, real-time (efficiency)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456979" name="Google Shape;262;p21"/>
          <p:cNvSpPr/>
          <p:nvPr/>
        </p:nvSpPr>
        <p:spPr bwMode="auto">
          <a:xfrm>
            <a:off x="6934200" y="5634037"/>
            <a:ext cx="2030412" cy="946150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26/07/2025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864086" name="Google Shape;267;p22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Introduction - Enthusiasm for AI ..</a:t>
            </a:r>
            <a:endParaRPr/>
          </a:p>
        </p:txBody>
      </p:sp>
      <p:sp>
        <p:nvSpPr>
          <p:cNvPr id="1005511447" name="Google Shape;268;p22"/>
          <p:cNvSpPr txBox="1"/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Many programs gave popularity to AI ….</a:t>
            </a:r>
            <a:endParaRPr sz="2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Tesla (2015) – Unmanned Truck 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Sophia (2016) – Versatile humanoid robot</a:t>
            </a:r>
            <a:endParaRPr/>
          </a:p>
          <a:p>
            <a:pPr marL="1022350" marR="0" lvl="2" indent="-3508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■"/>
              <a:defRPr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First to get citizenship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Amazon Alexa  - home automation 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Google Assistant – Chatbot (static information)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Neuralink – a device for sending electrical signals to the brain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ChatGPT – predicting the next word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Agentic AI -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■"/>
              <a:defRPr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Future of AI – the gap between man and machine will be reduced</a:t>
            </a:r>
            <a:endParaRPr/>
          </a:p>
          <a:p>
            <a:pPr marL="342900" marR="0" lvl="0" indent="-26035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None/>
              <a:defRPr/>
            </a:pPr>
            <a:endParaRPr sz="2000" b="0" i="0" u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0550256" name="Google Shape;269;p22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56250787" name="Google Shape;270;p22"/>
          <p:cNvSpPr txBox="1"/>
          <p:nvPr/>
        </p:nvSpPr>
        <p:spPr bwMode="auto">
          <a:xfrm>
            <a:off x="9906000" y="2743200"/>
            <a:ext cx="1531937" cy="17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2 + 1/3 + 1/7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Addition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Multiplication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Fraction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213718" name="Google Shape;276;p23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668126350" name="Google Shape;277;p23"/>
          <p:cNvSpPr txBox="1"/>
          <p:nvPr>
            <p:ph type="title"/>
          </p:nvPr>
        </p:nvSpPr>
        <p:spPr bwMode="auto">
          <a:xfrm>
            <a:off x="304800" y="1127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Nature of Knowledge and AI</a:t>
            </a:r>
            <a:endParaRPr/>
          </a:p>
        </p:txBody>
      </p:sp>
      <p:sp>
        <p:nvSpPr>
          <p:cNvPr id="812276696" name="Google Shape;278;p23"/>
          <p:cNvSpPr txBox="1"/>
          <p:nvPr>
            <p:ph type="body" idx="4294967295"/>
          </p:nvPr>
        </p:nvSpPr>
        <p:spPr bwMode="auto">
          <a:xfrm>
            <a:off x="152400" y="878205"/>
            <a:ext cx="9448799" cy="5437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Different subjects promote different ways of thinking (</a:t>
            </a:r>
            <a:r>
              <a:rPr lang="en-US" sz="23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mindset</a:t>
            </a: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Science – </a:t>
            </a:r>
            <a:r>
              <a:rPr lang="en-US" sz="23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experiments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, a large no. of evidence, explain (</a:t>
            </a:r>
            <a:r>
              <a:rPr lang="en-US" sz="2300" b="0" i="0" u="sng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know why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)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Mathematics – </a:t>
            </a:r>
            <a:r>
              <a:rPr lang="en-US" sz="23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measurements/calculation/patterns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Algebra - √2 = 1.414           Geometry </a:t>
            </a:r>
            <a:endParaRPr/>
          </a:p>
          <a:p>
            <a:pPr marL="344487" marR="0" lvl="1" indent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None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              1/3 = 0.3333,  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Engineering – apply science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(shape, color, cost, weight, durability, appearance, efficiency)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Technology  - know-how (even without a science)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Technology comes before science (old kaum and penicillin)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Many devices are technological advancements and still use science discovered in the 17</a:t>
            </a:r>
            <a:r>
              <a:rPr lang="en-US" sz="2300" b="0" i="0" u="none" strike="noStrike" cap="none" baseline="30000">
                <a:solidFill>
                  <a:srgbClr val="0070C0"/>
                </a:solidFill>
                <a:latin typeface="Arial"/>
                <a:ea typeface="Arial"/>
                <a:cs typeface="Arial"/>
              </a:rPr>
              <a:t>th</a:t>
            </a: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century (F=ma, V=IR)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Formal knowledge </a:t>
            </a: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– subjects with theories, models, algorithms, etc.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Informal knowledge 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- commonsense, belief, trial and error, etc.</a:t>
            </a:r>
            <a:endParaRPr sz="23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Where is AI</a:t>
            </a: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? – AI can use both like human</a:t>
            </a:r>
            <a:endParaRPr/>
          </a:p>
        </p:txBody>
      </p:sp>
      <p:sp>
        <p:nvSpPr>
          <p:cNvPr id="1165914850" name="Google Shape;279;p23"/>
          <p:cNvSpPr/>
          <p:nvPr/>
        </p:nvSpPr>
        <p:spPr bwMode="auto">
          <a:xfrm>
            <a:off x="6473825" y="2343150"/>
            <a:ext cx="762000" cy="628650"/>
          </a:xfrm>
          <a:prstGeom prst="rtTriangl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1375193" name="Google Shape;280;p23"/>
          <p:cNvSpPr txBox="1"/>
          <p:nvPr/>
        </p:nvSpPr>
        <p:spPr bwMode="auto">
          <a:xfrm>
            <a:off x="6697662" y="2906712"/>
            <a:ext cx="31432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</a:t>
            </a:r>
            <a:endParaRPr/>
          </a:p>
        </p:txBody>
      </p:sp>
      <p:sp>
        <p:nvSpPr>
          <p:cNvPr id="1816594504" name="Google Shape;281;p23"/>
          <p:cNvSpPr txBox="1"/>
          <p:nvPr/>
        </p:nvSpPr>
        <p:spPr bwMode="auto">
          <a:xfrm flipH="1">
            <a:off x="6169025" y="2527300"/>
            <a:ext cx="3048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</a:t>
            </a:r>
            <a:endParaRPr/>
          </a:p>
        </p:txBody>
      </p:sp>
      <p:sp>
        <p:nvSpPr>
          <p:cNvPr id="463520617" name="Google Shape;282;p23"/>
          <p:cNvSpPr txBox="1"/>
          <p:nvPr/>
        </p:nvSpPr>
        <p:spPr bwMode="auto">
          <a:xfrm>
            <a:off x="6786562" y="2417762"/>
            <a:ext cx="439737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√2</a:t>
            </a:r>
            <a:endParaRPr/>
          </a:p>
        </p:txBody>
      </p:sp>
      <p:sp>
        <p:nvSpPr>
          <p:cNvPr id="526608383" name="Google Shape;283;p23"/>
          <p:cNvSpPr txBox="1"/>
          <p:nvPr/>
        </p:nvSpPr>
        <p:spPr bwMode="auto">
          <a:xfrm>
            <a:off x="9725025" y="1600200"/>
            <a:ext cx="3070225" cy="17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-3*-4 = -12    98%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-3*-4 =  12     2%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Mathematical theories cannot be proven by science/experiments</a:t>
            </a:r>
            <a:endParaRPr/>
          </a:p>
        </p:txBody>
      </p:sp>
      <p:grpSp>
        <p:nvGrpSpPr>
          <p:cNvPr id="553259059" name="Google Shape;284;p23"/>
          <p:cNvGrpSpPr/>
          <p:nvPr/>
        </p:nvGrpSpPr>
        <p:grpSpPr bwMode="auto">
          <a:xfrm>
            <a:off x="10036398" y="3608617"/>
            <a:ext cx="937766" cy="1437815"/>
            <a:chOff x="10037000" y="3607840"/>
            <a:chExt cx="936720" cy="1437840"/>
          </a:xfrm>
        </p:grpSpPr>
        <p:pic>
          <p:nvPicPr>
            <p:cNvPr id="285" name="Google Shape;285;p23"/>
            <p:cNvPicPr/>
            <p:nvPr/>
          </p:nvPicPr>
          <p:blipFill>
            <a:blip r:embed="rId3">
              <a:alphaModFix/>
            </a:blip>
            <a:srcRect l="0" t="0" r="0" b="0"/>
            <a:stretch/>
          </p:blipFill>
          <p:spPr bwMode="auto">
            <a:xfrm>
              <a:off x="10123039" y="3607840"/>
              <a:ext cx="579600" cy="1437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23"/>
            <p:cNvPicPr/>
            <p:nvPr/>
          </p:nvPicPr>
          <p:blipFill>
            <a:blip r:embed="rId4">
              <a:alphaModFix/>
            </a:blip>
            <a:srcRect l="0" t="0" r="0" b="0"/>
            <a:stretch/>
          </p:blipFill>
          <p:spPr bwMode="auto">
            <a:xfrm>
              <a:off x="10183880" y="4630600"/>
              <a:ext cx="789840" cy="2458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3"/>
            <p:cNvPicPr/>
            <p:nvPr/>
          </p:nvPicPr>
          <p:blipFill>
            <a:blip r:embed="rId5">
              <a:alphaModFix/>
            </a:blip>
            <a:srcRect l="0" t="0" r="0" b="0"/>
            <a:stretch/>
          </p:blipFill>
          <p:spPr bwMode="auto">
            <a:xfrm>
              <a:off x="10037000" y="4240360"/>
              <a:ext cx="302400" cy="310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86387269" name="Google Shape;288;p23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10712450" y="3590925"/>
            <a:ext cx="185737" cy="306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1403427" name="Google Shape;289;p23"/>
          <p:cNvPicPr/>
          <p:nvPr/>
        </p:nvPicPr>
        <p:blipFill>
          <a:blip r:embed="rId7">
            <a:alphaModFix/>
          </a:blip>
          <a:srcRect l="0" t="0" r="0" b="0"/>
          <a:stretch/>
        </p:blipFill>
        <p:spPr bwMode="auto">
          <a:xfrm>
            <a:off x="10702925" y="3454399"/>
            <a:ext cx="44450" cy="1793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7805463" name="Google Shape;290;p23"/>
          <p:cNvGrpSpPr/>
          <p:nvPr/>
        </p:nvGrpSpPr>
        <p:grpSpPr bwMode="auto">
          <a:xfrm>
            <a:off x="10299928" y="3741966"/>
            <a:ext cx="1469566" cy="186867"/>
            <a:chOff x="10300160" y="3741400"/>
            <a:chExt cx="1469158" cy="186840"/>
          </a:xfrm>
        </p:grpSpPr>
        <p:pic>
          <p:nvPicPr>
            <p:cNvPr id="291" name="Google Shape;291;p23"/>
            <p:cNvPicPr/>
            <p:nvPr/>
          </p:nvPicPr>
          <p:blipFill>
            <a:blip r:embed="rId8">
              <a:alphaModFix/>
            </a:blip>
            <a:srcRect l="0" t="0" r="0" b="0"/>
            <a:stretch/>
          </p:blipFill>
          <p:spPr bwMode="auto">
            <a:xfrm>
              <a:off x="10300160" y="3833560"/>
              <a:ext cx="312480" cy="946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23"/>
            <p:cNvPicPr/>
            <p:nvPr/>
          </p:nvPicPr>
          <p:blipFill>
            <a:blip r:embed="rId9">
              <a:alphaModFix/>
            </a:blip>
            <a:srcRect l="0" t="0" r="0" b="0"/>
            <a:stretch/>
          </p:blipFill>
          <p:spPr bwMode="auto">
            <a:xfrm>
              <a:off x="10753402" y="3741400"/>
              <a:ext cx="1015916" cy="145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00016194" name="Google Shape;293;p23"/>
          <p:cNvPicPr/>
          <p:nvPr/>
        </p:nvPicPr>
        <p:blipFill>
          <a:blip r:embed="rId10">
            <a:alphaModFix/>
          </a:blip>
          <a:srcRect l="0" t="0" r="0" b="0"/>
          <a:stretch/>
        </p:blipFill>
        <p:spPr bwMode="auto">
          <a:xfrm>
            <a:off x="10652125" y="-6350"/>
            <a:ext cx="12700" cy="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3479863" name="Google Shape;298;p24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98106866" name="Google Shape;299;p24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AI Dream or reality?</a:t>
            </a:r>
            <a:endParaRPr/>
          </a:p>
        </p:txBody>
      </p:sp>
      <p:sp>
        <p:nvSpPr>
          <p:cNvPr id="476686811" name="Google Shape;300;p24"/>
          <p:cNvSpPr txBox="1"/>
          <p:nvPr>
            <p:ph type="body" idx="1"/>
          </p:nvPr>
        </p:nvSpPr>
        <p:spPr bwMode="auto">
          <a:xfrm>
            <a:off x="304800" y="1163637"/>
            <a:ext cx="8534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Discovery of artifacts by mankind</a:t>
            </a:r>
            <a:endParaRPr/>
          </a:p>
          <a:p>
            <a:pPr marL="669925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Early days to make physical activities easy</a:t>
            </a:r>
            <a:endParaRPr/>
          </a:p>
          <a:p>
            <a:pPr marL="669925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E.g. various tools, wheels, etc.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Artifact to Make ease of Intellectual activities is a quite natural interest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Ruler, calculator are some examples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Simple machine using pulley and strings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Video – Familiarizing with machine intelligence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  <a:defRPr/>
            </a:pPr>
            <a:endParaRPr sz="30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  <a:defRPr/>
            </a:pPr>
            <a:endParaRPr sz="30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lvl="0" indent="-219074" algn="l">
              <a:spcBef>
                <a:spcPts val="600"/>
              </a:spcBef>
              <a:spcAft>
                <a:spcPts val="0"/>
              </a:spcAft>
              <a:buSzPts val="1950"/>
              <a:buNone/>
              <a:defRPr/>
            </a:pPr>
            <a:endParaRPr sz="30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338203192" name="Google Shape;305;p25"/>
          <p:cNvCxnSpPr/>
          <p:nvPr/>
        </p:nvCxnSpPr>
        <p:spPr bwMode="auto">
          <a:xfrm>
            <a:off x="2209800" y="2286000"/>
            <a:ext cx="0" cy="2270125"/>
          </a:xfrm>
          <a:prstGeom prst="straightConnector1">
            <a:avLst/>
          </a:prstGeom>
          <a:noFill/>
          <a:ln w="57150" cap="flat" cmpd="sng">
            <a:solidFill>
              <a:srgbClr val="66003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635110008" name="Google Shape;306;p25"/>
          <p:cNvCxnSpPr/>
          <p:nvPr/>
        </p:nvCxnSpPr>
        <p:spPr bwMode="auto">
          <a:xfrm>
            <a:off x="3186112" y="2209800"/>
            <a:ext cx="0" cy="1673225"/>
          </a:xfrm>
          <a:prstGeom prst="straightConnector1">
            <a:avLst/>
          </a:prstGeom>
          <a:noFill/>
          <a:ln w="57150" cap="flat" cmpd="sng">
            <a:solidFill>
              <a:srgbClr val="66003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70791112" name="Google Shape;307;p25"/>
          <p:cNvCxnSpPr/>
          <p:nvPr/>
        </p:nvCxnSpPr>
        <p:spPr bwMode="auto">
          <a:xfrm rot="10800000">
            <a:off x="4194175" y="1363662"/>
            <a:ext cx="0" cy="2525712"/>
          </a:xfrm>
          <a:prstGeom prst="straightConnector1">
            <a:avLst/>
          </a:prstGeom>
          <a:noFill/>
          <a:ln w="57150" cap="flat" cmpd="sng">
            <a:solidFill>
              <a:srgbClr val="66003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62526229" name="Google Shape;308;p25"/>
          <p:cNvCxnSpPr/>
          <p:nvPr/>
        </p:nvCxnSpPr>
        <p:spPr bwMode="auto">
          <a:xfrm>
            <a:off x="3686175" y="3889375"/>
            <a:ext cx="0" cy="74136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61223225" name="Google Shape;309;p25"/>
          <p:cNvSpPr txBox="1"/>
          <p:nvPr/>
        </p:nvSpPr>
        <p:spPr bwMode="auto">
          <a:xfrm>
            <a:off x="1857375" y="1131887"/>
            <a:ext cx="3194050" cy="24765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6410706" name="Google Shape;310;p25"/>
          <p:cNvSpPr txBox="1"/>
          <p:nvPr/>
        </p:nvSpPr>
        <p:spPr bwMode="auto">
          <a:xfrm>
            <a:off x="3468687" y="4630737"/>
            <a:ext cx="465137" cy="3762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</a:t>
            </a:r>
            <a:endParaRPr/>
          </a:p>
        </p:txBody>
      </p:sp>
      <p:sp>
        <p:nvSpPr>
          <p:cNvPr id="640039547" name="Google Shape;311;p25"/>
          <p:cNvSpPr txBox="1"/>
          <p:nvPr/>
        </p:nvSpPr>
        <p:spPr bwMode="auto">
          <a:xfrm>
            <a:off x="1897062" y="4556125"/>
            <a:ext cx="465137" cy="376237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</a:t>
            </a:r>
            <a:endParaRPr/>
          </a:p>
        </p:txBody>
      </p:sp>
      <p:cxnSp>
        <p:nvCxnSpPr>
          <p:cNvPr id="987749483" name="Google Shape;312;p25"/>
          <p:cNvCxnSpPr/>
          <p:nvPr/>
        </p:nvCxnSpPr>
        <p:spPr bwMode="auto">
          <a:xfrm>
            <a:off x="3933824" y="4876800"/>
            <a:ext cx="812800" cy="0"/>
          </a:xfrm>
          <a:prstGeom prst="straightConnector1">
            <a:avLst/>
          </a:prstGeom>
          <a:noFill/>
          <a:ln w="57150" cap="flat" cmpd="sng">
            <a:solidFill>
              <a:srgbClr val="CC33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54743070" name="Google Shape;313;p25"/>
          <p:cNvCxnSpPr/>
          <p:nvPr/>
        </p:nvCxnSpPr>
        <p:spPr bwMode="auto">
          <a:xfrm rot="10800000">
            <a:off x="1498600" y="4684712"/>
            <a:ext cx="406400" cy="0"/>
          </a:xfrm>
          <a:prstGeom prst="straightConnector1">
            <a:avLst/>
          </a:prstGeom>
          <a:noFill/>
          <a:ln w="57150" cap="flat" cmpd="sng">
            <a:solidFill>
              <a:srgbClr val="0000FF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21892355" name="Google Shape;314;p25"/>
          <p:cNvCxnSpPr/>
          <p:nvPr/>
        </p:nvCxnSpPr>
        <p:spPr bwMode="auto">
          <a:xfrm>
            <a:off x="4775200" y="3948112"/>
            <a:ext cx="0" cy="15382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59982296" name="Google Shape;315;p25"/>
          <p:cNvCxnSpPr/>
          <p:nvPr/>
        </p:nvCxnSpPr>
        <p:spPr bwMode="auto">
          <a:xfrm>
            <a:off x="1447800" y="4343400"/>
            <a:ext cx="0" cy="16700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1032672" name="Google Shape;316;p25"/>
          <p:cNvCxnSpPr/>
          <p:nvPr/>
        </p:nvCxnSpPr>
        <p:spPr bwMode="auto">
          <a:xfrm>
            <a:off x="4789487" y="4179887"/>
            <a:ext cx="349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44905919" name="Google Shape;317;p25"/>
          <p:cNvCxnSpPr/>
          <p:nvPr/>
        </p:nvCxnSpPr>
        <p:spPr bwMode="auto">
          <a:xfrm>
            <a:off x="1081087" y="4694237"/>
            <a:ext cx="349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6826369" name="Google Shape;318;p25"/>
          <p:cNvCxnSpPr/>
          <p:nvPr/>
        </p:nvCxnSpPr>
        <p:spPr bwMode="auto">
          <a:xfrm>
            <a:off x="4803775" y="4543425"/>
            <a:ext cx="349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780945396" name="Google Shape;319;p25"/>
          <p:cNvCxnSpPr/>
          <p:nvPr/>
        </p:nvCxnSpPr>
        <p:spPr bwMode="auto">
          <a:xfrm>
            <a:off x="4783137" y="4913312"/>
            <a:ext cx="349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48017632" name="Google Shape;320;p25"/>
          <p:cNvCxnSpPr/>
          <p:nvPr/>
        </p:nvCxnSpPr>
        <p:spPr bwMode="auto">
          <a:xfrm>
            <a:off x="4789487" y="5313362"/>
            <a:ext cx="349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88705199" name="Google Shape;321;p25"/>
          <p:cNvCxnSpPr/>
          <p:nvPr/>
        </p:nvCxnSpPr>
        <p:spPr bwMode="auto">
          <a:xfrm>
            <a:off x="1095375" y="5637212"/>
            <a:ext cx="349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6363294" name="Google Shape;322;p25"/>
          <p:cNvCxnSpPr/>
          <p:nvPr/>
        </p:nvCxnSpPr>
        <p:spPr bwMode="auto">
          <a:xfrm>
            <a:off x="1089025" y="5311775"/>
            <a:ext cx="349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746433949" name="Google Shape;323;p25"/>
          <p:cNvCxnSpPr/>
          <p:nvPr/>
        </p:nvCxnSpPr>
        <p:spPr bwMode="auto">
          <a:xfrm>
            <a:off x="1081087" y="4972050"/>
            <a:ext cx="3492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37603969" name="Google Shape;324;p25"/>
          <p:cNvSpPr/>
          <p:nvPr/>
        </p:nvSpPr>
        <p:spPr bwMode="auto">
          <a:xfrm>
            <a:off x="3200400" y="3429000"/>
            <a:ext cx="990600" cy="91440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9275873" name="Google Shape;325;p25"/>
          <p:cNvSpPr/>
          <p:nvPr/>
        </p:nvSpPr>
        <p:spPr bwMode="auto">
          <a:xfrm>
            <a:off x="2209800" y="1828800"/>
            <a:ext cx="990600" cy="91440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08181293" name="Google Shape;326;p25"/>
          <p:cNvCxnSpPr/>
          <p:nvPr/>
        </p:nvCxnSpPr>
        <p:spPr bwMode="auto">
          <a:xfrm>
            <a:off x="2714625" y="1371600"/>
            <a:ext cx="0" cy="866775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59447150" name="Google Shape;327;p25"/>
          <p:cNvCxnSpPr/>
          <p:nvPr/>
        </p:nvCxnSpPr>
        <p:spPr bwMode="auto">
          <a:xfrm rot="10800000">
            <a:off x="5334000" y="4086225"/>
            <a:ext cx="0" cy="790575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266219521" name="Google Shape;328;p25"/>
          <p:cNvSpPr txBox="1"/>
          <p:nvPr/>
        </p:nvSpPr>
        <p:spPr bwMode="auto">
          <a:xfrm>
            <a:off x="5470525" y="4343400"/>
            <a:ext cx="312737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</a:t>
            </a:r>
            <a:endParaRPr/>
          </a:p>
        </p:txBody>
      </p:sp>
      <p:cxnSp>
        <p:nvCxnSpPr>
          <p:cNvPr id="763685324" name="Google Shape;329;p25"/>
          <p:cNvCxnSpPr/>
          <p:nvPr/>
        </p:nvCxnSpPr>
        <p:spPr bwMode="auto">
          <a:xfrm>
            <a:off x="990600" y="4713287"/>
            <a:ext cx="0" cy="1230312"/>
          </a:xfrm>
          <a:prstGeom prst="straightConnector1">
            <a:avLst/>
          </a:prstGeom>
          <a:noFill/>
          <a:ln w="38100" cap="flat" cmpd="sng">
            <a:solidFill>
              <a:srgbClr val="0070C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6703784" name="Google Shape;330;p25"/>
          <p:cNvSpPr txBox="1"/>
          <p:nvPr/>
        </p:nvSpPr>
        <p:spPr bwMode="auto">
          <a:xfrm>
            <a:off x="5470525" y="1668462"/>
            <a:ext cx="3498850" cy="94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Libre Baskerville"/>
              <a:buNone/>
              <a:defRPr/>
            </a:pPr>
            <a:r>
              <a:rPr lang="en-US" sz="2800" b="1" i="0" u="none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</a:rPr>
              <a:t>Simple machine to multiply by 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792060" name="Google Shape;335;p26"/>
          <p:cNvSpPr txBox="1"/>
          <p:nvPr>
            <p:ph type="title"/>
          </p:nvPr>
        </p:nvSpPr>
        <p:spPr bwMode="auto">
          <a:xfrm>
            <a:off x="431799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4</a:t>
            </a:r>
            <a:endParaRPr/>
          </a:p>
        </p:txBody>
      </p:sp>
      <p:sp>
        <p:nvSpPr>
          <p:cNvPr id="1604437055" name="Google Shape;336;p26"/>
          <p:cNvSpPr txBox="1"/>
          <p:nvPr>
            <p:ph type="body" idx="4294967295"/>
          </p:nvPr>
        </p:nvSpPr>
        <p:spPr bwMode="auto">
          <a:xfrm>
            <a:off x="457200" y="116363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Identify the </a:t>
            </a:r>
            <a:r>
              <a:rPr lang="en-US" sz="30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features </a:t>
            </a:r>
            <a: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that are already built into machines.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Language understanding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Avoiding obstacles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Maintaining balance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Distance by Seeing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Hearing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Walking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Swimming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Decision making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Planning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memorizing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……..</a:t>
            </a:r>
            <a:endParaRPr/>
          </a:p>
          <a:p>
            <a:pPr marL="669925" marR="0" lvl="1" indent="-25685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669925" marR="0" lvl="1" indent="-25685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669925" marR="0" lvl="1" indent="-22637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4487" marR="0" lvl="1" indent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669925" marR="0" lvl="1" indent="-22637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669925" marR="0" lvl="1" indent="-22637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669925" marR="0" lvl="1" indent="-22637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2412593" name="Google Shape;337;p26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314925" name="Google Shape;342;p27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Why AI is so different?</a:t>
            </a:r>
            <a:endParaRPr/>
          </a:p>
        </p:txBody>
      </p:sp>
      <p:sp>
        <p:nvSpPr>
          <p:cNvPr id="193925805" name="Google Shape;343;p27"/>
          <p:cNvSpPr txBox="1"/>
          <p:nvPr>
            <p:ph type="body" idx="1"/>
          </p:nvPr>
        </p:nvSpPr>
        <p:spPr bwMode="auto">
          <a:xfrm>
            <a:off x="457200" y="1163637"/>
            <a:ext cx="8610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Why is AI different from other technologies?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				</a:t>
            </a:r>
            <a:endParaRPr sz="28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■"/>
              <a:defRPr/>
            </a:pPr>
            <a:r>
              <a:rPr lang="en-US" sz="2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Since power and control are together, AI can 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+ve: build autonomous solutions: self-driving vehicle,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drones, chatbots, customer care, 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-ve: AI can supersede humanity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to avoid AI superseding humanity, there are initiatives: human-centered AI, Responsible AI, and Explainable AI 		</a:t>
            </a:r>
            <a:endParaRPr/>
          </a:p>
        </p:txBody>
      </p:sp>
      <p:sp>
        <p:nvSpPr>
          <p:cNvPr id="39936920" name="Google Shape;344;p27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graphicFrame>
        <p:nvGraphicFramePr>
          <p:cNvPr id="1891645338" name="Google Shape;345;p27"/>
          <p:cNvGraphicFramePr>
            <a:graphicFrameLocks xmlns:a="http://schemas.openxmlformats.org/drawingml/2006/main"/>
          </p:cNvGraphicFramePr>
          <p:nvPr/>
        </p:nvGraphicFramePr>
        <p:xfrm>
          <a:off x="1219200" y="1752599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{6BE508B7-5C0A-4AB1-BE71-38C4D81AF5E0}</a:tableStyleId>
                <a:noFill/>
              </a:tblPr>
              <a:tblGrid>
                <a:gridCol w="2032000"/>
                <a:gridCol w="2032000"/>
                <a:gridCol w="2032000"/>
              </a:tblGrid>
              <a:tr h="371475">
                <a:tc>
                  <a:txBody>
                    <a:bodyPr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38100" algn="ctr">
                      <a:solidFill>
                        <a:schemeClr val="lt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Power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38100" algn="ctr">
                      <a:solidFill>
                        <a:schemeClr val="lt1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1" i="0" u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38100" algn="ctr">
                      <a:solidFill>
                        <a:schemeClr val="lt1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36987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Electricity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381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381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Man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381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ECDECB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Automobile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Man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F6EFE7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Steam engine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Man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ECDECB"/>
                    </a:solidFill>
                  </a:tcPr>
                </a:tc>
              </a:tr>
              <a:tr h="36987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Nuclear energy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Man 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F6EFE7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  <a:defRPr/>
                      </a:pPr>
                      <a:r>
                        <a:rPr lang="en-US" sz="1800" b="0" i="0" u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  <a:endParaRPr/>
                    </a:p>
                  </a:txBody>
                  <a:tcPr marL="91450" marR="91450" marT="45725" marB="45725">
                    <a:lnL w="12700" algn="ctr">
                      <a:solidFill>
                        <a:schemeClr val="lt1"/>
                      </a:solidFill>
                    </a:lnL>
                    <a:lnR w="12700" algn="ctr">
                      <a:solidFill>
                        <a:schemeClr val="lt1"/>
                      </a:solidFill>
                    </a:lnR>
                    <a:lnT w="12700" algn="ctr">
                      <a:solidFill>
                        <a:schemeClr val="lt1"/>
                      </a:solidFill>
                    </a:lnT>
                    <a:lnB w="12700" algn="ctr">
                      <a:solidFill>
                        <a:schemeClr val="lt1"/>
                      </a:solidFill>
                    </a:lnB>
                    <a:solidFill>
                      <a:srgbClr val="ECDE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464397" name="Google Shape;350;p28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5</a:t>
            </a:r>
            <a:endParaRPr/>
          </a:p>
        </p:txBody>
      </p:sp>
      <p:sp>
        <p:nvSpPr>
          <p:cNvPr id="1346046836" name="Google Shape;351;p28"/>
          <p:cNvSpPr txBox="1"/>
          <p:nvPr>
            <p:ph type="body" idx="1"/>
          </p:nvPr>
        </p:nvSpPr>
        <p:spPr bwMode="auto">
          <a:xfrm>
            <a:off x="152400" y="1163637"/>
            <a:ext cx="8915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Which of the following machines are intelligent? Justify your answer.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Computer (No – it can be programmed to be intelligent)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Self-driving car (Yes – without a human, it can drive)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Motorcycle (No – no way to program either)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Abacus (No – it can help humans to do intelligent tasks)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Calculator (Yes – without human calculation can be done)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Smart camera (Yes – motion tracking, …….)</a:t>
            </a:r>
            <a:endParaRPr/>
          </a:p>
          <a:p>
            <a:pPr marL="342900" marR="0" lvl="0" indent="-22733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2733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2733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6598637" name="Google Shape;352;p28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619650" name="Google Shape;357;p29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854657456" name="Google Shape;358;p29"/>
          <p:cNvSpPr txBox="1"/>
          <p:nvPr>
            <p:ph type="title"/>
          </p:nvPr>
        </p:nvSpPr>
        <p:spPr bwMode="auto">
          <a:xfrm>
            <a:off x="457200" y="277812"/>
            <a:ext cx="96012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Foundations of AI – Influential areas</a:t>
            </a:r>
            <a:endParaRPr/>
          </a:p>
        </p:txBody>
      </p:sp>
      <p:sp>
        <p:nvSpPr>
          <p:cNvPr id="1895842688" name="Google Shape;359;p29"/>
          <p:cNvSpPr txBox="1"/>
          <p:nvPr>
            <p:ph type="body" idx="4294967295"/>
          </p:nvPr>
        </p:nvSpPr>
        <p:spPr bwMode="auto">
          <a:xfrm>
            <a:off x="152400" y="990600"/>
            <a:ext cx="90678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Philosophy (428BC) – change the direction of thinking 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real/simulation, mind/matter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, intelligent machines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intelligence, Knowledge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consciousness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, thinking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, man/machine, computability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Mathematics 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and Statistics (800) 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▪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formalizing our symbolic system (F=ma), the logic for reasoning,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▪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algorithms</a:t>
            </a:r>
            <a:endParaRPr sz="22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▪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computability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(Turing-1939: read/write/left/right/delete/do nothing)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Economics (1776-)  - 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resources, profit, cost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Neuroscience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(1861-)  - the foundation for defining 2 forms of intelligence as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analytical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and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training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Psychology (1887-) – Mental Health (anxiety, depression,  ELIZA) very first AI program (NLP) - dialog between a psychiatric patient and a doctor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4940934" name="Google Shape;360;p29"/>
          <p:cNvSpPr txBox="1"/>
          <p:nvPr/>
        </p:nvSpPr>
        <p:spPr bwMode="auto">
          <a:xfrm>
            <a:off x="9601200" y="838200"/>
            <a:ext cx="3570287" cy="2862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What are AI-related philosophical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Concepts?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Thinking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Intelligence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Ethics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Knowledge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Reasoning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Computability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Intelligent machines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86813" name="Google Shape;365;p30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811185203" name="Google Shape;366;p30"/>
          <p:cNvSpPr txBox="1"/>
          <p:nvPr>
            <p:ph type="title"/>
          </p:nvPr>
        </p:nvSpPr>
        <p:spPr bwMode="auto">
          <a:xfrm>
            <a:off x="457200" y="277812"/>
            <a:ext cx="96012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Foundations of AI – Influential areas</a:t>
            </a:r>
            <a:endParaRPr/>
          </a:p>
        </p:txBody>
      </p:sp>
      <p:sp>
        <p:nvSpPr>
          <p:cNvPr id="327088589" name="Google Shape;367;p30"/>
          <p:cNvSpPr txBox="1"/>
          <p:nvPr>
            <p:ph type="body" idx="4294967295"/>
          </p:nvPr>
        </p:nvSpPr>
        <p:spPr bwMode="auto">
          <a:xfrm>
            <a:off x="381000" y="1163637"/>
            <a:ext cx="90678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Computer Science 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To program the intelligence into machines (Turing)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Programming languages, data structures, algorithms, OS, compilers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Computer engineering 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(1940 -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 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Constructing a machine to run the programs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Control theory and Cybernetics (1984-) – control and networking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Linguistics (1957-) – science of languages (NLP), LLM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Other sciences like 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Education (teaching/learning)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Physics, Biology, and medicine</a:t>
            </a:r>
            <a:endParaRPr/>
          </a:p>
          <a:p>
            <a:pPr marL="342900" marR="0" lvl="0" indent="-235583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35583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816142" name="Google Shape;372;p31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</a:t>
            </a:r>
            <a:endParaRPr/>
          </a:p>
        </p:txBody>
      </p:sp>
      <p:sp>
        <p:nvSpPr>
          <p:cNvPr id="1636220687" name="Google Shape;373;p31"/>
          <p:cNvSpPr txBox="1"/>
          <p:nvPr>
            <p:ph type="body" idx="4294967295"/>
          </p:nvPr>
        </p:nvSpPr>
        <p:spPr bwMode="auto">
          <a:xfrm>
            <a:off x="436880" y="9906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What is the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most influential area 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for AI to build intelligent machines in their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current form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? Justify your answer.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Mathematics. We develop intelligent machines by computerizing natural intelligence. Computability, algorithms are a concept of mathematics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What is the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most influential area 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for defining a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theoretical basis for AI 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to construct intelligent machines? Justify your answer.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Neuroscience – Neuroscience has identified two forms of intelligence: analytical-based and training-based. Left and right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1048284" name="Google Shape;374;p31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161097" name="Google Shape;379;p32"/>
          <p:cNvSpPr txBox="1"/>
          <p:nvPr>
            <p:ph type="body" idx="1"/>
          </p:nvPr>
        </p:nvSpPr>
        <p:spPr bwMode="auto">
          <a:xfrm>
            <a:off x="579437" y="404812"/>
            <a:ext cx="8229600" cy="544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r>
              <a:rPr lang="en-US" sz="3000" b="1" i="0" u="none">
                <a:solidFill>
                  <a:srgbClr val="00B050"/>
                </a:solidFill>
                <a:latin typeface="Arial"/>
                <a:ea typeface="Arial"/>
                <a:cs typeface="Arial"/>
              </a:rPr>
              <a:t>Foundations of AI</a:t>
            </a:r>
            <a:endParaRPr/>
          </a:p>
        </p:txBody>
      </p:sp>
      <p:sp>
        <p:nvSpPr>
          <p:cNvPr id="1682799154" name="Google Shape;380;p32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081099194" name="Google Shape;381;p32"/>
          <p:cNvSpPr/>
          <p:nvPr/>
        </p:nvSpPr>
        <p:spPr bwMode="auto">
          <a:xfrm>
            <a:off x="4343400" y="5638800"/>
            <a:ext cx="1981200" cy="914400"/>
          </a:xfrm>
          <a:prstGeom prst="ellipse">
            <a:avLst/>
          </a:prstGeom>
          <a:solidFill>
            <a:srgbClr val="27561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Philosophy</a:t>
            </a:r>
            <a:endParaRPr/>
          </a:p>
        </p:txBody>
      </p:sp>
      <p:sp>
        <p:nvSpPr>
          <p:cNvPr id="1106985798" name="Google Shape;382;p32"/>
          <p:cNvSpPr/>
          <p:nvPr/>
        </p:nvSpPr>
        <p:spPr bwMode="auto">
          <a:xfrm>
            <a:off x="6009959" y="1470026"/>
            <a:ext cx="1720850" cy="914400"/>
          </a:xfrm>
          <a:prstGeom prst="ellipse">
            <a:avLst/>
          </a:prstGeom>
          <a:gradFill>
            <a:gsLst>
              <a:gs pos="0">
                <a:srgbClr val="AC7B00"/>
              </a:gs>
              <a:gs pos="80000">
                <a:srgbClr val="E2A200"/>
              </a:gs>
              <a:gs pos="100000">
                <a:srgbClr val="E8A500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Science</a:t>
            </a:r>
            <a:endParaRPr/>
          </a:p>
        </p:txBody>
      </p:sp>
      <p:sp>
        <p:nvSpPr>
          <p:cNvPr id="333269959" name="Google Shape;383;p32"/>
          <p:cNvSpPr/>
          <p:nvPr/>
        </p:nvSpPr>
        <p:spPr bwMode="auto">
          <a:xfrm>
            <a:off x="7288212" y="3651250"/>
            <a:ext cx="1931988" cy="914400"/>
          </a:xfrm>
          <a:prstGeom prst="ellipse">
            <a:avLst/>
          </a:prstGeom>
          <a:gradFill>
            <a:gsLst>
              <a:gs pos="0">
                <a:srgbClr val="AC7B00"/>
              </a:gs>
              <a:gs pos="80000">
                <a:srgbClr val="E2A200"/>
              </a:gs>
              <a:gs pos="100000">
                <a:srgbClr val="E8A500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Psychology</a:t>
            </a:r>
            <a:endParaRPr/>
          </a:p>
        </p:txBody>
      </p:sp>
      <p:sp>
        <p:nvSpPr>
          <p:cNvPr id="218140784" name="Google Shape;384;p32"/>
          <p:cNvSpPr/>
          <p:nvPr/>
        </p:nvSpPr>
        <p:spPr bwMode="auto">
          <a:xfrm>
            <a:off x="1712913" y="1981200"/>
            <a:ext cx="2311399" cy="914400"/>
          </a:xfrm>
          <a:prstGeom prst="ellipse">
            <a:avLst/>
          </a:prstGeom>
          <a:gradFill>
            <a:gsLst>
              <a:gs pos="0">
                <a:srgbClr val="AC7B00"/>
              </a:gs>
              <a:gs pos="80000">
                <a:srgbClr val="E2A200"/>
              </a:gs>
              <a:gs pos="100000">
                <a:srgbClr val="E8A500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Neuroscience</a:t>
            </a:r>
            <a:endParaRPr/>
          </a:p>
        </p:txBody>
      </p:sp>
      <p:sp>
        <p:nvSpPr>
          <p:cNvPr id="1261292354" name="Google Shape;385;p32"/>
          <p:cNvSpPr/>
          <p:nvPr/>
        </p:nvSpPr>
        <p:spPr bwMode="auto">
          <a:xfrm>
            <a:off x="457200" y="3849688"/>
            <a:ext cx="1981200" cy="914400"/>
          </a:xfrm>
          <a:prstGeom prst="ellipse">
            <a:avLst/>
          </a:prstGeom>
          <a:gradFill>
            <a:gsLst>
              <a:gs pos="0">
                <a:srgbClr val="AC7B00"/>
              </a:gs>
              <a:gs pos="80000">
                <a:srgbClr val="E2A200"/>
              </a:gs>
              <a:gs pos="100000">
                <a:srgbClr val="E8A500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Economics</a:t>
            </a:r>
            <a:endParaRPr/>
          </a:p>
        </p:txBody>
      </p:sp>
      <p:sp>
        <p:nvSpPr>
          <p:cNvPr id="1610101308" name="Google Shape;386;p32"/>
          <p:cNvSpPr/>
          <p:nvPr/>
        </p:nvSpPr>
        <p:spPr bwMode="auto">
          <a:xfrm>
            <a:off x="679450" y="4852988"/>
            <a:ext cx="2292350" cy="914400"/>
          </a:xfrm>
          <a:prstGeom prst="ellipse">
            <a:avLst/>
          </a:prstGeom>
          <a:solidFill>
            <a:srgbClr val="27561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Mathematics and Statistics</a:t>
            </a:r>
            <a:endParaRPr/>
          </a:p>
        </p:txBody>
      </p:sp>
      <p:sp>
        <p:nvSpPr>
          <p:cNvPr id="1418682186" name="Google Shape;387;p32"/>
          <p:cNvSpPr/>
          <p:nvPr/>
        </p:nvSpPr>
        <p:spPr bwMode="auto">
          <a:xfrm>
            <a:off x="6400800" y="5527675"/>
            <a:ext cx="1676400" cy="914400"/>
          </a:xfrm>
          <a:prstGeom prst="ellipse">
            <a:avLst/>
          </a:prstGeom>
          <a:gradFill>
            <a:gsLst>
              <a:gs pos="0">
                <a:srgbClr val="AC7B00"/>
              </a:gs>
              <a:gs pos="80000">
                <a:srgbClr val="E2A200"/>
              </a:gs>
              <a:gs pos="100000">
                <a:srgbClr val="E8A500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Control Theory</a:t>
            </a:r>
            <a:endParaRPr/>
          </a:p>
        </p:txBody>
      </p:sp>
      <p:sp>
        <p:nvSpPr>
          <p:cNvPr id="283879477" name="Google Shape;388;p32"/>
          <p:cNvSpPr/>
          <p:nvPr/>
        </p:nvSpPr>
        <p:spPr bwMode="auto">
          <a:xfrm>
            <a:off x="6829425" y="2590800"/>
            <a:ext cx="2027238" cy="914400"/>
          </a:xfrm>
          <a:prstGeom prst="ellipse">
            <a:avLst/>
          </a:prstGeom>
          <a:solidFill>
            <a:srgbClr val="27561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Computer Engineering</a:t>
            </a:r>
            <a:endParaRPr/>
          </a:p>
        </p:txBody>
      </p:sp>
      <p:sp>
        <p:nvSpPr>
          <p:cNvPr id="671708643" name="Google Shape;389;p32"/>
          <p:cNvSpPr/>
          <p:nvPr/>
        </p:nvSpPr>
        <p:spPr bwMode="auto">
          <a:xfrm>
            <a:off x="6948488" y="4633913"/>
            <a:ext cx="1981200" cy="914400"/>
          </a:xfrm>
          <a:prstGeom prst="ellipse">
            <a:avLst/>
          </a:prstGeom>
          <a:solidFill>
            <a:srgbClr val="27561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Cybernetics</a:t>
            </a:r>
            <a:endParaRPr/>
          </a:p>
        </p:txBody>
      </p:sp>
      <p:sp>
        <p:nvSpPr>
          <p:cNvPr id="693750736" name="Google Shape;390;p32"/>
          <p:cNvSpPr/>
          <p:nvPr/>
        </p:nvSpPr>
        <p:spPr bwMode="auto">
          <a:xfrm>
            <a:off x="2452687" y="5562600"/>
            <a:ext cx="1738312" cy="914400"/>
          </a:xfrm>
          <a:prstGeom prst="ellipse">
            <a:avLst/>
          </a:prstGeom>
          <a:gradFill>
            <a:gsLst>
              <a:gs pos="0">
                <a:srgbClr val="AC7B00"/>
              </a:gs>
              <a:gs pos="80000">
                <a:srgbClr val="E2A200"/>
              </a:gs>
              <a:gs pos="100000">
                <a:srgbClr val="E8A500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Natural Sciences</a:t>
            </a:r>
            <a:endParaRPr/>
          </a:p>
        </p:txBody>
      </p:sp>
      <p:sp>
        <p:nvSpPr>
          <p:cNvPr id="83317021" name="Google Shape;391;p32"/>
          <p:cNvSpPr/>
          <p:nvPr/>
        </p:nvSpPr>
        <p:spPr bwMode="auto">
          <a:xfrm>
            <a:off x="4156711" y="1500188"/>
            <a:ext cx="1720850" cy="914400"/>
          </a:xfrm>
          <a:prstGeom prst="ellipse">
            <a:avLst/>
          </a:prstGeom>
          <a:solidFill>
            <a:srgbClr val="27561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Education</a:t>
            </a:r>
            <a:endParaRPr/>
          </a:p>
        </p:txBody>
      </p:sp>
      <p:sp>
        <p:nvSpPr>
          <p:cNvPr id="429068452" name="Google Shape;392;p32"/>
          <p:cNvSpPr/>
          <p:nvPr/>
        </p:nvSpPr>
        <p:spPr bwMode="auto">
          <a:xfrm>
            <a:off x="685800" y="2819400"/>
            <a:ext cx="1981200" cy="914400"/>
          </a:xfrm>
          <a:prstGeom prst="ellipse">
            <a:avLst/>
          </a:prstGeom>
          <a:solidFill>
            <a:srgbClr val="27561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Linguistics</a:t>
            </a:r>
            <a:endParaRPr/>
          </a:p>
        </p:txBody>
      </p:sp>
      <p:sp>
        <p:nvSpPr>
          <p:cNvPr id="123024195" name="Google Shape;393;p32"/>
          <p:cNvSpPr/>
          <p:nvPr/>
        </p:nvSpPr>
        <p:spPr bwMode="auto">
          <a:xfrm>
            <a:off x="2438400" y="2814638"/>
            <a:ext cx="4772025" cy="2312987"/>
          </a:xfrm>
          <a:prstGeom prst="ellipse">
            <a:avLst/>
          </a:prstGeom>
          <a:solidFill>
            <a:srgbClr val="3333C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/>
            </a:pPr>
            <a:r>
              <a:rPr lang="en-US" sz="2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Foundations of Artificial Intelligence</a:t>
            </a:r>
            <a:endParaRPr/>
          </a:p>
        </p:txBody>
      </p:sp>
      <p:cxnSp>
        <p:nvCxnSpPr>
          <p:cNvPr id="1944251110" name="Google Shape;394;p32"/>
          <p:cNvCxnSpPr/>
          <p:nvPr/>
        </p:nvCxnSpPr>
        <p:spPr bwMode="auto">
          <a:xfrm rot="10800000" flipH="1">
            <a:off x="6172200" y="2444750"/>
            <a:ext cx="381000" cy="50482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1174546256" name="Google Shape;395;p32"/>
          <p:cNvSpPr txBox="1"/>
          <p:nvPr/>
        </p:nvSpPr>
        <p:spPr bwMode="auto">
          <a:xfrm>
            <a:off x="5534025" y="682625"/>
            <a:ext cx="3135312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Parallel computing (ANN)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Distributed computing (MAS)</a:t>
            </a:r>
            <a:endParaRPr/>
          </a:p>
        </p:txBody>
      </p:sp>
      <p:sp>
        <p:nvSpPr>
          <p:cNvPr id="594998405" name="Google Shape;396;p32"/>
          <p:cNvSpPr txBox="1"/>
          <p:nvPr/>
        </p:nvSpPr>
        <p:spPr bwMode="auto">
          <a:xfrm>
            <a:off x="9421585" y="1470025"/>
            <a:ext cx="2416534" cy="914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In the modern world</a:t>
            </a:r>
            <a:endParaRPr>
              <a:solidFill>
                <a:schemeClr val="tx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AI contributed to R&amp;D</a:t>
            </a:r>
            <a:endParaRPr>
              <a:solidFill>
                <a:schemeClr val="tx1"/>
              </a:solidFill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tx1"/>
                </a:solidFill>
                <a:latin typeface="Arial"/>
                <a:ea typeface="Arial"/>
                <a:cs typeface="Arial"/>
              </a:rPr>
              <a:t>In all disciplines.</a:t>
            </a: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162351" name="Google Shape;401;p33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4200">
              <a:solidFill>
                <a:schemeClr val="dk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784500776" name="Google Shape;402;p33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pic>
        <p:nvPicPr>
          <p:cNvPr id="363156176" name="Google Shape;403;p33" descr="A diagram of machine learning&#10;&#10;Description automatically generated"/>
          <p:cNvPicPr/>
          <p:nvPr>
            <p:ph type="body" idx="1"/>
          </p:nvPr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27037" y="277812"/>
            <a:ext cx="7543800" cy="6154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288708" name="Google Shape;408;p34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2120351403" name="Google Shape;409;p34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Major Areas of AI</a:t>
            </a:r>
            <a:endParaRPr/>
          </a:p>
        </p:txBody>
      </p:sp>
      <p:sp>
        <p:nvSpPr>
          <p:cNvPr id="306865115" name="Google Shape;410;p34"/>
          <p:cNvSpPr txBox="1"/>
          <p:nvPr>
            <p:ph type="body" idx="4294967295"/>
          </p:nvPr>
        </p:nvSpPr>
        <p:spPr bwMode="auto">
          <a:xfrm>
            <a:off x="-76200" y="1066800"/>
            <a:ext cx="9753600" cy="506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All AI technologies can be classified under 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  <a:defRPr/>
            </a:pPr>
            <a:r>
              <a:rPr lang="en-US" sz="18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symbolic</a:t>
            </a: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</a:t>
            </a: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1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Artificial Cognitive Systems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– rules/theories/knowledge/algorithmic- analytical</a:t>
            </a: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  <a:defRPr/>
            </a:pPr>
            <a:r>
              <a:rPr lang="en-US" sz="18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non-symbolic AI </a:t>
            </a: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(</a:t>
            </a:r>
            <a:r>
              <a:rPr lang="en-US" sz="1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Machine Learning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– data/non-algorithmic-training</a:t>
            </a: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Artificial Cognitive systems (ACS) – symbolic (raw material is </a:t>
            </a: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knowledge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Expert systems, Natural Language processing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Multi Agents Systems, Game playing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Fuzzy Logic, Ontology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Machine Learning (ML) – non-symbolic (raw material is</a:t>
            </a: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data)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Artificial Neural Networks, Deep Learning, Genetic Algorithms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Robotics, Computer Vision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Some areas can come under both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Game playing (Deep Blue – S, AlphaGo - NS), 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Natural language processing (Eliza – S,     Google Assistant - NS), Robotics(Sharkey – S , Alexa - NS) </a:t>
            </a:r>
            <a:endParaRPr/>
          </a:p>
          <a:p>
            <a:pPr marL="669925" marR="0" lvl="1" indent="-24161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None/>
              <a:defRPr/>
            </a:pPr>
            <a:endParaRPr sz="22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35583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35583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20226" name="Google Shape;415;p35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AI and Machine Learning</a:t>
            </a:r>
            <a:endParaRPr/>
          </a:p>
        </p:txBody>
      </p:sp>
      <p:sp>
        <p:nvSpPr>
          <p:cNvPr id="1290515051" name="Google Shape;416;p35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932792215" name="Google Shape;417;p35"/>
          <p:cNvSpPr/>
          <p:nvPr/>
        </p:nvSpPr>
        <p:spPr bwMode="auto">
          <a:xfrm>
            <a:off x="1295400" y="1160462"/>
            <a:ext cx="7391400" cy="5011738"/>
          </a:xfrm>
          <a:prstGeom prst="ellipse">
            <a:avLst/>
          </a:prstGeom>
          <a:gradFill>
            <a:gsLst>
              <a:gs pos="0">
                <a:srgbClr val="FFFF00"/>
              </a:gs>
              <a:gs pos="80000">
                <a:srgbClr val="E2A200"/>
              </a:gs>
              <a:gs pos="100000">
                <a:srgbClr val="E8A500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7648476" name="Google Shape;418;p35"/>
          <p:cNvSpPr/>
          <p:nvPr/>
        </p:nvSpPr>
        <p:spPr bwMode="auto">
          <a:xfrm>
            <a:off x="2667000" y="2186790"/>
            <a:ext cx="4572000" cy="3756810"/>
          </a:xfrm>
          <a:prstGeom prst="ellipse">
            <a:avLst/>
          </a:prstGeom>
          <a:solidFill>
            <a:srgbClr val="27561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</p:txBody>
      </p:sp>
      <p:sp>
        <p:nvSpPr>
          <p:cNvPr id="1869085608" name="Google Shape;419;p35"/>
          <p:cNvSpPr txBox="1"/>
          <p:nvPr/>
        </p:nvSpPr>
        <p:spPr bwMode="auto">
          <a:xfrm>
            <a:off x="3224212" y="1476375"/>
            <a:ext cx="3581400" cy="604837"/>
          </a:xfrm>
          <a:prstGeom prst="rect">
            <a:avLst/>
          </a:prstGeom>
          <a:solidFill>
            <a:srgbClr val="FFC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None/>
              <a:defRPr/>
            </a:pPr>
            <a:r>
              <a:rPr lang="en-US" sz="1800" b="1" i="0" u="none">
                <a:solidFill>
                  <a:srgbClr val="0D0D0D"/>
                </a:solidFill>
                <a:latin typeface="Arial"/>
                <a:ea typeface="Arial"/>
                <a:cs typeface="Arial"/>
              </a:rPr>
              <a:t>ARTIFICIAL INTELLIGENCE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Arial"/>
              <a:buNone/>
              <a:defRPr/>
            </a:pPr>
            <a:r>
              <a:rPr lang="en-US" sz="1800" b="1" i="0" u="none">
                <a:solidFill>
                  <a:srgbClr val="0D0D0D"/>
                </a:solidFill>
                <a:latin typeface="Arial"/>
                <a:ea typeface="Arial"/>
                <a:cs typeface="Arial"/>
              </a:rPr>
              <a:t>-build intelligent machines-</a:t>
            </a:r>
            <a:endParaRPr/>
          </a:p>
        </p:txBody>
      </p:sp>
      <p:sp>
        <p:nvSpPr>
          <p:cNvPr id="937195213" name="Google Shape;420;p35"/>
          <p:cNvSpPr txBox="1"/>
          <p:nvPr/>
        </p:nvSpPr>
        <p:spPr bwMode="auto">
          <a:xfrm>
            <a:off x="3509962" y="2571750"/>
            <a:ext cx="3009900" cy="815975"/>
          </a:xfrm>
          <a:prstGeom prst="rect">
            <a:avLst/>
          </a:prstGeom>
          <a:solidFill>
            <a:srgbClr val="28571F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-statistical and mathematical data analyze </a:t>
            </a:r>
            <a:endParaRPr/>
          </a:p>
        </p:txBody>
      </p:sp>
      <p:sp>
        <p:nvSpPr>
          <p:cNvPr id="419341828" name="Google Shape;421;p35"/>
          <p:cNvSpPr/>
          <p:nvPr/>
        </p:nvSpPr>
        <p:spPr bwMode="auto">
          <a:xfrm>
            <a:off x="3905250" y="3856467"/>
            <a:ext cx="2286000" cy="1782761"/>
          </a:xfrm>
          <a:prstGeom prst="ellipse">
            <a:avLst/>
          </a:prstGeom>
          <a:solidFill>
            <a:srgbClr val="7030A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5883254" name="Google Shape;422;p35"/>
          <p:cNvSpPr txBox="1"/>
          <p:nvPr/>
        </p:nvSpPr>
        <p:spPr bwMode="auto">
          <a:xfrm>
            <a:off x="3962400" y="4367212"/>
            <a:ext cx="2076450" cy="762000"/>
          </a:xfrm>
          <a:prstGeom prst="rect">
            <a:avLst/>
          </a:prstGeom>
          <a:solidFill>
            <a:srgbClr val="7030A0">
              <a:alpha val="78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 Learning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-based on a model of the brain –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artificial neural networks</a:t>
            </a:r>
            <a:endParaRPr/>
          </a:p>
        </p:txBody>
      </p:sp>
      <p:cxnSp>
        <p:nvCxnSpPr>
          <p:cNvPr id="1680175049" name="Google Shape;423;p35"/>
          <p:cNvCxnSpPr/>
          <p:nvPr/>
        </p:nvCxnSpPr>
        <p:spPr bwMode="auto">
          <a:xfrm>
            <a:off x="-1600200" y="838200"/>
            <a:ext cx="76200" cy="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086705" name="Google Shape;428;p36"/>
          <p:cNvSpPr txBox="1"/>
          <p:nvPr>
            <p:ph type="title"/>
          </p:nvPr>
        </p:nvSpPr>
        <p:spPr bwMode="auto">
          <a:xfrm>
            <a:off x="422275" y="30480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Major Areas of AI</a:t>
            </a:r>
            <a:endParaRPr/>
          </a:p>
        </p:txBody>
      </p:sp>
      <p:sp>
        <p:nvSpPr>
          <p:cNvPr id="877251379" name="Google Shape;429;p36"/>
          <p:cNvSpPr txBox="1"/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9074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1726560" name="Google Shape;430;p36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232953647" name="Google Shape;431;p36"/>
          <p:cNvSpPr/>
          <p:nvPr/>
        </p:nvSpPr>
        <p:spPr bwMode="auto">
          <a:xfrm>
            <a:off x="421849" y="1669330"/>
            <a:ext cx="8722151" cy="4454525"/>
          </a:xfrm>
          <a:prstGeom prst="ellipse">
            <a:avLst/>
          </a:prstGeom>
          <a:gradFill>
            <a:gsLst>
              <a:gs pos="0">
                <a:srgbClr val="AC7B00"/>
              </a:gs>
              <a:gs pos="80000">
                <a:srgbClr val="E2A200"/>
              </a:gs>
              <a:gs pos="100000">
                <a:srgbClr val="E8A500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9440468" name="Google Shape;432;p36"/>
          <p:cNvSpPr/>
          <p:nvPr/>
        </p:nvSpPr>
        <p:spPr bwMode="auto">
          <a:xfrm>
            <a:off x="5198069" y="2729362"/>
            <a:ext cx="3899138" cy="2459308"/>
          </a:xfrm>
          <a:prstGeom prst="ellipse">
            <a:avLst/>
          </a:prstGeom>
          <a:solidFill>
            <a:srgbClr val="70C663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053434" name="Google Shape;433;p36"/>
          <p:cNvSpPr txBox="1"/>
          <p:nvPr/>
        </p:nvSpPr>
        <p:spPr bwMode="auto">
          <a:xfrm>
            <a:off x="3200400" y="2057400"/>
            <a:ext cx="3733800" cy="381000"/>
          </a:xfrm>
          <a:prstGeom prst="rect">
            <a:avLst/>
          </a:prstGeom>
          <a:solidFill>
            <a:srgbClr val="FFD147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en-US" sz="2400" b="1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Artificial Intelligence</a:t>
            </a:r>
            <a:endParaRPr/>
          </a:p>
        </p:txBody>
      </p:sp>
      <p:sp>
        <p:nvSpPr>
          <p:cNvPr id="758915106" name="Google Shape;434;p36"/>
          <p:cNvSpPr/>
          <p:nvPr/>
        </p:nvSpPr>
        <p:spPr bwMode="auto">
          <a:xfrm>
            <a:off x="508655" y="2667001"/>
            <a:ext cx="4887147" cy="2647327"/>
          </a:xfrm>
          <a:prstGeom prst="ellipse">
            <a:avLst/>
          </a:prstGeom>
          <a:solidFill>
            <a:srgbClr val="C89B60">
              <a:alpha val="68627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056045" name="Google Shape;435;p36"/>
          <p:cNvSpPr txBox="1"/>
          <p:nvPr/>
        </p:nvSpPr>
        <p:spPr bwMode="auto">
          <a:xfrm>
            <a:off x="1763712" y="3836987"/>
            <a:ext cx="2111375" cy="525462"/>
          </a:xfrm>
          <a:prstGeom prst="rect">
            <a:avLst/>
          </a:prstGeom>
          <a:solidFill>
            <a:srgbClr val="9F9F9F">
              <a:alpha val="0"/>
            </a:srgbClr>
          </a:solidFill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Artificial Cognitive Systems</a:t>
            </a:r>
            <a:endParaRPr/>
          </a:p>
        </p:txBody>
      </p:sp>
      <p:sp>
        <p:nvSpPr>
          <p:cNvPr id="610762659" name="Google Shape;436;p36"/>
          <p:cNvSpPr txBox="1"/>
          <p:nvPr/>
        </p:nvSpPr>
        <p:spPr bwMode="auto">
          <a:xfrm>
            <a:off x="6489700" y="3732212"/>
            <a:ext cx="2146300" cy="376237"/>
          </a:xfrm>
          <a:prstGeom prst="rect">
            <a:avLst/>
          </a:prstGeom>
          <a:solidFill>
            <a:srgbClr val="92D050">
              <a:alpha val="1254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1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Machine Learning</a:t>
            </a:r>
            <a:endParaRPr/>
          </a:p>
        </p:txBody>
      </p:sp>
      <p:pic>
        <p:nvPicPr>
          <p:cNvPr id="731283135" name="Google Shape;437;p36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00062" y="3602037"/>
            <a:ext cx="1206500" cy="94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4873219" name="Google Shape;438;p36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1304925" y="4438650"/>
            <a:ext cx="1444625" cy="766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443932" name="Google Shape;439;p36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7327900" y="2889250"/>
            <a:ext cx="1249362" cy="976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414260" name="Google Shape;440;p36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6267450" y="4279900"/>
            <a:ext cx="1389062" cy="938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6340780" name="Google Shape;441;p36"/>
          <p:cNvPicPr/>
          <p:nvPr/>
        </p:nvPicPr>
        <p:blipFill>
          <a:blip r:embed="rId7">
            <a:alphaModFix/>
          </a:blip>
          <a:srcRect l="0" t="0" r="0" b="0"/>
          <a:stretch/>
        </p:blipFill>
        <p:spPr bwMode="auto">
          <a:xfrm>
            <a:off x="7564437" y="4041775"/>
            <a:ext cx="1250950" cy="811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718203" name="Google Shape;442;p36"/>
          <p:cNvPicPr/>
          <p:nvPr/>
        </p:nvPicPr>
        <p:blipFill>
          <a:blip r:embed="rId8">
            <a:alphaModFix/>
          </a:blip>
          <a:srcRect l="0" t="0" r="0" b="0"/>
          <a:stretch/>
        </p:blipFill>
        <p:spPr bwMode="auto">
          <a:xfrm>
            <a:off x="1408112" y="2852737"/>
            <a:ext cx="1481137" cy="976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837938" name="Google Shape;443;p36"/>
          <p:cNvPicPr/>
          <p:nvPr/>
        </p:nvPicPr>
        <p:blipFill>
          <a:blip r:embed="rId9">
            <a:alphaModFix/>
          </a:blip>
          <a:srcRect l="0" t="0" r="0" b="0"/>
          <a:stretch/>
        </p:blipFill>
        <p:spPr bwMode="auto">
          <a:xfrm>
            <a:off x="2816225" y="2835275"/>
            <a:ext cx="1481137" cy="97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730135" name="Google Shape;444;p36"/>
          <p:cNvPicPr/>
          <p:nvPr/>
        </p:nvPicPr>
        <p:blipFill>
          <a:blip r:embed="rId10">
            <a:alphaModFix/>
          </a:blip>
          <a:srcRect l="0" t="0" r="0" b="0"/>
          <a:stretch/>
        </p:blipFill>
        <p:spPr bwMode="auto">
          <a:xfrm>
            <a:off x="3949700" y="3554412"/>
            <a:ext cx="1298574" cy="87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854408" name="Google Shape;445;p36"/>
          <p:cNvPicPr/>
          <p:nvPr/>
        </p:nvPicPr>
        <p:blipFill>
          <a:blip r:embed="rId11">
            <a:alphaModFix/>
          </a:blip>
          <a:srcRect l="0" t="0" r="0" b="0"/>
          <a:stretch/>
        </p:blipFill>
        <p:spPr bwMode="auto">
          <a:xfrm>
            <a:off x="5857875" y="2914650"/>
            <a:ext cx="1390650" cy="83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954212" name="Google Shape;446;p36"/>
          <p:cNvPicPr/>
          <p:nvPr/>
        </p:nvPicPr>
        <p:blipFill>
          <a:blip r:embed="rId12">
            <a:alphaModFix/>
          </a:blip>
          <a:srcRect l="0" t="0" r="0" b="0"/>
          <a:stretch/>
        </p:blipFill>
        <p:spPr bwMode="auto">
          <a:xfrm>
            <a:off x="2809875" y="4327525"/>
            <a:ext cx="1408112" cy="87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662982" name="Google Shape;447;p36"/>
          <p:cNvPicPr/>
          <p:nvPr/>
        </p:nvPicPr>
        <p:blipFill>
          <a:blip r:embed="rId13">
            <a:alphaModFix/>
          </a:blip>
          <a:srcRect l="0" t="0" r="0" b="0"/>
          <a:stretch/>
        </p:blipFill>
        <p:spPr bwMode="auto">
          <a:xfrm>
            <a:off x="5426075" y="3602037"/>
            <a:ext cx="1169987" cy="84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54212" name="Google Shape;452;p37"/>
          <p:cNvSpPr txBox="1"/>
          <p:nvPr>
            <p:ph type="title"/>
          </p:nvPr>
        </p:nvSpPr>
        <p:spPr bwMode="auto">
          <a:xfrm>
            <a:off x="381000" y="160337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Change in naming the subareas </a:t>
            </a:r>
            <a:endParaRPr/>
          </a:p>
        </p:txBody>
      </p:sp>
      <p:sp>
        <p:nvSpPr>
          <p:cNvPr id="1577687137" name="Google Shape;453;p37"/>
          <p:cNvSpPr txBox="1"/>
          <p:nvPr>
            <p:ph type="body" idx="4294967295"/>
          </p:nvPr>
        </p:nvSpPr>
        <p:spPr bwMode="auto">
          <a:xfrm>
            <a:off x="228600" y="1015366"/>
            <a:ext cx="8229600" cy="551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Artificial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Intelligence (gives a sense of machine-made intelligence) – suggested terms: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Computational Intelligence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Systems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Machines (බුද්ධිමය යන්ත්‍ර -- බුද්ධිමය යාන්ත්‍ර විද්‍යාව)</a:t>
            </a:r>
            <a:endParaRPr sz="2400" b="0" i="0" u="none" strike="noStrike" cap="none">
              <a:solidFill>
                <a:srgbClr val="0070C0"/>
              </a:solidFill>
              <a:highlight>
                <a:srgbClr val="FFFF00"/>
              </a:highlight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Artificial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Cognitive Systems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Artificial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Neural Networks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Natural Language Processing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Expert Systems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Robotics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Multi Agent Systems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Machine Learning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Computer Vision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Ontology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Deep learning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076627" name="Google Shape;454;p37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12564591" name="Google Shape;455;p37"/>
          <p:cNvSpPr/>
          <p:nvPr/>
        </p:nvSpPr>
        <p:spPr bwMode="auto">
          <a:xfrm>
            <a:off x="6934200" y="5634037"/>
            <a:ext cx="2030412" cy="946150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02/08/2025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337591" name="Google Shape;460;p38"/>
          <p:cNvSpPr txBox="1"/>
          <p:nvPr>
            <p:ph type="title"/>
          </p:nvPr>
        </p:nvSpPr>
        <p:spPr bwMode="auto">
          <a:xfrm>
            <a:off x="381000" y="160337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Homework</a:t>
            </a:r>
            <a:endParaRPr/>
          </a:p>
        </p:txBody>
      </p:sp>
      <p:sp>
        <p:nvSpPr>
          <p:cNvPr id="2075630077" name="Google Shape;461;p38"/>
          <p:cNvSpPr txBox="1"/>
          <p:nvPr>
            <p:ph type="body" idx="1"/>
          </p:nvPr>
        </p:nvSpPr>
        <p:spPr bwMode="auto">
          <a:xfrm>
            <a:off x="457200" y="1158875"/>
            <a:ext cx="8229600" cy="5513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Char char="■"/>
              <a:defRPr/>
            </a:pPr>
            <a:r>
              <a:rPr lang="en-US" sz="32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Compile a video on chronology of development of AI</a:t>
            </a:r>
            <a:endParaRPr sz="3200" b="0" i="0" u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2900" marR="0" lvl="0" indent="-21082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Noto Sans Symbols"/>
              <a:buNone/>
              <a:defRPr/>
            </a:pPr>
            <a:endParaRPr sz="3200" b="0" i="0" u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13023591" name="Google Shape;462;p38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7462821" name="Google Shape;467;p39" descr="Go to fullsize image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381000" y="1450975"/>
            <a:ext cx="4100512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908467" name="Google Shape;468;p39" descr="Go to fullsize image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4572000" y="3352800"/>
            <a:ext cx="4343400" cy="3233737"/>
          </a:xfrm>
          <a:prstGeom prst="rect">
            <a:avLst/>
          </a:prstGeom>
          <a:noFill/>
          <a:ln>
            <a:noFill/>
          </a:ln>
        </p:spPr>
      </p:pic>
      <p:sp>
        <p:nvSpPr>
          <p:cNvPr id="202649308" name="Google Shape;469;p39"/>
          <p:cNvSpPr txBox="1"/>
          <p:nvPr/>
        </p:nvSpPr>
        <p:spPr bwMode="auto">
          <a:xfrm>
            <a:off x="381000" y="288924"/>
            <a:ext cx="6142037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Arial"/>
              <a:buNone/>
              <a:defRPr/>
            </a:pPr>
            <a:r>
              <a:rPr lang="en-US" sz="4000" b="0" i="0" u="none">
                <a:solidFill>
                  <a:srgbClr val="00B050"/>
                </a:solidFill>
                <a:latin typeface="Arial"/>
                <a:ea typeface="Arial"/>
                <a:cs typeface="Arial"/>
              </a:rPr>
              <a:t>Inspiration to Theory</a:t>
            </a:r>
            <a:endParaRPr/>
          </a:p>
        </p:txBody>
      </p:sp>
      <p:sp>
        <p:nvSpPr>
          <p:cNvPr id="408756004" name="Google Shape;470;p39"/>
          <p:cNvSpPr/>
          <p:nvPr/>
        </p:nvSpPr>
        <p:spPr bwMode="auto">
          <a:xfrm rot="10800000">
            <a:off x="6556375" y="652462"/>
            <a:ext cx="423862" cy="909637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0414102" name="Google Shape;471;p39"/>
          <p:cNvSpPr txBox="1"/>
          <p:nvPr/>
        </p:nvSpPr>
        <p:spPr bwMode="auto">
          <a:xfrm>
            <a:off x="5105400" y="1712912"/>
            <a:ext cx="36576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Teeth inspire a wedge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F/A = Pressure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124633" name="Google Shape;476;p40"/>
          <p:cNvSpPr txBox="1"/>
          <p:nvPr/>
        </p:nvSpPr>
        <p:spPr bwMode="auto">
          <a:xfrm>
            <a:off x="5029200" y="2670175"/>
            <a:ext cx="358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78122431" name="Google Shape;477;p40" descr="View Image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27625" y="4117975"/>
            <a:ext cx="2971800" cy="22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277126" name="Google Shape;478;p40" descr="View Image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657225" y="1117600"/>
            <a:ext cx="4648200" cy="294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0637235" name="Google Shape;479;p40"/>
          <p:cNvSpPr txBox="1"/>
          <p:nvPr/>
        </p:nvSpPr>
        <p:spPr bwMode="auto">
          <a:xfrm>
            <a:off x="4724399" y="381000"/>
            <a:ext cx="30480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  <a:defRPr/>
            </a:pP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Nature and Artifacts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62385" name="Google Shape;484;p41" descr="Wings by Chandima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114800" y="39687"/>
            <a:ext cx="5029200" cy="3025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0456412" name="Google Shape;485;p41" descr="405613890_a62d3a2f9f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0" y="0"/>
            <a:ext cx="4070350" cy="304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923658" name="Google Shape;486;p41" descr="http://www.key2holidays.co.uk/images/resource/content/sri.jpg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0" y="3100387"/>
            <a:ext cx="9144000" cy="3757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657924" name="Google Shape;491;p42" descr="image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495800" y="2438400"/>
            <a:ext cx="4059237" cy="3421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456606" name="Google Shape;492;p42" descr="10-most-poisonous-animals-in-the-world-puffer-fish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223837" y="303212"/>
            <a:ext cx="3856037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200072" name="Google Shape;497;p43"/>
          <p:cNvSpPr/>
          <p:nvPr/>
        </p:nvSpPr>
        <p:spPr bwMode="auto">
          <a:xfrm>
            <a:off x="4800600" y="1503362"/>
            <a:ext cx="2114550" cy="38258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4919736" name="Google Shape;498;p43"/>
          <p:cNvSpPr/>
          <p:nvPr/>
        </p:nvSpPr>
        <p:spPr bwMode="auto">
          <a:xfrm>
            <a:off x="5537200" y="3989387"/>
            <a:ext cx="1092200" cy="1028700"/>
          </a:xfrm>
          <a:prstGeom prst="ellipse">
            <a:avLst/>
          </a:prstGeom>
          <a:solidFill>
            <a:srgbClr val="F4A1FD"/>
          </a:solidFill>
          <a:ln w="9525" cap="flat" cmpd="sng">
            <a:solidFill>
              <a:srgbClr val="FFFF6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95022596" name="Google Shape;499;p43"/>
          <p:cNvCxnSpPr/>
          <p:nvPr/>
        </p:nvCxnSpPr>
        <p:spPr bwMode="auto">
          <a:xfrm>
            <a:off x="5888037" y="4184650"/>
            <a:ext cx="0" cy="593725"/>
          </a:xfrm>
          <a:prstGeom prst="straightConnector1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89152705" name="Google Shape;500;p43"/>
          <p:cNvCxnSpPr/>
          <p:nvPr/>
        </p:nvCxnSpPr>
        <p:spPr bwMode="auto">
          <a:xfrm rot="10800000">
            <a:off x="4960937" y="4489450"/>
            <a:ext cx="927100" cy="0"/>
          </a:xfrm>
          <a:prstGeom prst="straightConnector1">
            <a:avLst/>
          </a:prstGeom>
          <a:noFill/>
          <a:ln w="38100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83323531" name="Google Shape;501;p43"/>
          <p:cNvCxnSpPr/>
          <p:nvPr/>
        </p:nvCxnSpPr>
        <p:spPr bwMode="auto">
          <a:xfrm rot="10800000" flipH="1">
            <a:off x="5916612" y="4073525"/>
            <a:ext cx="473075" cy="268287"/>
          </a:xfrm>
          <a:prstGeom prst="straightConnector1">
            <a:avLst/>
          </a:prstGeom>
          <a:noFill/>
          <a:ln w="38100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8729588" name="Google Shape;502;p43"/>
          <p:cNvCxnSpPr/>
          <p:nvPr/>
        </p:nvCxnSpPr>
        <p:spPr bwMode="auto">
          <a:xfrm>
            <a:off x="5888037" y="4629150"/>
            <a:ext cx="538162" cy="250825"/>
          </a:xfrm>
          <a:prstGeom prst="straightConnector1">
            <a:avLst/>
          </a:prstGeom>
          <a:noFill/>
          <a:ln w="38100" cap="flat" cmpd="sng">
            <a:solidFill>
              <a:srgbClr val="CC3300"/>
            </a:solidFill>
            <a:prstDash val="solid"/>
            <a:miter lim="800000"/>
            <a:headEnd type="triangle" w="med" len="med"/>
            <a:tailEnd type="none" w="med" len="med"/>
          </a:ln>
        </p:spPr>
      </p:cxnSp>
      <p:cxnSp>
        <p:nvCxnSpPr>
          <p:cNvPr id="214720219" name="Google Shape;503;p43"/>
          <p:cNvCxnSpPr/>
          <p:nvPr/>
        </p:nvCxnSpPr>
        <p:spPr bwMode="auto">
          <a:xfrm rot="10800000">
            <a:off x="6378575" y="3508375"/>
            <a:ext cx="0" cy="565150"/>
          </a:xfrm>
          <a:prstGeom prst="straightConnector1">
            <a:avLst/>
          </a:prstGeom>
          <a:noFill/>
          <a:ln w="38100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73332151" name="Google Shape;504;p43"/>
          <p:cNvCxnSpPr/>
          <p:nvPr/>
        </p:nvCxnSpPr>
        <p:spPr bwMode="auto">
          <a:xfrm>
            <a:off x="6435725" y="4878387"/>
            <a:ext cx="0" cy="530225"/>
          </a:xfrm>
          <a:prstGeom prst="straightConnector1">
            <a:avLst/>
          </a:prstGeom>
          <a:noFill/>
          <a:ln w="38100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2098746" name="Google Shape;505;p43"/>
          <p:cNvSpPr txBox="1"/>
          <p:nvPr/>
        </p:nvSpPr>
        <p:spPr bwMode="auto">
          <a:xfrm>
            <a:off x="4756150" y="4083050"/>
            <a:ext cx="650875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/>
            </a:pPr>
            <a:r>
              <a:rPr lang="en-US" sz="13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Base</a:t>
            </a:r>
            <a:endParaRPr/>
          </a:p>
        </p:txBody>
      </p:sp>
      <p:sp>
        <p:nvSpPr>
          <p:cNvPr id="258061755" name="Google Shape;506;p43"/>
          <p:cNvSpPr txBox="1"/>
          <p:nvPr/>
        </p:nvSpPr>
        <p:spPr bwMode="auto">
          <a:xfrm>
            <a:off x="6529387" y="3511550"/>
            <a:ext cx="1057275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/>
            </a:pPr>
            <a:r>
              <a:rPr lang="en-US" sz="13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Collector</a:t>
            </a:r>
            <a:endParaRPr/>
          </a:p>
        </p:txBody>
      </p:sp>
      <p:sp>
        <p:nvSpPr>
          <p:cNvPr id="438693090" name="Google Shape;507;p43"/>
          <p:cNvSpPr txBox="1"/>
          <p:nvPr/>
        </p:nvSpPr>
        <p:spPr bwMode="auto">
          <a:xfrm>
            <a:off x="6594475" y="5253037"/>
            <a:ext cx="846137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/>
            </a:pPr>
            <a:r>
              <a:rPr lang="en-US" sz="13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Emitter</a:t>
            </a:r>
            <a:endParaRPr/>
          </a:p>
        </p:txBody>
      </p:sp>
      <p:cxnSp>
        <p:nvCxnSpPr>
          <p:cNvPr id="266932120" name="Google Shape;508;p43"/>
          <p:cNvCxnSpPr/>
          <p:nvPr/>
        </p:nvCxnSpPr>
        <p:spPr bwMode="auto">
          <a:xfrm>
            <a:off x="3608387" y="1506537"/>
            <a:ext cx="0" cy="19732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65009055" name="Google Shape;509;p43"/>
          <p:cNvCxnSpPr/>
          <p:nvPr/>
        </p:nvCxnSpPr>
        <p:spPr bwMode="auto">
          <a:xfrm>
            <a:off x="2681287" y="1441449"/>
            <a:ext cx="0" cy="9080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08356087" name="Google Shape;510;p43"/>
          <p:cNvCxnSpPr/>
          <p:nvPr/>
        </p:nvCxnSpPr>
        <p:spPr bwMode="auto">
          <a:xfrm>
            <a:off x="2671762" y="2673350"/>
            <a:ext cx="0" cy="787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11942400" name="Google Shape;511;p43"/>
          <p:cNvCxnSpPr/>
          <p:nvPr/>
        </p:nvCxnSpPr>
        <p:spPr bwMode="auto">
          <a:xfrm>
            <a:off x="1773237" y="2349500"/>
            <a:ext cx="8985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9246191" name="Google Shape;512;p43"/>
          <p:cNvCxnSpPr/>
          <p:nvPr/>
        </p:nvCxnSpPr>
        <p:spPr bwMode="auto">
          <a:xfrm>
            <a:off x="1757362" y="2657475"/>
            <a:ext cx="89852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424475366" name="Google Shape;513;p43"/>
          <p:cNvSpPr/>
          <p:nvPr/>
        </p:nvSpPr>
        <p:spPr bwMode="auto">
          <a:xfrm>
            <a:off x="1790700" y="2470150"/>
            <a:ext cx="204787" cy="15716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1772832" name="Google Shape;514;p43"/>
          <p:cNvSpPr/>
          <p:nvPr/>
        </p:nvSpPr>
        <p:spPr bwMode="auto">
          <a:xfrm>
            <a:off x="2063750" y="2465387"/>
            <a:ext cx="204787" cy="1571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33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048712" name="Google Shape;515;p43"/>
          <p:cNvSpPr/>
          <p:nvPr/>
        </p:nvSpPr>
        <p:spPr bwMode="auto">
          <a:xfrm>
            <a:off x="2354262" y="2468562"/>
            <a:ext cx="204787" cy="15716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66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5919286" name="Google Shape;516;p43"/>
          <p:cNvSpPr/>
          <p:nvPr/>
        </p:nvSpPr>
        <p:spPr bwMode="auto">
          <a:xfrm>
            <a:off x="2727325" y="2711450"/>
            <a:ext cx="314325" cy="425450"/>
          </a:xfrm>
          <a:prstGeom prst="upArrow">
            <a:avLst>
              <a:gd name="adj1" fmla="val 5410"/>
              <a:gd name="adj2" fmla="val 50000"/>
            </a:avLst>
          </a:prstGeom>
          <a:solidFill>
            <a:schemeClr val="folHlink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6014915" name="Google Shape;517;p43"/>
          <p:cNvSpPr/>
          <p:nvPr/>
        </p:nvSpPr>
        <p:spPr bwMode="auto">
          <a:xfrm>
            <a:off x="3082925" y="2463800"/>
            <a:ext cx="314325" cy="425450"/>
          </a:xfrm>
          <a:prstGeom prst="upArrow">
            <a:avLst>
              <a:gd name="adj1" fmla="val 5410"/>
              <a:gd name="adj2" fmla="val 50000"/>
            </a:avLst>
          </a:prstGeom>
          <a:solidFill>
            <a:srgbClr val="CC33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782022" name="Google Shape;518;p43"/>
          <p:cNvSpPr/>
          <p:nvPr/>
        </p:nvSpPr>
        <p:spPr bwMode="auto">
          <a:xfrm>
            <a:off x="2725737" y="3336925"/>
            <a:ext cx="314325" cy="427037"/>
          </a:xfrm>
          <a:prstGeom prst="upArrow">
            <a:avLst>
              <a:gd name="adj1" fmla="val 5390"/>
              <a:gd name="adj2" fmla="val 50000"/>
            </a:avLst>
          </a:prstGeom>
          <a:solidFill>
            <a:srgbClr val="CC33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86145" name="Google Shape;519;p43"/>
          <p:cNvSpPr/>
          <p:nvPr/>
        </p:nvSpPr>
        <p:spPr bwMode="auto">
          <a:xfrm>
            <a:off x="3092450" y="3103562"/>
            <a:ext cx="314325" cy="427037"/>
          </a:xfrm>
          <a:prstGeom prst="upArrow">
            <a:avLst>
              <a:gd name="adj1" fmla="val 539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5799552" name="Google Shape;520;p43"/>
          <p:cNvSpPr/>
          <p:nvPr/>
        </p:nvSpPr>
        <p:spPr bwMode="auto">
          <a:xfrm>
            <a:off x="2749550" y="2159000"/>
            <a:ext cx="314325" cy="425450"/>
          </a:xfrm>
          <a:prstGeom prst="upArrow">
            <a:avLst>
              <a:gd name="adj1" fmla="val 5410"/>
              <a:gd name="adj2" fmla="val 50000"/>
            </a:avLst>
          </a:prstGeom>
          <a:solidFill>
            <a:srgbClr val="3333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108169476" name="Google Shape;521;p43"/>
          <p:cNvCxnSpPr/>
          <p:nvPr/>
        </p:nvCxnSpPr>
        <p:spPr bwMode="auto">
          <a:xfrm>
            <a:off x="4960937" y="1543050"/>
            <a:ext cx="0" cy="285750"/>
          </a:xfrm>
          <a:prstGeom prst="straightConnector1">
            <a:avLst/>
          </a:prstGeom>
          <a:noFill/>
          <a:ln w="476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88973439" name="Google Shape;522;p43"/>
          <p:cNvCxnSpPr/>
          <p:nvPr/>
        </p:nvCxnSpPr>
        <p:spPr bwMode="auto">
          <a:xfrm>
            <a:off x="6629400" y="1543050"/>
            <a:ext cx="0" cy="285750"/>
          </a:xfrm>
          <a:prstGeom prst="straightConnector1">
            <a:avLst/>
          </a:prstGeom>
          <a:noFill/>
          <a:ln w="476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18538040" name="Google Shape;523;p43"/>
          <p:cNvCxnSpPr/>
          <p:nvPr/>
        </p:nvCxnSpPr>
        <p:spPr bwMode="auto">
          <a:xfrm>
            <a:off x="5772150" y="2063750"/>
            <a:ext cx="0" cy="222250"/>
          </a:xfrm>
          <a:prstGeom prst="straightConnector1">
            <a:avLst/>
          </a:prstGeom>
          <a:noFill/>
          <a:ln w="476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884051406" name="Google Shape;524;p43"/>
          <p:cNvCxnSpPr/>
          <p:nvPr/>
        </p:nvCxnSpPr>
        <p:spPr bwMode="auto">
          <a:xfrm>
            <a:off x="5862637" y="2159000"/>
            <a:ext cx="0" cy="69850"/>
          </a:xfrm>
          <a:prstGeom prst="straightConnector1">
            <a:avLst/>
          </a:prstGeom>
          <a:noFill/>
          <a:ln w="476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96295031" name="Google Shape;525;p43"/>
          <p:cNvCxnSpPr/>
          <p:nvPr/>
        </p:nvCxnSpPr>
        <p:spPr bwMode="auto">
          <a:xfrm>
            <a:off x="5775325" y="1557337"/>
            <a:ext cx="0" cy="285750"/>
          </a:xfrm>
          <a:prstGeom prst="straightConnector1">
            <a:avLst/>
          </a:prstGeom>
          <a:noFill/>
          <a:ln w="476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14301717" name="Google Shape;526;p43"/>
          <p:cNvCxnSpPr/>
          <p:nvPr/>
        </p:nvCxnSpPr>
        <p:spPr bwMode="auto">
          <a:xfrm rot="10800000" flipH="1">
            <a:off x="4960937" y="2159000"/>
            <a:ext cx="800100" cy="1270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47072071" name="Google Shape;527;p43"/>
          <p:cNvCxnSpPr/>
          <p:nvPr/>
        </p:nvCxnSpPr>
        <p:spPr bwMode="auto">
          <a:xfrm>
            <a:off x="5911850" y="2171700"/>
            <a:ext cx="717550" cy="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507505328" name="Google Shape;528;p43"/>
          <p:cNvCxnSpPr/>
          <p:nvPr/>
        </p:nvCxnSpPr>
        <p:spPr bwMode="auto">
          <a:xfrm>
            <a:off x="4972050" y="1689100"/>
            <a:ext cx="0" cy="44450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04419530" name="Google Shape;529;p43"/>
          <p:cNvCxnSpPr/>
          <p:nvPr/>
        </p:nvCxnSpPr>
        <p:spPr bwMode="auto">
          <a:xfrm>
            <a:off x="6629400" y="1714500"/>
            <a:ext cx="0" cy="44450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67369133" name="Google Shape;530;p43"/>
          <p:cNvSpPr txBox="1"/>
          <p:nvPr/>
        </p:nvSpPr>
        <p:spPr bwMode="auto">
          <a:xfrm flipH="1">
            <a:off x="4724399" y="1543050"/>
            <a:ext cx="280987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+</a:t>
            </a:r>
            <a:endParaRPr/>
          </a:p>
        </p:txBody>
      </p:sp>
      <p:sp>
        <p:nvSpPr>
          <p:cNvPr id="1218827439" name="Google Shape;531;p43"/>
          <p:cNvSpPr txBox="1"/>
          <p:nvPr/>
        </p:nvSpPr>
        <p:spPr bwMode="auto">
          <a:xfrm flipH="1">
            <a:off x="6691312" y="1543050"/>
            <a:ext cx="280987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-</a:t>
            </a:r>
            <a:endParaRPr/>
          </a:p>
        </p:txBody>
      </p:sp>
      <p:sp>
        <p:nvSpPr>
          <p:cNvPr id="1625150514" name="Google Shape;532;p43"/>
          <p:cNvSpPr/>
          <p:nvPr/>
        </p:nvSpPr>
        <p:spPr bwMode="auto">
          <a:xfrm>
            <a:off x="6400800" y="1600200"/>
            <a:ext cx="57150" cy="84137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40881844" name="Google Shape;533;p43"/>
          <p:cNvCxnSpPr/>
          <p:nvPr/>
        </p:nvCxnSpPr>
        <p:spPr bwMode="auto">
          <a:xfrm rot="10800000">
            <a:off x="6272212" y="1657350"/>
            <a:ext cx="128587" cy="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51690387" name="Google Shape;534;p43"/>
          <p:cNvCxnSpPr/>
          <p:nvPr/>
        </p:nvCxnSpPr>
        <p:spPr bwMode="auto">
          <a:xfrm>
            <a:off x="5772150" y="1062037"/>
            <a:ext cx="0" cy="444500"/>
          </a:xfrm>
          <a:prstGeom prst="straightConnector1">
            <a:avLst/>
          </a:prstGeom>
          <a:noFill/>
          <a:ln w="31750" cap="flat" cmpd="sng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103046576" name="Google Shape;535;p43"/>
          <p:cNvSpPr txBox="1"/>
          <p:nvPr/>
        </p:nvSpPr>
        <p:spPr bwMode="auto">
          <a:xfrm>
            <a:off x="5330825" y="715962"/>
            <a:ext cx="111442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Grid (+/-)</a:t>
            </a:r>
            <a:endParaRPr/>
          </a:p>
        </p:txBody>
      </p:sp>
      <p:sp>
        <p:nvSpPr>
          <p:cNvPr id="2089613094" name="Google Shape;536;p43"/>
          <p:cNvSpPr txBox="1"/>
          <p:nvPr/>
        </p:nvSpPr>
        <p:spPr bwMode="auto">
          <a:xfrm>
            <a:off x="6673850" y="1887537"/>
            <a:ext cx="915986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Emitter</a:t>
            </a:r>
            <a:endParaRPr/>
          </a:p>
        </p:txBody>
      </p:sp>
      <p:sp>
        <p:nvSpPr>
          <p:cNvPr id="2015057175" name="Google Shape;537;p43"/>
          <p:cNvSpPr txBox="1"/>
          <p:nvPr/>
        </p:nvSpPr>
        <p:spPr bwMode="auto">
          <a:xfrm>
            <a:off x="4497387" y="1189037"/>
            <a:ext cx="109537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Collector</a:t>
            </a:r>
            <a:endParaRPr/>
          </a:p>
        </p:txBody>
      </p:sp>
      <p:sp>
        <p:nvSpPr>
          <p:cNvPr id="806487949" name="Google Shape;538;p43"/>
          <p:cNvSpPr txBox="1"/>
          <p:nvPr/>
        </p:nvSpPr>
        <p:spPr bwMode="auto">
          <a:xfrm>
            <a:off x="-19050" y="5103812"/>
            <a:ext cx="623887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Based on the current applied to the base the flow of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current through emitter-collection junction can be controlled</a:t>
            </a:r>
            <a:endParaRPr/>
          </a:p>
        </p:txBody>
      </p:sp>
      <p:cxnSp>
        <p:nvCxnSpPr>
          <p:cNvPr id="1925367096" name="Google Shape;539;p43"/>
          <p:cNvCxnSpPr/>
          <p:nvPr/>
        </p:nvCxnSpPr>
        <p:spPr bwMode="auto">
          <a:xfrm>
            <a:off x="6594475" y="1587500"/>
            <a:ext cx="622300" cy="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5680161" name="Google Shape;540;p43"/>
          <p:cNvCxnSpPr/>
          <p:nvPr/>
        </p:nvCxnSpPr>
        <p:spPr bwMode="auto">
          <a:xfrm>
            <a:off x="6629400" y="1798637"/>
            <a:ext cx="622300" cy="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19008057" name="Google Shape;541;p43"/>
          <p:cNvCxnSpPr/>
          <p:nvPr/>
        </p:nvCxnSpPr>
        <p:spPr bwMode="auto">
          <a:xfrm>
            <a:off x="7053261" y="1657350"/>
            <a:ext cx="360362" cy="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76821426" name="Google Shape;542;p43"/>
          <p:cNvCxnSpPr/>
          <p:nvPr/>
        </p:nvCxnSpPr>
        <p:spPr bwMode="auto">
          <a:xfrm>
            <a:off x="7127875" y="1714500"/>
            <a:ext cx="246062" cy="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8526471" name="Google Shape;543;p43"/>
          <p:cNvCxnSpPr/>
          <p:nvPr/>
        </p:nvCxnSpPr>
        <p:spPr bwMode="auto">
          <a:xfrm>
            <a:off x="7216775" y="1562100"/>
            <a:ext cx="0" cy="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66600226" name="Google Shape;544;p43"/>
          <p:cNvCxnSpPr/>
          <p:nvPr/>
        </p:nvCxnSpPr>
        <p:spPr bwMode="auto">
          <a:xfrm>
            <a:off x="7216775" y="1587500"/>
            <a:ext cx="0" cy="211137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0148962" name="Google Shape;545;p43"/>
          <p:cNvCxnSpPr/>
          <p:nvPr/>
        </p:nvCxnSpPr>
        <p:spPr bwMode="auto">
          <a:xfrm>
            <a:off x="3779837" y="1878012"/>
            <a:ext cx="730250" cy="0"/>
          </a:xfrm>
          <a:prstGeom prst="straightConnector1">
            <a:avLst/>
          </a:prstGeom>
          <a:noFill/>
          <a:ln w="57150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462920462" name="Google Shape;546;p43"/>
          <p:cNvCxnSpPr/>
          <p:nvPr/>
        </p:nvCxnSpPr>
        <p:spPr bwMode="auto">
          <a:xfrm>
            <a:off x="5808662" y="2625725"/>
            <a:ext cx="0" cy="1235075"/>
          </a:xfrm>
          <a:prstGeom prst="straightConnector1">
            <a:avLst/>
          </a:prstGeom>
          <a:noFill/>
          <a:ln w="476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436488" name="Google Shape;551;p44"/>
          <p:cNvSpPr txBox="1"/>
          <p:nvPr/>
        </p:nvSpPr>
        <p:spPr bwMode="auto">
          <a:xfrm>
            <a:off x="334962" y="152400"/>
            <a:ext cx="365760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Libre Baskerville"/>
              <a:buNone/>
              <a:defRPr/>
            </a:pPr>
            <a:r>
              <a:rPr lang="en-US" sz="3600" b="1" i="0" u="none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</a:rPr>
              <a:t>Expert Systems</a:t>
            </a:r>
            <a:endParaRPr/>
          </a:p>
        </p:txBody>
      </p:sp>
      <p:sp>
        <p:nvSpPr>
          <p:cNvPr id="1773424782" name="Google Shape;552;p44"/>
          <p:cNvSpPr txBox="1"/>
          <p:nvPr/>
        </p:nvSpPr>
        <p:spPr bwMode="auto">
          <a:xfrm>
            <a:off x="4876800" y="304800"/>
            <a:ext cx="3919537" cy="727075"/>
          </a:xfrm>
          <a:prstGeom prst="rect">
            <a:avLst/>
          </a:prstGeom>
          <a:solidFill>
            <a:srgbClr val="E5B9C2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Problem solving knowledge</a:t>
            </a:r>
            <a:endParaRPr/>
          </a:p>
        </p:txBody>
      </p:sp>
      <p:sp>
        <p:nvSpPr>
          <p:cNvPr id="105804769" name="Google Shape;553;p44"/>
          <p:cNvSpPr txBox="1"/>
          <p:nvPr/>
        </p:nvSpPr>
        <p:spPr bwMode="auto">
          <a:xfrm>
            <a:off x="4876800" y="1143000"/>
            <a:ext cx="3932237" cy="727075"/>
          </a:xfrm>
          <a:prstGeom prst="rect">
            <a:avLst/>
          </a:prstGeom>
          <a:solidFill>
            <a:srgbClr val="A0FEBD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pPr>
            <a:r>
              <a:rPr lang="en-US" sz="24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Domain specific knowledge</a:t>
            </a:r>
            <a:endParaRPr/>
          </a:p>
        </p:txBody>
      </p:sp>
      <p:pic>
        <p:nvPicPr>
          <p:cNvPr id="1637076239" name="Google Shape;554;p44" descr="health1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106987" y="1981200"/>
            <a:ext cx="32289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2589268" name="Google Shape;555;p44"/>
          <p:cNvSpPr txBox="1"/>
          <p:nvPr/>
        </p:nvSpPr>
        <p:spPr bwMode="auto">
          <a:xfrm>
            <a:off x="306704" y="798513"/>
            <a:ext cx="4685898" cy="535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Inspiration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for ES comes from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</a:rPr>
              <a:t>Problem-solving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by human experts that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consider separately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Subject/domain knowledge</a:t>
            </a:r>
            <a:endParaRPr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Problem-solving knowledge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Features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of ES (doctor and patient)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1. The doctor dominates asking questions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2. Deal with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incomplete information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(asking question, assume, ignore)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3.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Give answers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4. Give reasons/explanations for the answer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5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. Give alternative answers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6. Tell the level of assurance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ES is the champion of the symbolic-AI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(ACS) approach to AI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sng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08790" name="Google Shape;560;p45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549760177" name="Google Shape;561;p45"/>
          <p:cNvSpPr txBox="1"/>
          <p:nvPr/>
        </p:nvSpPr>
        <p:spPr bwMode="auto">
          <a:xfrm>
            <a:off x="533400" y="381000"/>
            <a:ext cx="8382000" cy="824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pPr>
            <a:r>
              <a:rPr lang="en-US" sz="32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Exercises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Identify areas where ES can be used.</a:t>
            </a:r>
            <a:endParaRPr/>
          </a:p>
          <a:p>
            <a:pPr marL="742950" marR="0" lvl="1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(any area dealing with Incomplete information, Alternative solution,    Assurance of answers, Answer with Explanations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11430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Medicine, Banking, Tourism, manufacturing, Agriculture, counselling, design,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Identify areas where ES is not suitable/required</a:t>
            </a:r>
            <a:endParaRPr/>
          </a:p>
          <a:p>
            <a:pPr marL="0" marR="0" lvl="0" indent="-177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Arithmetic calculation, searching a book in a library catalog,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27793" name="Google Shape;566;p46"/>
          <p:cNvSpPr/>
          <p:nvPr/>
        </p:nvSpPr>
        <p:spPr bwMode="auto">
          <a:xfrm>
            <a:off x="6662737" y="3889375"/>
            <a:ext cx="347661" cy="361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0829082" name="Google Shape;567;p46"/>
          <p:cNvSpPr/>
          <p:nvPr/>
        </p:nvSpPr>
        <p:spPr bwMode="auto">
          <a:xfrm>
            <a:off x="6683375" y="5205412"/>
            <a:ext cx="347661" cy="361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6519497" name="Google Shape;568;p46"/>
          <p:cNvSpPr/>
          <p:nvPr/>
        </p:nvSpPr>
        <p:spPr bwMode="auto">
          <a:xfrm>
            <a:off x="6705600" y="4557712"/>
            <a:ext cx="347661" cy="361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3020511" name="Google Shape;569;p46"/>
          <p:cNvSpPr/>
          <p:nvPr/>
        </p:nvSpPr>
        <p:spPr bwMode="auto">
          <a:xfrm>
            <a:off x="5813425" y="5348287"/>
            <a:ext cx="347661" cy="361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928509" name="Google Shape;570;p46"/>
          <p:cNvSpPr/>
          <p:nvPr/>
        </p:nvSpPr>
        <p:spPr bwMode="auto">
          <a:xfrm>
            <a:off x="7546975" y="5718175"/>
            <a:ext cx="347661" cy="361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517456" name="Google Shape;571;p46"/>
          <p:cNvSpPr/>
          <p:nvPr/>
        </p:nvSpPr>
        <p:spPr bwMode="auto">
          <a:xfrm>
            <a:off x="7554912" y="4987925"/>
            <a:ext cx="347661" cy="361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8169732" name="Google Shape;572;p46"/>
          <p:cNvSpPr/>
          <p:nvPr/>
        </p:nvSpPr>
        <p:spPr bwMode="auto">
          <a:xfrm>
            <a:off x="7548562" y="4181475"/>
            <a:ext cx="347661" cy="361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9158901" name="Google Shape;573;p46"/>
          <p:cNvSpPr/>
          <p:nvPr/>
        </p:nvSpPr>
        <p:spPr bwMode="auto">
          <a:xfrm>
            <a:off x="6705600" y="5864225"/>
            <a:ext cx="347661" cy="361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1964248" name="Google Shape;574;p46"/>
          <p:cNvSpPr/>
          <p:nvPr/>
        </p:nvSpPr>
        <p:spPr bwMode="auto">
          <a:xfrm>
            <a:off x="5840412" y="4710112"/>
            <a:ext cx="347661" cy="36195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110081011" name="Google Shape;575;p46"/>
          <p:cNvCxnSpPr/>
          <p:nvPr/>
        </p:nvCxnSpPr>
        <p:spPr bwMode="auto">
          <a:xfrm>
            <a:off x="6169025" y="4951412"/>
            <a:ext cx="508000" cy="419100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48708195" name="Google Shape;576;p46"/>
          <p:cNvCxnSpPr/>
          <p:nvPr/>
        </p:nvCxnSpPr>
        <p:spPr bwMode="auto">
          <a:xfrm>
            <a:off x="6183312" y="4964112"/>
            <a:ext cx="508000" cy="1073150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22671695" name="Google Shape;577;p46"/>
          <p:cNvCxnSpPr/>
          <p:nvPr/>
        </p:nvCxnSpPr>
        <p:spPr bwMode="auto">
          <a:xfrm rot="10800000" flipH="1">
            <a:off x="6197600" y="4194175"/>
            <a:ext cx="522287" cy="741362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26725204" name="Google Shape;578;p46"/>
          <p:cNvCxnSpPr/>
          <p:nvPr/>
        </p:nvCxnSpPr>
        <p:spPr bwMode="auto">
          <a:xfrm rot="10800000" flipH="1">
            <a:off x="6138862" y="4760912"/>
            <a:ext cx="552450" cy="725487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03380321" name="Google Shape;579;p46"/>
          <p:cNvCxnSpPr/>
          <p:nvPr/>
        </p:nvCxnSpPr>
        <p:spPr bwMode="auto">
          <a:xfrm rot="10800000" flipH="1">
            <a:off x="6153149" y="5370512"/>
            <a:ext cx="523875" cy="101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723415478" name="Google Shape;580;p46"/>
          <p:cNvCxnSpPr/>
          <p:nvPr/>
        </p:nvCxnSpPr>
        <p:spPr bwMode="auto">
          <a:xfrm>
            <a:off x="6154736" y="5486400"/>
            <a:ext cx="536575" cy="5810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7780438" name="Google Shape;581;p46"/>
          <p:cNvCxnSpPr/>
          <p:nvPr/>
        </p:nvCxnSpPr>
        <p:spPr bwMode="auto">
          <a:xfrm rot="10800000" flipH="1">
            <a:off x="6154736" y="4194175"/>
            <a:ext cx="550862" cy="1277937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59301176" name="Google Shape;582;p46"/>
          <p:cNvCxnSpPr/>
          <p:nvPr/>
        </p:nvCxnSpPr>
        <p:spPr bwMode="auto">
          <a:xfrm rot="10800000" flipH="1">
            <a:off x="6183312" y="4732337"/>
            <a:ext cx="550862" cy="2174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70247833" name="Google Shape;583;p46"/>
          <p:cNvCxnSpPr/>
          <p:nvPr/>
        </p:nvCxnSpPr>
        <p:spPr bwMode="auto">
          <a:xfrm>
            <a:off x="6981825" y="4106862"/>
            <a:ext cx="565150" cy="233362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3610182" name="Google Shape;584;p46"/>
          <p:cNvCxnSpPr/>
          <p:nvPr/>
        </p:nvCxnSpPr>
        <p:spPr bwMode="auto">
          <a:xfrm>
            <a:off x="6981825" y="4078286"/>
            <a:ext cx="565150" cy="1089025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40085794" name="Google Shape;585;p46"/>
          <p:cNvCxnSpPr/>
          <p:nvPr/>
        </p:nvCxnSpPr>
        <p:spPr bwMode="auto">
          <a:xfrm>
            <a:off x="7010399" y="4092575"/>
            <a:ext cx="536575" cy="171291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11148368" name="Google Shape;586;p46"/>
          <p:cNvCxnSpPr/>
          <p:nvPr/>
        </p:nvCxnSpPr>
        <p:spPr bwMode="auto">
          <a:xfrm rot="10800000" flipH="1">
            <a:off x="7038975" y="4368800"/>
            <a:ext cx="508000" cy="3635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631129783" name="Google Shape;587;p46"/>
          <p:cNvCxnSpPr/>
          <p:nvPr/>
        </p:nvCxnSpPr>
        <p:spPr bwMode="auto">
          <a:xfrm rot="10800000" flipH="1">
            <a:off x="7024687" y="4383087"/>
            <a:ext cx="522287" cy="9286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58977087" name="Google Shape;588;p46"/>
          <p:cNvCxnSpPr/>
          <p:nvPr/>
        </p:nvCxnSpPr>
        <p:spPr bwMode="auto">
          <a:xfrm rot="10800000" flipH="1">
            <a:off x="7053261" y="4310062"/>
            <a:ext cx="508000" cy="1655762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98780610" name="Google Shape;589;p46"/>
          <p:cNvCxnSpPr/>
          <p:nvPr/>
        </p:nvCxnSpPr>
        <p:spPr bwMode="auto">
          <a:xfrm>
            <a:off x="7053261" y="4716462"/>
            <a:ext cx="493712" cy="43656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43326776" name="Google Shape;590;p46"/>
          <p:cNvCxnSpPr/>
          <p:nvPr/>
        </p:nvCxnSpPr>
        <p:spPr bwMode="auto">
          <a:xfrm>
            <a:off x="7038975" y="4732337"/>
            <a:ext cx="538162" cy="1174750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78666472" name="Google Shape;591;p46"/>
          <p:cNvCxnSpPr/>
          <p:nvPr/>
        </p:nvCxnSpPr>
        <p:spPr bwMode="auto">
          <a:xfrm rot="10800000" flipH="1">
            <a:off x="7024687" y="5122862"/>
            <a:ext cx="566737" cy="188912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30553948" name="Google Shape;592;p46"/>
          <p:cNvCxnSpPr/>
          <p:nvPr/>
        </p:nvCxnSpPr>
        <p:spPr bwMode="auto">
          <a:xfrm rot="10800000" flipH="1">
            <a:off x="7038975" y="5122862"/>
            <a:ext cx="493712" cy="842962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67573303" name="Google Shape;593;p46"/>
          <p:cNvCxnSpPr/>
          <p:nvPr/>
        </p:nvCxnSpPr>
        <p:spPr bwMode="auto">
          <a:xfrm rot="10800000" flipH="1">
            <a:off x="7069137" y="5892800"/>
            <a:ext cx="508000" cy="73025"/>
          </a:xfrm>
          <a:prstGeom prst="straightConnector1">
            <a:avLst/>
          </a:prstGeom>
          <a:noFill/>
          <a:ln w="9525" cap="flat" cmpd="sng">
            <a:solidFill>
              <a:srgbClr val="CC33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15240364" name="Google Shape;594;p46"/>
          <p:cNvSpPr txBox="1"/>
          <p:nvPr/>
        </p:nvSpPr>
        <p:spPr bwMode="auto">
          <a:xfrm>
            <a:off x="133350" y="1743075"/>
            <a:ext cx="4805362" cy="50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700"/>
              <a:buFont typeface="Arial"/>
              <a:buNone/>
              <a:defRPr/>
            </a:pPr>
            <a:r>
              <a:rPr lang="en-US" sz="2700" b="1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Artificial Neural Networks</a:t>
            </a:r>
            <a:endParaRPr/>
          </a:p>
        </p:txBody>
      </p:sp>
      <p:pic>
        <p:nvPicPr>
          <p:cNvPr id="848701523" name="Google Shape;595;p46" descr="Build your first artificial neural networks using Pytorch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20700" y="155575"/>
            <a:ext cx="27622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069704" name="Google Shape;596;p46" descr="Neural network | The University of Chicago Magazine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4449762" y="450850"/>
            <a:ext cx="4214812" cy="208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5151620" name="Google Shape;597;p46"/>
          <p:cNvCxnSpPr/>
          <p:nvPr/>
        </p:nvCxnSpPr>
        <p:spPr bwMode="auto">
          <a:xfrm rot="10800000" flipH="1">
            <a:off x="7896225" y="4340225"/>
            <a:ext cx="485775" cy="22225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791308639" name="Google Shape;598;p46"/>
          <p:cNvCxnSpPr/>
          <p:nvPr/>
        </p:nvCxnSpPr>
        <p:spPr bwMode="auto">
          <a:xfrm rot="10800000" flipH="1">
            <a:off x="7924800" y="5159375"/>
            <a:ext cx="485775" cy="22225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127180763" name="Google Shape;599;p46"/>
          <p:cNvCxnSpPr/>
          <p:nvPr/>
        </p:nvCxnSpPr>
        <p:spPr bwMode="auto">
          <a:xfrm rot="10800000" flipH="1">
            <a:off x="7916862" y="5837237"/>
            <a:ext cx="485775" cy="22225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622728857" name="Google Shape;600;p46"/>
          <p:cNvSpPr txBox="1"/>
          <p:nvPr/>
        </p:nvSpPr>
        <p:spPr bwMode="auto">
          <a:xfrm>
            <a:off x="42555" y="2570986"/>
            <a:ext cx="9123010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Inspiration comes from the human brain with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neurons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(CPU) and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connections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(memory)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ANN is the very first (1943) intelligent program</a:t>
            </a:r>
            <a:endParaRPr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ANN implements </a:t>
            </a:r>
            <a:r>
              <a:rPr lang="en-US" sz="1800" b="0" i="0" u="sng" strike="noStrike" cap="none">
                <a:solidFill>
                  <a:schemeClr val="dk1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</a:rPr>
              <a:t>learning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by training as an intelligent feature </a:t>
            </a:r>
            <a:endParaRPr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ANN learns from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data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which are incomplete, noisy,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partial, dynamic</a:t>
            </a:r>
            <a:r>
              <a:rPr lang="en-US" sz="1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, unstructured, non-algorithmic </a:t>
            </a:r>
            <a:endParaRPr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ANN is the champion of non-symbolic AI (ML)</a:t>
            </a:r>
            <a:endParaRPr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ANN requires lots of data for building a solution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ANN is good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for identification, classification,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    generalization, </a:t>
            </a:r>
            <a:r>
              <a:rPr lang="en-US" sz="1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generation/construction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,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    forecasting, predictions, pattern/trend recognition,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    abstraction (data mining)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  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This is the fastest AI technology in decision-making. Why? – training-based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</a:t>
            </a:r>
            <a:endParaRPr/>
          </a:p>
        </p:txBody>
      </p:sp>
      <p:pic>
        <p:nvPicPr>
          <p:cNvPr id="1728789753" name="Google Shape;601;p46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2894012" y="5108575"/>
            <a:ext cx="1905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979723" name="Google Shape;602;p46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4440237" y="5202237"/>
            <a:ext cx="17462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227625" name="Google Shape;603;p46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9332912" y="3752850"/>
            <a:ext cx="17462" cy="1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6995498" name="Google Shape;604;p46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4930775" y="5126037"/>
            <a:ext cx="17462" cy="20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988849" name="Google Shape;605;p46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4967287" y="5127625"/>
            <a:ext cx="19050" cy="19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6125322" name="Google Shape;606;p46"/>
          <p:cNvGrpSpPr/>
          <p:nvPr/>
        </p:nvGrpSpPr>
        <p:grpSpPr bwMode="auto">
          <a:xfrm>
            <a:off x="4421187" y="5137150"/>
            <a:ext cx="0" cy="0"/>
            <a:chOff x="4412041" y="5128052"/>
            <a:chExt cx="18000" cy="18000"/>
          </a:xfrm>
        </p:grpSpPr>
        <p:pic>
          <p:nvPicPr>
            <p:cNvPr id="607" name="Google Shape;607;p46"/>
            <p:cNvPicPr/>
            <p:nvPr/>
          </p:nvPicPr>
          <p:blipFill>
            <a:blip r:embed="rId5">
              <a:alphaModFix/>
            </a:blip>
            <a:srcRect l="0" t="0" r="0" b="0"/>
            <a:stretch/>
          </p:blipFill>
          <p:spPr bwMode="auto">
            <a:xfrm>
              <a:off x="4412041" y="5128052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8" name="Google Shape;608;p46"/>
            <p:cNvPicPr/>
            <p:nvPr/>
          </p:nvPicPr>
          <p:blipFill>
            <a:blip r:embed="rId5">
              <a:alphaModFix/>
            </a:blip>
            <a:srcRect l="0" t="0" r="0" b="0"/>
            <a:stretch/>
          </p:blipFill>
          <p:spPr bwMode="auto">
            <a:xfrm>
              <a:off x="4412041" y="5128052"/>
              <a:ext cx="18000" cy="18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4638529" name="Google Shape;609;p46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7277100" y="5183187"/>
            <a:ext cx="17462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510030" name="Google Shape;610;p46"/>
          <p:cNvPicPr/>
          <p:nvPr/>
        </p:nvPicPr>
        <p:blipFill>
          <a:blip r:embed="rId7">
            <a:alphaModFix/>
          </a:blip>
          <a:srcRect l="0" t="0" r="0" b="0"/>
          <a:stretch/>
        </p:blipFill>
        <p:spPr bwMode="auto">
          <a:xfrm>
            <a:off x="9021762" y="3987800"/>
            <a:ext cx="20637" cy="26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157434" name="Google Shape;611;p46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9228137" y="3817937"/>
            <a:ext cx="19050" cy="174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0972661" name="Google Shape;612;p46"/>
          <p:cNvGrpSpPr/>
          <p:nvPr/>
        </p:nvGrpSpPr>
        <p:grpSpPr bwMode="auto">
          <a:xfrm>
            <a:off x="9333464" y="3516920"/>
            <a:ext cx="139976" cy="130189"/>
            <a:chOff x="9332881" y="3516332"/>
            <a:chExt cx="140400" cy="131400"/>
          </a:xfrm>
        </p:grpSpPr>
        <p:pic>
          <p:nvPicPr>
            <p:cNvPr id="613" name="Google Shape;613;p46"/>
            <p:cNvPicPr/>
            <p:nvPr/>
          </p:nvPicPr>
          <p:blipFill>
            <a:blip r:embed="rId8">
              <a:alphaModFix/>
            </a:blip>
            <a:srcRect l="0" t="0" r="0" b="0"/>
            <a:stretch/>
          </p:blipFill>
          <p:spPr bwMode="auto">
            <a:xfrm>
              <a:off x="9332881" y="3618212"/>
              <a:ext cx="32400" cy="29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" name="Google Shape;614;p46"/>
            <p:cNvPicPr/>
            <p:nvPr/>
          </p:nvPicPr>
          <p:blipFill>
            <a:blip r:embed="rId9">
              <a:alphaModFix/>
            </a:blip>
            <a:srcRect l="0" t="0" r="0" b="0"/>
            <a:stretch/>
          </p:blipFill>
          <p:spPr bwMode="auto">
            <a:xfrm>
              <a:off x="9456781" y="3516332"/>
              <a:ext cx="16500" cy="1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517127" name="Google Shape;615;p46"/>
          <p:cNvSpPr txBox="1"/>
          <p:nvPr/>
        </p:nvSpPr>
        <p:spPr bwMode="auto">
          <a:xfrm>
            <a:off x="9829800" y="1812925"/>
            <a:ext cx="3121025" cy="397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ML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1943 –ANN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1962 – stop (Minsky)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1986 -  BP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2000 – Deep Learning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2015 – Transformers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……… 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Expert and Technician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 ES               ML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How  many tiles are required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This floor?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981669" name="Google Shape;620;p47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966439069" name="Google Shape;621;p47"/>
          <p:cNvSpPr txBox="1"/>
          <p:nvPr/>
        </p:nvSpPr>
        <p:spPr bwMode="auto">
          <a:xfrm>
            <a:off x="1371600" y="612775"/>
            <a:ext cx="4100290" cy="5078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   P   K    Ca  Mg,  Zn,  Cu  Yield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lain" startAt="8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5   3    1      1      2    3     20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lain" startAt="7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2   3    1       0     2    4     15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lain" startAt="6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3   2    2       1     1    3     18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8    8         1      1      1    2     20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Train the ANN for these data, then ask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 query like what would be the yield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If I use the following ratios.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AutoNum type="arabicPlain" startAt="3"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2   1   3   1     1   3          </a:t>
            </a:r>
            <a:r>
              <a:rPr lang="en-US" sz="1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?</a:t>
            </a:r>
            <a:endParaRPr/>
          </a:p>
          <a:p>
            <a:pPr marL="3429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29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86324334" name="Google Shape;626;p48"/>
          <p:cNvGrpSpPr/>
          <p:nvPr/>
        </p:nvGrpSpPr>
        <p:grpSpPr bwMode="auto">
          <a:xfrm>
            <a:off x="4572000" y="1143000"/>
            <a:ext cx="3932237" cy="285750"/>
            <a:chOff x="2569" y="2751"/>
            <a:chExt cx="2355" cy="316"/>
          </a:xfrm>
        </p:grpSpPr>
        <p:sp>
          <p:nvSpPr>
            <p:cNvPr id="627" name="Google Shape;627;p48"/>
            <p:cNvSpPr txBox="1"/>
            <p:nvPr/>
          </p:nvSpPr>
          <p:spPr bwMode="auto">
            <a:xfrm>
              <a:off x="2569" y="2751"/>
              <a:ext cx="393" cy="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28" name="Google Shape;628;p48"/>
            <p:cNvSpPr txBox="1"/>
            <p:nvPr/>
          </p:nvSpPr>
          <p:spPr bwMode="auto">
            <a:xfrm>
              <a:off x="4531" y="2756"/>
              <a:ext cx="393" cy="311"/>
            </a:xfrm>
            <a:prstGeom prst="rect">
              <a:avLst/>
            </a:prstGeom>
            <a:solidFill>
              <a:srgbClr val="E5B9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29" name="Google Shape;629;p48"/>
            <p:cNvSpPr txBox="1"/>
            <p:nvPr/>
          </p:nvSpPr>
          <p:spPr bwMode="auto">
            <a:xfrm>
              <a:off x="2969" y="2755"/>
              <a:ext cx="393" cy="311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0" name="Google Shape;630;p48"/>
            <p:cNvSpPr txBox="1"/>
            <p:nvPr/>
          </p:nvSpPr>
          <p:spPr bwMode="auto">
            <a:xfrm>
              <a:off x="3359" y="2756"/>
              <a:ext cx="393" cy="311"/>
            </a:xfrm>
            <a:prstGeom prst="rect">
              <a:avLst/>
            </a:prstGeom>
            <a:solidFill>
              <a:srgbClr val="F4A1F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1" name="Google Shape;631;p48"/>
            <p:cNvSpPr txBox="1"/>
            <p:nvPr/>
          </p:nvSpPr>
          <p:spPr bwMode="auto">
            <a:xfrm>
              <a:off x="3750" y="2755"/>
              <a:ext cx="393" cy="311"/>
            </a:xfrm>
            <a:prstGeom prst="rect">
              <a:avLst/>
            </a:prstGeom>
            <a:solidFill>
              <a:srgbClr val="D0CFC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632" name="Google Shape;632;p48"/>
            <p:cNvSpPr txBox="1"/>
            <p:nvPr/>
          </p:nvSpPr>
          <p:spPr bwMode="auto">
            <a:xfrm>
              <a:off x="4139" y="2756"/>
              <a:ext cx="393" cy="311"/>
            </a:xfrm>
            <a:prstGeom prst="rect">
              <a:avLst/>
            </a:prstGeom>
            <a:solidFill>
              <a:srgbClr val="A8F6B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41545864" name="Google Shape;633;p48"/>
          <p:cNvSpPr txBox="1"/>
          <p:nvPr/>
        </p:nvSpPr>
        <p:spPr bwMode="auto">
          <a:xfrm>
            <a:off x="-15875" y="5059362"/>
            <a:ext cx="47625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Libre Baskerville"/>
              <a:buNone/>
              <a:defRPr/>
            </a:pPr>
            <a:r>
              <a:rPr lang="en-US" sz="2800" b="1" i="0" u="none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</a:rPr>
              <a:t>Genetic Algorithm (evolution)</a:t>
            </a:r>
            <a:endParaRPr/>
          </a:p>
        </p:txBody>
      </p:sp>
      <p:pic>
        <p:nvPicPr>
          <p:cNvPr id="1228908693" name="Google Shape;634;p48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4370387" cy="5113337"/>
          </a:xfrm>
          <a:prstGeom prst="rect">
            <a:avLst/>
          </a:prstGeom>
          <a:noFill/>
          <a:ln>
            <a:noFill/>
          </a:ln>
        </p:spPr>
      </p:pic>
      <p:sp>
        <p:nvSpPr>
          <p:cNvPr id="24760220" name="Google Shape;635;p48"/>
          <p:cNvSpPr txBox="1"/>
          <p:nvPr/>
        </p:nvSpPr>
        <p:spPr bwMode="auto">
          <a:xfrm>
            <a:off x="4183075" y="388975"/>
            <a:ext cx="5121600" cy="7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Inspiration comes from chromosomes and genes in biological systems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Biologists identified  three genetic operations: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cloning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(copy),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mutation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(invert),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cross-over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(swap). These operations can produce new chromosomes (solution)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Bread	Dhal	  Orange	   Milk   - 600         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Rice	Chicken	  Yogurt	   Tea   - 500      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Swapping over the 2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</a:rPr>
              <a:t>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gene gets 2 solutions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Bread	Chicken	  Orange	   Milk - 700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Rice	Dhal	  Yogurt	   Tea -  400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Which one survives better –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fitness function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GA generates – solutions similar to parents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                     quite different from parents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 from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zero data (initialize with random data)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 model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dynamic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situation (traffic)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GA is also an ML technique that use data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GA is for design, optimization, scheduling, adaptive solutions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                        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2429396" name="Google Shape;636;p48"/>
          <p:cNvSpPr txBox="1"/>
          <p:nvPr/>
        </p:nvSpPr>
        <p:spPr bwMode="auto">
          <a:xfrm>
            <a:off x="9534525" y="2133600"/>
            <a:ext cx="3124200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Data trained into</a:t>
            </a:r>
            <a:endParaRPr/>
          </a:p>
          <a:p>
            <a:pPr marL="0" marR="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Char char="•"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Network (ANN)</a:t>
            </a:r>
            <a:endParaRPr/>
          </a:p>
          <a:p>
            <a:pPr marL="0" marR="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Char char="•"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1-dimensional array (GA)</a:t>
            </a:r>
            <a:endParaRPr/>
          </a:p>
          <a:p>
            <a:pPr marL="0" marR="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Char char="•"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Tree (DT)</a:t>
            </a:r>
            <a:endParaRPr/>
          </a:p>
        </p:txBody>
      </p:sp>
      <p:sp>
        <p:nvSpPr>
          <p:cNvPr id="713897229" name="Google Shape;637;p48"/>
          <p:cNvSpPr txBox="1"/>
          <p:nvPr/>
        </p:nvSpPr>
        <p:spPr bwMode="auto">
          <a:xfrm>
            <a:off x="9231312" y="358775"/>
            <a:ext cx="3730625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Parents produce children</a:t>
            </a:r>
            <a:endParaRPr/>
          </a:p>
          <a:p>
            <a:pPr marL="0" marR="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Char char="•"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with similar features to parents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  (cross-over)</a:t>
            </a:r>
            <a:endParaRPr/>
          </a:p>
          <a:p>
            <a:pPr marL="0" marR="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Char char="•"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different from parents’ mutation)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12172009" name="Google Shape;638;p48"/>
          <p:cNvCxnSpPr/>
          <p:nvPr/>
        </p:nvCxnSpPr>
        <p:spPr bwMode="auto">
          <a:xfrm>
            <a:off x="5105400" y="2887662"/>
            <a:ext cx="0" cy="236537"/>
          </a:xfrm>
          <a:prstGeom prst="straightConnector1">
            <a:avLst/>
          </a:prstGeom>
          <a:noFill/>
          <a:ln w="15875" cap="flat" cmpd="sng">
            <a:solidFill>
              <a:srgbClr val="0070C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649168" name="Google Shape;643;p49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603037617" name="Google Shape;644;p49"/>
          <p:cNvSpPr txBox="1"/>
          <p:nvPr/>
        </p:nvSpPr>
        <p:spPr bwMode="auto">
          <a:xfrm>
            <a:off x="457200" y="381000"/>
            <a:ext cx="8878888" cy="729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Arm   Legs   Seat   Back   Hand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Steel  steel   wood  plastic  wood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Wood  wood  wood wood    wood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Steel  wood   cusion  wood  plastic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Result of cross-over between 1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</a:rPr>
              <a:t>st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and 2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</a:rPr>
              <a:t>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chromosome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through the 2</a:t>
            </a:r>
            <a:r>
              <a:rPr lang="en-US" sz="1800" b="0" i="0" u="none" strike="noStrike" cap="none" baseline="30000">
                <a:solidFill>
                  <a:schemeClr val="dk1"/>
                </a:solidFill>
                <a:latin typeface="Arial"/>
                <a:ea typeface="Arial"/>
                <a:cs typeface="Arial"/>
              </a:rPr>
              <a:t>nd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gene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Steel </a:t>
            </a: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wood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 wood  plastic  wood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Wood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1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steel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wood  wood   wood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400050" marR="0" lvl="0" indent="-400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LcParenBoth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Cross-over – get children with similar features to parents</a:t>
            </a:r>
            <a:endParaRPr/>
          </a:p>
          <a:p>
            <a:pPr marL="400050" marR="0" lvl="0" indent="-4000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romanLcParenBoth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Mutation – get children with somewhat different features to parents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Bread   Bun   Crocodile bun  fish bun  profit (&gt;400)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lain" startAt="100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  25       25                    30           500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lain" startAt="75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   20      25                     25           450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lain" startAt="80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   20      20                     30           600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75         30      20                     10           300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GA can model ML solution even without/less initial data.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8878493" name="Google Shape;649;p50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4141787" cy="46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938364" name="Google Shape;650;p50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4127500" y="3095625"/>
            <a:ext cx="5016500" cy="3152775"/>
          </a:xfrm>
          <a:prstGeom prst="rect">
            <a:avLst/>
          </a:prstGeom>
          <a:noFill/>
          <a:ln>
            <a:noFill/>
          </a:ln>
        </p:spPr>
      </p:pic>
      <p:sp>
        <p:nvSpPr>
          <p:cNvPr id="975048517" name="Google Shape;651;p50"/>
          <p:cNvSpPr txBox="1"/>
          <p:nvPr/>
        </p:nvSpPr>
        <p:spPr bwMode="auto">
          <a:xfrm>
            <a:off x="2471737" y="5232400"/>
            <a:ext cx="1676400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Libre Baskerville"/>
              <a:buNone/>
              <a:defRPr/>
            </a:pPr>
            <a:r>
              <a:rPr lang="en-US" sz="2800" b="1" i="0" u="none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</a:rPr>
              <a:t>Robotics</a:t>
            </a:r>
            <a:endParaRPr/>
          </a:p>
        </p:txBody>
      </p:sp>
      <p:sp>
        <p:nvSpPr>
          <p:cNvPr id="904365531" name="Google Shape;652;p50"/>
          <p:cNvSpPr txBox="1"/>
          <p:nvPr/>
        </p:nvSpPr>
        <p:spPr bwMode="auto">
          <a:xfrm>
            <a:off x="4175125" y="255588"/>
            <a:ext cx="5121275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Inspiration for Robotics comes from </a:t>
            </a:r>
            <a:r>
              <a:rPr lang="en-US" sz="1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mobility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of humans and animals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Smart sensing (vision, auditory, touch, heat)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Actions like walking, climbing, operations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Implement as both symbolic/non-symbolic AI</a:t>
            </a:r>
            <a:endParaRPr/>
          </a:p>
          <a:p>
            <a:pPr marL="3429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5184575" name="Google Shape;657;p51" descr="http://www.freefoto.com/images/01/01/01_01_24---Flock-of-Birds_web.jp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170362" y="668337"/>
            <a:ext cx="4973637" cy="34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955245" name="Google Shape;658;p51"/>
          <p:cNvSpPr txBox="1"/>
          <p:nvPr/>
        </p:nvSpPr>
        <p:spPr bwMode="auto">
          <a:xfrm>
            <a:off x="349250" y="188912"/>
            <a:ext cx="611822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ibre Baskerville"/>
              <a:buNone/>
              <a:defRPr/>
            </a:pPr>
            <a:r>
              <a:rPr lang="en-US" sz="3200" b="1" i="0" u="none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</a:rPr>
              <a:t>Multi-Agent Systems (Agentic AI)</a:t>
            </a:r>
            <a:endParaRPr/>
          </a:p>
        </p:txBody>
      </p:sp>
      <p:pic>
        <p:nvPicPr>
          <p:cNvPr id="1851915649" name="Google Shape;659;p5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4733925" y="4381500"/>
            <a:ext cx="457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068055" name="Google Shape;660;p5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4953000" y="5207000"/>
            <a:ext cx="457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642685" name="Google Shape;661;p5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5670550" y="5762625"/>
            <a:ext cx="457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125794" name="Google Shape;662;p5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6118225" y="4973637"/>
            <a:ext cx="457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409358" name="Google Shape;663;p5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5626100" y="4211637"/>
            <a:ext cx="457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8460388" name="Google Shape;664;p5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6965950" y="5686425"/>
            <a:ext cx="457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0883009" name="Google Shape;665;p5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7199312" y="4668837"/>
            <a:ext cx="457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690796" name="Google Shape;666;p5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7880350" y="5310187"/>
            <a:ext cx="457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3735423" name="Google Shape;667;p5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7947025" y="4275137"/>
            <a:ext cx="457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671006" name="Google Shape;668;p51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6897687" y="3965575"/>
            <a:ext cx="457200" cy="514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010068" name="Google Shape;669;p51"/>
          <p:cNvGrpSpPr/>
          <p:nvPr/>
        </p:nvGrpSpPr>
        <p:grpSpPr bwMode="auto">
          <a:xfrm>
            <a:off x="5041900" y="4343400"/>
            <a:ext cx="3227388" cy="1841500"/>
            <a:chOff x="5042650" y="4343400"/>
            <a:chExt cx="3227291" cy="1842247"/>
          </a:xfrm>
        </p:grpSpPr>
        <p:cxnSp>
          <p:nvCxnSpPr>
            <p:cNvPr id="670" name="Google Shape;670;p51"/>
            <p:cNvCxnSpPr/>
            <p:nvPr/>
          </p:nvCxnSpPr>
          <p:spPr bwMode="auto">
            <a:xfrm rot="10800000" flipH="1">
              <a:off x="5082337" y="4505391"/>
              <a:ext cx="700066" cy="20169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71" name="Google Shape;671;p51"/>
            <p:cNvCxnSpPr/>
            <p:nvPr/>
          </p:nvCxnSpPr>
          <p:spPr bwMode="auto">
            <a:xfrm rot="10800000" flipH="1">
              <a:off x="5288706" y="5324873"/>
              <a:ext cx="977870" cy="24616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72" name="Google Shape;672;p51"/>
            <p:cNvCxnSpPr/>
            <p:nvPr/>
          </p:nvCxnSpPr>
          <p:spPr bwMode="auto">
            <a:xfrm rot="10800000" flipH="1">
              <a:off x="5974485" y="4343400"/>
              <a:ext cx="990570" cy="1524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73" name="Google Shape;673;p51"/>
            <p:cNvCxnSpPr/>
            <p:nvPr/>
          </p:nvCxnSpPr>
          <p:spPr bwMode="auto">
            <a:xfrm rot="5400000" flipH="1">
              <a:off x="4902069" y="4927074"/>
              <a:ext cx="420858" cy="13969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74" name="Google Shape;674;p51"/>
            <p:cNvCxnSpPr/>
            <p:nvPr/>
          </p:nvCxnSpPr>
          <p:spPr bwMode="auto">
            <a:xfrm rot="10800000" flipH="1">
              <a:off x="6064969" y="6077653"/>
              <a:ext cx="1008032" cy="10799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75" name="Google Shape;675;p51"/>
            <p:cNvCxnSpPr/>
            <p:nvPr/>
          </p:nvCxnSpPr>
          <p:spPr bwMode="auto">
            <a:xfrm rot="5400000" flipH="1">
              <a:off x="5330669" y="5681510"/>
              <a:ext cx="471679" cy="45718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76" name="Google Shape;676;p51"/>
            <p:cNvCxnSpPr/>
            <p:nvPr/>
          </p:nvCxnSpPr>
          <p:spPr bwMode="auto">
            <a:xfrm rot="10800000" flipH="1">
              <a:off x="6468182" y="5069182"/>
              <a:ext cx="833413" cy="2699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77" name="Google Shape;677;p51"/>
            <p:cNvCxnSpPr/>
            <p:nvPr/>
          </p:nvCxnSpPr>
          <p:spPr bwMode="auto">
            <a:xfrm rot="10800000" flipH="1">
              <a:off x="7328581" y="5755260"/>
              <a:ext cx="658793" cy="2826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78" name="Google Shape;678;p51"/>
            <p:cNvCxnSpPr/>
            <p:nvPr/>
          </p:nvCxnSpPr>
          <p:spPr bwMode="auto">
            <a:xfrm rot="10800000" flipH="1">
              <a:off x="7530187" y="4719791"/>
              <a:ext cx="658792" cy="2826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79" name="Google Shape;679;p51"/>
            <p:cNvCxnSpPr/>
            <p:nvPr/>
          </p:nvCxnSpPr>
          <p:spPr bwMode="auto">
            <a:xfrm rot="-5400000">
              <a:off x="7846736" y="4968370"/>
              <a:ext cx="684490" cy="16192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80" name="Google Shape;680;p51"/>
            <p:cNvCxnSpPr/>
            <p:nvPr/>
          </p:nvCxnSpPr>
          <p:spPr bwMode="auto">
            <a:xfrm rot="10800000" flipH="1">
              <a:off x="6360235" y="4424396"/>
              <a:ext cx="658793" cy="59079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81" name="Google Shape;681;p51"/>
            <p:cNvCxnSpPr/>
            <p:nvPr/>
          </p:nvCxnSpPr>
          <p:spPr bwMode="auto">
            <a:xfrm rot="5400000" flipH="1">
              <a:off x="5916447" y="4733351"/>
              <a:ext cx="443092" cy="28256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82" name="Google Shape;682;p51"/>
            <p:cNvCxnSpPr/>
            <p:nvPr/>
          </p:nvCxnSpPr>
          <p:spPr bwMode="auto">
            <a:xfrm rot="10800000" flipH="1">
              <a:off x="5969722" y="5488452"/>
              <a:ext cx="377814" cy="36050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83" name="Google Shape;683;p51"/>
            <p:cNvCxnSpPr/>
            <p:nvPr/>
          </p:nvCxnSpPr>
          <p:spPr bwMode="auto">
            <a:xfrm rot="-5400000">
              <a:off x="7037956" y="5353505"/>
              <a:ext cx="559027" cy="21906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84" name="Google Shape;684;p51"/>
            <p:cNvCxnSpPr/>
            <p:nvPr/>
          </p:nvCxnSpPr>
          <p:spPr bwMode="auto">
            <a:xfrm>
              <a:off x="7234921" y="4383104"/>
              <a:ext cx="860399" cy="20169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685" name="Google Shape;685;p51"/>
            <p:cNvCxnSpPr/>
            <p:nvPr/>
          </p:nvCxnSpPr>
          <p:spPr bwMode="auto">
            <a:xfrm rot="10800000">
              <a:off x="6468182" y="5486864"/>
              <a:ext cx="631806" cy="50979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</p:grpSp>
      <p:sp>
        <p:nvSpPr>
          <p:cNvPr id="180034789" name="Google Shape;686;p51"/>
          <p:cNvSpPr txBox="1"/>
          <p:nvPr/>
        </p:nvSpPr>
        <p:spPr bwMode="auto">
          <a:xfrm>
            <a:off x="257285" y="734346"/>
            <a:ext cx="8537465" cy="729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Inspired by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Problem-solving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by </a:t>
            </a:r>
            <a:r>
              <a:rPr lang="en-US" sz="1800" b="0" i="0" u="sng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teamwork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/>
            </a:pPr>
            <a:endParaRPr sz="1200" b="0" i="0" u="sng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Inspiration comes from ants,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bees, birds, fish, elephants,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Task force for COVID</a:t>
            </a:r>
            <a:endParaRPr/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Organizing a shramadana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285750" marR="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Group assignments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MAS can come  up with a solution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even from </a:t>
            </a:r>
            <a:r>
              <a:rPr lang="en-US" sz="1800" b="0" i="0" u="sng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zero knowledge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at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the beginning (group assignment)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2. MAS can generate better solutions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than individual one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1 (individual)+ 1 (individual)  &lt; 2 (collective)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3. MAS uses </a:t>
            </a:r>
            <a:r>
              <a:rPr lang="en-US" sz="18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message passing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rather than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Algorithms to solve problems?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MAS can produce innovative, efficient, high-quality solutions beyond individual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capacity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8587342" name="Google Shape;687;p51"/>
          <p:cNvSpPr txBox="1"/>
          <p:nvPr/>
        </p:nvSpPr>
        <p:spPr bwMode="auto">
          <a:xfrm>
            <a:off x="9753600" y="1295400"/>
            <a:ext cx="2667000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One person 20 bricks per hour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According to MAS - How many bricks will be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Completed in one hour by two persons?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40     40&gt;      40&lt;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</p:txBody>
      </p:sp>
      <p:sp>
        <p:nvSpPr>
          <p:cNvPr id="1897857885" name="Google Shape;688;p51"/>
          <p:cNvSpPr txBox="1"/>
          <p:nvPr/>
        </p:nvSpPr>
        <p:spPr bwMode="auto">
          <a:xfrm rot="-2160000">
            <a:off x="8042275" y="4892675"/>
            <a:ext cx="11715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AI Agents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115347" name="Google Shape;693;p52"/>
          <p:cNvSpPr txBox="1"/>
          <p:nvPr>
            <p:ph type="title"/>
          </p:nvPr>
        </p:nvSpPr>
        <p:spPr bwMode="auto">
          <a:xfrm>
            <a:off x="304800" y="15716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Fuzzy Logic</a:t>
            </a:r>
            <a:endParaRPr/>
          </a:p>
        </p:txBody>
      </p:sp>
      <p:sp>
        <p:nvSpPr>
          <p:cNvPr id="1290933446" name="Google Shape;694;p52"/>
          <p:cNvSpPr txBox="1"/>
          <p:nvPr>
            <p:ph type="body" idx="4294967295"/>
          </p:nvPr>
        </p:nvSpPr>
        <p:spPr bwMode="auto">
          <a:xfrm>
            <a:off x="228600" y="914400"/>
            <a:ext cx="8915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Not being exact is </a:t>
            </a: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also an intelligent feature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The world is full of situations where a conclusion does not fall into one end but a set of acceptable values in between.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Adding salt into a curry (10ml)   (9.8ml-10.4ml)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Function of a thermostat of an AC (18C)   (17.5-19.2)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Automatic focusing of a camera (4m)   (3.8-4.3m)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Weight-based spins of a washing machine (5kg) (4.8kg – 5.2kg)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Applying break and stop a vehicle                                                                  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FL is suitable for controlling applications – vehicles, inventories, dropping, navigation,…..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FL can be primarily implemented as ACS/ML solutions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</p:txBody>
      </p:sp>
      <p:sp>
        <p:nvSpPr>
          <p:cNvPr id="888463036" name="Google Shape;695;p52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115320128" name="Google Shape;696;p52"/>
          <p:cNvSpPr/>
          <p:nvPr/>
        </p:nvSpPr>
        <p:spPr bwMode="auto">
          <a:xfrm>
            <a:off x="10515600" y="274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 fill="norm" stroke="1" extrusionOk="0">
                <a:moveTo>
                  <a:pt x="152400" y="0"/>
                </a:moveTo>
                <a:cubicBezTo>
                  <a:pt x="236568" y="0"/>
                  <a:pt x="304800" y="68232"/>
                  <a:pt x="304800" y="152400"/>
                </a:cubicBezTo>
                <a:lnTo>
                  <a:pt x="152400" y="152400"/>
                </a:lnTo>
                <a:lnTo>
                  <a:pt x="152400" y="0"/>
                </a:lnTo>
                <a:close/>
              </a:path>
              <a:path w="304800" h="304800" fill="none" stroke="1" extrusionOk="0">
                <a:moveTo>
                  <a:pt x="152400" y="0"/>
                </a:moveTo>
                <a:cubicBezTo>
                  <a:pt x="236568" y="0"/>
                  <a:pt x="304800" y="68232"/>
                  <a:pt x="304800" y="152400"/>
                </a:cubicBezTo>
              </a:path>
            </a:pathLst>
          </a:cu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2149375" name="Google Shape;697;p52"/>
          <p:cNvSpPr/>
          <p:nvPr/>
        </p:nvSpPr>
        <p:spPr bwMode="auto">
          <a:xfrm>
            <a:off x="10321925" y="2281237"/>
            <a:ext cx="1066800" cy="6858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25400" cap="flat" cmpd="sng">
            <a:solidFill>
              <a:srgbClr val="553E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6806414" name="Google Shape;698;p52"/>
          <p:cNvSpPr/>
          <p:nvPr/>
        </p:nvSpPr>
        <p:spPr bwMode="auto">
          <a:xfrm>
            <a:off x="9829800" y="3286125"/>
            <a:ext cx="2209800" cy="685800"/>
          </a:xfrm>
          <a:prstGeom prst="parallelogram">
            <a:avLst>
              <a:gd name="adj" fmla="val 1676"/>
            </a:avLst>
          </a:prstGeom>
          <a:solidFill>
            <a:srgbClr val="0070C0"/>
          </a:solidFill>
          <a:ln w="25400" cap="flat" cmpd="sng">
            <a:solidFill>
              <a:srgbClr val="553E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37699221" name="Google Shape;699;p52"/>
          <p:cNvCxnSpPr/>
          <p:nvPr/>
        </p:nvCxnSpPr>
        <p:spPr bwMode="auto">
          <a:xfrm rot="10800000" flipH="1">
            <a:off x="10820400" y="1143000"/>
            <a:ext cx="34925" cy="1209675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4901004" name="Google Shape;700;p52"/>
          <p:cNvCxnSpPr/>
          <p:nvPr/>
        </p:nvCxnSpPr>
        <p:spPr bwMode="auto">
          <a:xfrm>
            <a:off x="10845800" y="1138237"/>
            <a:ext cx="800100" cy="60960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390692" name="Google Shape;701;p52"/>
          <p:cNvCxnSpPr/>
          <p:nvPr/>
        </p:nvCxnSpPr>
        <p:spPr bwMode="auto">
          <a:xfrm>
            <a:off x="10591799" y="2057400"/>
            <a:ext cx="381000" cy="0"/>
          </a:xfrm>
          <a:prstGeom prst="straightConnector1">
            <a:avLst/>
          </a:prstGeom>
          <a:noFill/>
          <a:ln w="22225" cap="flat" cmpd="sng">
            <a:solidFill>
              <a:srgbClr val="FFFF0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115635" name="Google Shape;706;p53"/>
          <p:cNvSpPr txBox="1"/>
          <p:nvPr>
            <p:ph type="title"/>
          </p:nvPr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5</a:t>
            </a:r>
            <a:endParaRPr/>
          </a:p>
        </p:txBody>
      </p:sp>
      <p:sp>
        <p:nvSpPr>
          <p:cNvPr id="2104290804" name="Google Shape;707;p53"/>
          <p:cNvSpPr txBox="1"/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Discuss what actions of the watering robot shown in the video may use fuzzy logic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Amount of water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Distance from the plant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Moisture level of soil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Water pressure</a:t>
            </a:r>
            <a:endParaRPr/>
          </a:p>
          <a:p>
            <a:pPr marL="669925" marR="0" lvl="1" indent="-22637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669925" marR="0" lvl="1" indent="-22637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35583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5594124" name="Google Shape;708;p53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954959" name="Google Shape;713;p54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Natural Language Processing</a:t>
            </a:r>
            <a:endParaRPr/>
          </a:p>
        </p:txBody>
      </p:sp>
      <p:sp>
        <p:nvSpPr>
          <p:cNvPr id="1421332394" name="Google Shape;714;p54"/>
          <p:cNvSpPr txBox="1"/>
          <p:nvPr>
            <p:ph type="body" idx="4294967295"/>
          </p:nvPr>
        </p:nvSpPr>
        <p:spPr bwMode="auto">
          <a:xfrm>
            <a:off x="0" y="1066800"/>
            <a:ext cx="102870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NLP implements the intelligent feature of </a:t>
            </a: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communication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It includes many related intelligent features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Understanding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Dealing with incomplete sentences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Translation among languages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Converting speech to text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Generating/synthesizing an answer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There are 10 balls in box A and 12 balls in box B. Saman has taken 3 balls from A </a:t>
            </a:r>
            <a:endParaRPr/>
          </a:p>
          <a:p>
            <a:pPr marL="344487" marR="0" lvl="1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and he kept two with him and the remainder is added to A. Find how many balls </a:t>
            </a:r>
            <a:endParaRPr/>
          </a:p>
          <a:p>
            <a:pPr marL="344487" marR="0" lvl="1" indent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None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now in the box A.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Today ChatGPT (Large Language Models) can answer this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Since ELIZA, NLP has evolved from symbolic AI to ML</a:t>
            </a:r>
            <a:endParaRPr/>
          </a:p>
          <a:p>
            <a:pPr marL="669925" marR="0" lvl="1" indent="-23399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  <a:defRPr/>
            </a:pPr>
            <a:endParaRPr sz="2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669925" marR="0" lvl="1" indent="-22637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7882444" name="Google Shape;715;p54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cxnSp>
        <p:nvCxnSpPr>
          <p:cNvPr id="1693239158" name="Google Shape;716;p54"/>
          <p:cNvCxnSpPr/>
          <p:nvPr/>
        </p:nvCxnSpPr>
        <p:spPr bwMode="auto">
          <a:xfrm>
            <a:off x="11658600" y="1676400"/>
            <a:ext cx="0" cy="152400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4074157" name="Google Shape;717;p54"/>
          <p:cNvCxnSpPr/>
          <p:nvPr/>
        </p:nvCxnSpPr>
        <p:spPr bwMode="auto">
          <a:xfrm>
            <a:off x="11201400" y="2133600"/>
            <a:ext cx="914400" cy="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91769066" name="Google Shape;718;p54"/>
          <p:cNvSpPr/>
          <p:nvPr/>
        </p:nvSpPr>
        <p:spPr bwMode="auto">
          <a:xfrm>
            <a:off x="11391900" y="1943100"/>
            <a:ext cx="533400" cy="381000"/>
          </a:xfrm>
          <a:prstGeom prst="curvedUpArrow">
            <a:avLst>
              <a:gd name="adj1" fmla="val 13886"/>
              <a:gd name="adj2" fmla="val 19672"/>
              <a:gd name="adj3" fmla="val 5400"/>
            </a:avLst>
          </a:prstGeom>
          <a:solidFill>
            <a:schemeClr val="accent1"/>
          </a:solidFill>
          <a:ln w="25400" cap="flat" cmpd="sng">
            <a:solidFill>
              <a:srgbClr val="553E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6591380" name="Google Shape;719;p54"/>
          <p:cNvSpPr txBox="1"/>
          <p:nvPr/>
        </p:nvSpPr>
        <p:spPr bwMode="auto">
          <a:xfrm>
            <a:off x="9982200" y="533400"/>
            <a:ext cx="445135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McCarthy   CMU   MIT     Stanford     (ES)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Minskey      MIT     MIT    MIT          (NLP)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949814" name="Google Shape;724;p55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6</a:t>
            </a:r>
            <a:endParaRPr/>
          </a:p>
        </p:txBody>
      </p:sp>
      <p:sp>
        <p:nvSpPr>
          <p:cNvPr id="964107745" name="Google Shape;725;p55"/>
          <p:cNvSpPr txBox="1"/>
          <p:nvPr>
            <p:ph type="body" idx="1"/>
          </p:nvPr>
        </p:nvSpPr>
        <p:spPr bwMode="auto">
          <a:xfrm>
            <a:off x="457200" y="1600200"/>
            <a:ext cx="8534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Explain why NLP could be implemented as a symbolic and non-symbolic solution (think whether humans can do it)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We can handle languages by knowing grammar and/or by training without knowledge of grammar (tourist guide)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Other areas with both symbolic/non-symbolic modelling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Robots can work based on rules (Unimate) or training (Atlas)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Games can be played by training (AlphaGo) or knowing rules (Deep Blue)</a:t>
            </a:r>
            <a:endParaRPr/>
          </a:p>
          <a:p>
            <a:pPr marL="342900" marR="0" lvl="0" indent="-24384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None/>
              <a:defRPr/>
            </a:pPr>
            <a:endParaRPr sz="2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4025516" name="Google Shape;726;p55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512053" name="Google Shape;731;p56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Gamming</a:t>
            </a:r>
            <a:endParaRPr/>
          </a:p>
        </p:txBody>
      </p:sp>
      <p:sp>
        <p:nvSpPr>
          <p:cNvPr id="2083501581" name="Google Shape;732;p56"/>
          <p:cNvSpPr txBox="1"/>
          <p:nvPr>
            <p:ph type="body" idx="4294967295"/>
          </p:nvPr>
        </p:nvSpPr>
        <p:spPr bwMode="auto">
          <a:xfrm>
            <a:off x="55880" y="1382078"/>
            <a:ext cx="9067800" cy="333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55"/>
              <a:buFont typeface="Noto Sans Symbols"/>
              <a:buChar char="■"/>
              <a:defRPr/>
            </a:pPr>
            <a:r>
              <a:rPr lang="en-US" sz="27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Gaming</a:t>
            </a:r>
            <a:r>
              <a:rPr lang="en-US" sz="27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is an intelligent </a:t>
            </a:r>
            <a:r>
              <a:rPr lang="en-US" sz="27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activity </a:t>
            </a:r>
            <a:r>
              <a:rPr lang="en-US" sz="27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requiring</a:t>
            </a:r>
            <a:r>
              <a:rPr lang="en-US" sz="27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7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recognizing  many options </a:t>
            </a:r>
            <a:r>
              <a:rPr lang="en-US" sz="27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at a given state and deciding the </a:t>
            </a:r>
            <a:r>
              <a:rPr lang="en-US" sz="27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best option</a:t>
            </a:r>
            <a:endParaRPr sz="27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755"/>
              <a:buFont typeface="Noto Sans Symbols"/>
              <a:buChar char="■"/>
              <a:defRPr/>
            </a:pPr>
            <a:r>
              <a:rPr lang="en-US" sz="27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This can be done knowing rules (ACS), or using data generated in games (ML)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755"/>
              <a:buFont typeface="Noto Sans Symbols"/>
              <a:buChar char="■"/>
              <a:defRPr/>
            </a:pPr>
            <a:r>
              <a:rPr lang="en-US" sz="27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Chess has 25-35 moves; so rules (ACS) can be written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755"/>
              <a:buFont typeface="Noto Sans Symbols"/>
              <a:buChar char="■"/>
              <a:defRPr/>
            </a:pPr>
            <a:r>
              <a:rPr lang="en-US" sz="27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Go has 2.1x10^170 moves, so only ML is possible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755"/>
              <a:buFont typeface="Noto Sans Symbols"/>
              <a:buNone/>
              <a:defRPr/>
            </a:pPr>
            <a:r>
              <a:rPr lang="en-US" sz="27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05041171" name="Google Shape;733;p56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406260312" name="Google Shape;734;p56"/>
          <p:cNvSpPr/>
          <p:nvPr/>
        </p:nvSpPr>
        <p:spPr bwMode="auto">
          <a:xfrm>
            <a:off x="7113587" y="5770562"/>
            <a:ext cx="2030412" cy="946150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09/08/2025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812577" name="Google Shape;740;p57"/>
          <p:cNvSpPr txBox="1"/>
          <p:nvPr>
            <p:ph type="title" idx="4294967295"/>
          </p:nvPr>
        </p:nvSpPr>
        <p:spPr bwMode="auto">
          <a:xfrm>
            <a:off x="381000" y="141288"/>
            <a:ext cx="92964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Garamond"/>
              <a:buNone/>
              <a:defRPr/>
            </a:pPr>
            <a:r>
              <a:rPr lang="en-US" sz="3600" b="1" i="0" u="none" strike="noStrike" cap="none">
                <a:solidFill>
                  <a:srgbClr val="00B050"/>
                </a:solidFill>
                <a:highlight>
                  <a:srgbClr val="FFFF00"/>
                </a:highlight>
                <a:latin typeface="Garamond"/>
                <a:ea typeface="Garamond"/>
                <a:cs typeface="Garamond"/>
              </a:rPr>
              <a:t>Concerns</a:t>
            </a:r>
            <a:r>
              <a:rPr lang="en-US" sz="3600" b="1" i="0" u="none" strike="noStrike" cap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 about developing AI solutions</a:t>
            </a:r>
            <a:endParaRPr/>
          </a:p>
        </p:txBody>
      </p:sp>
      <p:sp>
        <p:nvSpPr>
          <p:cNvPr id="284351643" name="Google Shape;741;p57"/>
          <p:cNvSpPr txBox="1"/>
          <p:nvPr>
            <p:ph type="body" idx="4294967295"/>
          </p:nvPr>
        </p:nvSpPr>
        <p:spPr bwMode="auto">
          <a:xfrm>
            <a:off x="0" y="1026478"/>
            <a:ext cx="910844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Note: Humans can solve 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any problem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(thinking-brain and training-brain). Therefore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, AI can also solve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any problem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can solve a problem (game/NLP) in more than one way (ACS and/or ML) and give more than one answer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Taking AI solutions to industry (Production AI) is challenging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Nature of raw material for AI (knowledge/data) in the domain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Algorithmic/non-algorithmic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Formal/informal, noisy, incomplete, dynamic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Availability of Knowledge (acts, bills, ….)/Data (Me, Agri, 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Symbolic solutions/non-symbolic solutions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Alternative solutions, explanations, certainty of answers, incomplete, noisy, dynamic data/knowledge</a:t>
            </a:r>
            <a:endParaRPr/>
          </a:p>
          <a:p>
            <a:pPr marL="669925" marR="0" lvl="1" indent="-23399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  <a:defRPr/>
            </a:pPr>
            <a:endParaRPr sz="2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8320070" name="Google Shape;742;p57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495165844" name="Google Shape;743;p57"/>
          <p:cNvSpPr txBox="1"/>
          <p:nvPr/>
        </p:nvSpPr>
        <p:spPr bwMode="auto">
          <a:xfrm>
            <a:off x="9601200" y="631825"/>
            <a:ext cx="3224212" cy="314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Program Learning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Outcome (PLO) of the degree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Ability to communicate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AI solutions to clients,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Customers, professionals,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Society at large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185829" name="Google Shape;748;p58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400"/>
              <a:buFont typeface="Garamond"/>
              <a:buNone/>
              <a:defRPr/>
            </a:pPr>
            <a:r>
              <a:rPr lang="en-US" sz="44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Concerns about developing…</a:t>
            </a:r>
            <a:endParaRPr/>
          </a:p>
        </p:txBody>
      </p:sp>
      <p:sp>
        <p:nvSpPr>
          <p:cNvPr id="2136651436" name="Google Shape;749;p58"/>
          <p:cNvSpPr txBox="1"/>
          <p:nvPr>
            <p:ph type="body" idx="4294967295"/>
          </p:nvPr>
        </p:nvSpPr>
        <p:spPr bwMode="auto">
          <a:xfrm>
            <a:off x="457200" y="1219200"/>
            <a:ext cx="8229600" cy="4713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Choice of Technologies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Symbolic - (ES, MAS, FL, NLP, Ontology, Robotics)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Non-symbolic - (ANN/ML, GA, NLP, Robotics)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Extending 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existing digital solutions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: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Addressing biological limitations: reaction time, access time,  accuracy, number of parameters (Deep Blue), inaccessible environment (Drones), unexplored situations (Path Finder), changing parameters, fatigue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New concerns: explainability, singularity, LLM, localized LLM (RAG), AI Agent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 graduate should be able to 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communicate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about AI solutions to the client, industry, and society at large. 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9724584" name="Google Shape;750;p58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483879" name="Google Shape;755;p59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7</a:t>
            </a:r>
            <a:endParaRPr/>
          </a:p>
        </p:txBody>
      </p:sp>
      <p:sp>
        <p:nvSpPr>
          <p:cNvPr id="1590161428" name="Google Shape;756;p59"/>
          <p:cNvSpPr txBox="1"/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Discuss how you decide the kind of AI solution required for an organization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Where human involvement is extensive</a:t>
            </a:r>
            <a:endParaRPr/>
          </a:p>
        </p:txBody>
      </p:sp>
      <p:sp>
        <p:nvSpPr>
          <p:cNvPr id="406511588" name="Google Shape;757;p59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561755" name="Google Shape;762;p60"/>
          <p:cNvSpPr txBox="1"/>
          <p:nvPr>
            <p:ph type="title"/>
          </p:nvPr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8</a:t>
            </a:r>
            <a:endParaRPr/>
          </a:p>
        </p:txBody>
      </p:sp>
      <p:sp>
        <p:nvSpPr>
          <p:cNvPr id="384999523" name="Google Shape;763;p60"/>
          <p:cNvSpPr txBox="1"/>
          <p:nvPr>
            <p:ph type="body" idx="4294967295"/>
          </p:nvPr>
        </p:nvSpPr>
        <p:spPr bwMode="auto">
          <a:xfrm>
            <a:off x="457200" y="1219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Would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all symbolic AI solutions 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be able to give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explanations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?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NO-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, MAS, FL, Chatbot (ELIZA), Game(Deep Blue), Ontology,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NLP (starts in Symbolic, and evolves towards non-symbolic)</a:t>
            </a:r>
            <a:endParaRPr/>
          </a:p>
          <a:p>
            <a:pPr marL="342900" marR="0" lvl="1" indent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997018" name="Google Shape;764;p60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201952" name="Google Shape;769;p61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78663552" name="Google Shape;770;p61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The Turing Test</a:t>
            </a:r>
            <a:endParaRPr/>
          </a:p>
        </p:txBody>
      </p:sp>
      <p:sp>
        <p:nvSpPr>
          <p:cNvPr id="333072637" name="Google Shape;771;p61"/>
          <p:cNvSpPr txBox="1"/>
          <p:nvPr>
            <p:ph type="body" idx="4294967295"/>
          </p:nvPr>
        </p:nvSpPr>
        <p:spPr bwMode="auto">
          <a:xfrm>
            <a:off x="0" y="1163637"/>
            <a:ext cx="90678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Now we are interested in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how we decide 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whether a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machine is intelligent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.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TT is an approach to test whether a machine is  intelligent (“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Computing Machinery and Intelligence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” – 1952) 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 </a:t>
            </a: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man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and a </a:t>
            </a: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woman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communicate with an </a:t>
            </a: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interrogator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without seeing each other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Man is replaced 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with a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machine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without knowing the interrogator and he continues questioning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If the interrogator cannot notice a difference between answers provided by the </a:t>
            </a: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woman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and the </a:t>
            </a: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machine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, then the woman and the Machine are equally intelligent (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If the  machine can fool the interrogator, then the machine is intelligent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)  - if a student is less knowledgeable ChatGPT can fool the student</a:t>
            </a:r>
            <a:endParaRPr/>
          </a:p>
          <a:p>
            <a:pPr marL="342900" marR="0" lvl="0" indent="-235583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99457" name="Google Shape;776;p62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Note</a:t>
            </a:r>
            <a:endParaRPr/>
          </a:p>
        </p:txBody>
      </p:sp>
      <p:sp>
        <p:nvSpPr>
          <p:cNvPr id="2056546345" name="Google Shape;777;p62"/>
          <p:cNvSpPr txBox="1"/>
          <p:nvPr>
            <p:ph type="body" idx="1"/>
          </p:nvPr>
        </p:nvSpPr>
        <p:spPr bwMode="auto">
          <a:xfrm>
            <a:off x="457200" y="1600200"/>
            <a:ext cx="84582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 major concern of ChatGPT-like ML solutions (the machine can fool the interrogator) was acknowledged by Turing 75 years ago.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The paper title “Computing machinery and intelligence” indicates that Turing realized that intelligence could be programmed into a computer.</a:t>
            </a:r>
            <a:endParaRPr/>
          </a:p>
        </p:txBody>
      </p:sp>
      <p:sp>
        <p:nvSpPr>
          <p:cNvPr id="1453507919" name="Google Shape;778;p62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852493" name="Google Shape;783;p63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The Turing Test</a:t>
            </a:r>
            <a:endParaRPr/>
          </a:p>
        </p:txBody>
      </p:sp>
      <p:pic>
        <p:nvPicPr>
          <p:cNvPr id="1687416335" name="Google Shape;784;p63" descr="Question Mark"/>
          <p:cNvPicPr/>
          <p:nvPr>
            <p:ph type="body" idx="1"/>
          </p:nvPr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840287" y="4019550"/>
            <a:ext cx="355600" cy="354012"/>
          </a:xfrm>
          <a:prstGeom prst="rect">
            <a:avLst/>
          </a:prstGeom>
          <a:noFill/>
          <a:ln>
            <a:noFill/>
          </a:ln>
        </p:spPr>
      </p:pic>
      <p:sp>
        <p:nvSpPr>
          <p:cNvPr id="1737443420" name="Google Shape;785;p63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pic>
        <p:nvPicPr>
          <p:cNvPr id="1582701179" name="Google Shape;786;p63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2895600" y="2357437"/>
            <a:ext cx="1112837" cy="150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762976" name="Google Shape;787;p63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5408612" y="2657475"/>
            <a:ext cx="350837" cy="1074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1090313" name="Google Shape;788;p63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6134100" y="2690812"/>
            <a:ext cx="1189037" cy="101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763266" name="Google Shape;789;p63"/>
          <p:cNvPicPr/>
          <p:nvPr/>
        </p:nvPicPr>
        <p:blipFill>
          <a:blip r:embed="rId7">
            <a:alphaModFix/>
          </a:blip>
          <a:srcRect l="0" t="0" r="0" b="0"/>
          <a:stretch/>
        </p:blipFill>
        <p:spPr bwMode="auto">
          <a:xfrm>
            <a:off x="4549775" y="4473575"/>
            <a:ext cx="1363662" cy="13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35448583" name="Google Shape;790;p63"/>
          <p:cNvSpPr txBox="1"/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6255685" name="Google Shape;791;p63"/>
          <p:cNvSpPr txBox="1"/>
          <p:nvPr/>
        </p:nvSpPr>
        <p:spPr bwMode="auto">
          <a:xfrm>
            <a:off x="0" y="45720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3348859" name="Google Shape;792;p63"/>
          <p:cNvSpPr txBox="1"/>
          <p:nvPr/>
        </p:nvSpPr>
        <p:spPr bwMode="auto">
          <a:xfrm>
            <a:off x="0" y="1965325"/>
            <a:ext cx="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6005621" name="Google Shape;793;p63"/>
          <p:cNvSpPr txBox="1"/>
          <p:nvPr/>
        </p:nvSpPr>
        <p:spPr bwMode="auto">
          <a:xfrm>
            <a:off x="0" y="3497262"/>
            <a:ext cx="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7353405" name="Google Shape;794;p63"/>
          <p:cNvSpPr txBox="1"/>
          <p:nvPr/>
        </p:nvSpPr>
        <p:spPr bwMode="auto">
          <a:xfrm>
            <a:off x="0" y="4967287"/>
            <a:ext cx="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6429908" name="Google Shape;795;p63"/>
          <p:cNvSpPr txBox="1"/>
          <p:nvPr/>
        </p:nvSpPr>
        <p:spPr bwMode="auto">
          <a:xfrm>
            <a:off x="0" y="68183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2085130005" name="Google Shape;796;p63"/>
          <p:cNvCxnSpPr/>
          <p:nvPr/>
        </p:nvCxnSpPr>
        <p:spPr bwMode="auto">
          <a:xfrm rot="10800000" flipH="1">
            <a:off x="2895600" y="3919537"/>
            <a:ext cx="4495800" cy="34925"/>
          </a:xfrm>
          <a:prstGeom prst="straightConnector1">
            <a:avLst/>
          </a:prstGeom>
          <a:noFill/>
          <a:ln w="349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745910008" name="Google Shape;797;p63"/>
          <p:cNvCxnSpPr/>
          <p:nvPr/>
        </p:nvCxnSpPr>
        <p:spPr bwMode="auto">
          <a:xfrm rot="10800000" flipH="1">
            <a:off x="2895600" y="2057400"/>
            <a:ext cx="4495800" cy="34925"/>
          </a:xfrm>
          <a:prstGeom prst="straightConnector1">
            <a:avLst/>
          </a:prstGeom>
          <a:noFill/>
          <a:ln w="349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6118804" name="Google Shape;798;p63"/>
          <p:cNvCxnSpPr/>
          <p:nvPr/>
        </p:nvCxnSpPr>
        <p:spPr bwMode="auto">
          <a:xfrm>
            <a:off x="2895600" y="2116137"/>
            <a:ext cx="0" cy="1846262"/>
          </a:xfrm>
          <a:prstGeom prst="straightConnector1">
            <a:avLst/>
          </a:prstGeom>
          <a:noFill/>
          <a:ln w="349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07028116" name="Google Shape;799;p63"/>
          <p:cNvCxnSpPr/>
          <p:nvPr/>
        </p:nvCxnSpPr>
        <p:spPr bwMode="auto">
          <a:xfrm>
            <a:off x="5029200" y="2057400"/>
            <a:ext cx="0" cy="1846262"/>
          </a:xfrm>
          <a:prstGeom prst="straightConnector1">
            <a:avLst/>
          </a:prstGeom>
          <a:noFill/>
          <a:ln w="349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9923311" name="Google Shape;800;p63"/>
          <p:cNvCxnSpPr/>
          <p:nvPr/>
        </p:nvCxnSpPr>
        <p:spPr bwMode="auto">
          <a:xfrm>
            <a:off x="7394575" y="2057400"/>
            <a:ext cx="0" cy="1846262"/>
          </a:xfrm>
          <a:prstGeom prst="straightConnector1">
            <a:avLst/>
          </a:prstGeom>
          <a:noFill/>
          <a:ln w="349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5679968" name="Google Shape;801;p63"/>
          <p:cNvCxnSpPr/>
          <p:nvPr/>
        </p:nvCxnSpPr>
        <p:spPr bwMode="auto">
          <a:xfrm>
            <a:off x="3981450" y="3617912"/>
            <a:ext cx="962025" cy="860425"/>
          </a:xfrm>
          <a:prstGeom prst="straightConnector1">
            <a:avLst/>
          </a:prstGeom>
          <a:noFill/>
          <a:ln w="41275" cap="flat" cmpd="sng">
            <a:solidFill>
              <a:srgbClr val="0070C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134027445" name="Google Shape;802;p63"/>
          <p:cNvCxnSpPr/>
          <p:nvPr/>
        </p:nvCxnSpPr>
        <p:spPr bwMode="auto">
          <a:xfrm flipH="1">
            <a:off x="5126037" y="3760787"/>
            <a:ext cx="1006474" cy="712787"/>
          </a:xfrm>
          <a:prstGeom prst="straightConnector1">
            <a:avLst/>
          </a:prstGeom>
          <a:noFill/>
          <a:ln w="41275" cap="flat" cmpd="sng">
            <a:solidFill>
              <a:srgbClr val="0070C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743585168" name="Google Shape;803;p63"/>
          <p:cNvSpPr txBox="1"/>
          <p:nvPr/>
        </p:nvSpPr>
        <p:spPr bwMode="auto">
          <a:xfrm>
            <a:off x="5224462" y="2730500"/>
            <a:ext cx="330200" cy="98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/>
            </a:pPr>
            <a:r>
              <a:rPr lang="en-US" sz="5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X</a:t>
            </a:r>
            <a:endParaRPr/>
          </a:p>
        </p:txBody>
      </p:sp>
      <p:sp>
        <p:nvSpPr>
          <p:cNvPr id="1089518790" name="Google Shape;804;p63"/>
          <p:cNvSpPr txBox="1"/>
          <p:nvPr/>
        </p:nvSpPr>
        <p:spPr bwMode="auto">
          <a:xfrm>
            <a:off x="6324600" y="5424487"/>
            <a:ext cx="192881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Asking questions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127603" name="Google Shape;809;p64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The Turing Test</a:t>
            </a:r>
            <a:endParaRPr/>
          </a:p>
        </p:txBody>
      </p:sp>
      <p:pic>
        <p:nvPicPr>
          <p:cNvPr id="240387702" name="Google Shape;810;p64" descr="Question Mark"/>
          <p:cNvPicPr/>
          <p:nvPr>
            <p:ph type="body" idx="1"/>
          </p:nvPr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905375" y="3790949"/>
            <a:ext cx="355600" cy="354012"/>
          </a:xfrm>
          <a:prstGeom prst="rect">
            <a:avLst/>
          </a:prstGeom>
          <a:noFill/>
          <a:ln>
            <a:noFill/>
          </a:ln>
        </p:spPr>
      </p:pic>
      <p:sp>
        <p:nvSpPr>
          <p:cNvPr id="997117712" name="Google Shape;811;p64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pic>
        <p:nvPicPr>
          <p:cNvPr id="1728848056" name="Google Shape;812;p64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4549775" y="4473575"/>
            <a:ext cx="1363662" cy="139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0766932" name="Google Shape;813;p64"/>
          <p:cNvSpPr txBox="1"/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27470127" name="Google Shape;814;p64"/>
          <p:cNvSpPr txBox="1"/>
          <p:nvPr/>
        </p:nvSpPr>
        <p:spPr bwMode="auto">
          <a:xfrm>
            <a:off x="0" y="457200"/>
            <a:ext cx="0" cy="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3703138" name="Google Shape;815;p64"/>
          <p:cNvSpPr txBox="1"/>
          <p:nvPr/>
        </p:nvSpPr>
        <p:spPr bwMode="auto">
          <a:xfrm>
            <a:off x="0" y="1965325"/>
            <a:ext cx="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6762608" name="Google Shape;816;p64"/>
          <p:cNvSpPr txBox="1"/>
          <p:nvPr/>
        </p:nvSpPr>
        <p:spPr bwMode="auto">
          <a:xfrm>
            <a:off x="0" y="3497262"/>
            <a:ext cx="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2116890" name="Google Shape;817;p64"/>
          <p:cNvSpPr txBox="1"/>
          <p:nvPr/>
        </p:nvSpPr>
        <p:spPr bwMode="auto">
          <a:xfrm>
            <a:off x="0" y="4967287"/>
            <a:ext cx="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2161480" name="Google Shape;818;p64"/>
          <p:cNvSpPr txBox="1"/>
          <p:nvPr/>
        </p:nvSpPr>
        <p:spPr bwMode="auto">
          <a:xfrm>
            <a:off x="0" y="6818312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589981348" name="Google Shape;819;p64"/>
          <p:cNvCxnSpPr/>
          <p:nvPr/>
        </p:nvCxnSpPr>
        <p:spPr bwMode="auto">
          <a:xfrm rot="10800000" flipH="1">
            <a:off x="2917825" y="3919537"/>
            <a:ext cx="4495800" cy="34925"/>
          </a:xfrm>
          <a:prstGeom prst="straightConnector1">
            <a:avLst/>
          </a:prstGeom>
          <a:noFill/>
          <a:ln w="349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50381204" name="Google Shape;820;p64"/>
          <p:cNvCxnSpPr/>
          <p:nvPr/>
        </p:nvCxnSpPr>
        <p:spPr bwMode="auto">
          <a:xfrm rot="10800000" flipH="1">
            <a:off x="2895600" y="2057400"/>
            <a:ext cx="4495800" cy="34925"/>
          </a:xfrm>
          <a:prstGeom prst="straightConnector1">
            <a:avLst/>
          </a:prstGeom>
          <a:noFill/>
          <a:ln w="349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98874328" name="Google Shape;821;p64"/>
          <p:cNvCxnSpPr/>
          <p:nvPr/>
        </p:nvCxnSpPr>
        <p:spPr bwMode="auto">
          <a:xfrm>
            <a:off x="2895600" y="2116137"/>
            <a:ext cx="0" cy="1846262"/>
          </a:xfrm>
          <a:prstGeom prst="straightConnector1">
            <a:avLst/>
          </a:prstGeom>
          <a:noFill/>
          <a:ln w="349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9020984" name="Google Shape;822;p64"/>
          <p:cNvCxnSpPr/>
          <p:nvPr/>
        </p:nvCxnSpPr>
        <p:spPr bwMode="auto">
          <a:xfrm>
            <a:off x="5062537" y="2092325"/>
            <a:ext cx="0" cy="1846262"/>
          </a:xfrm>
          <a:prstGeom prst="straightConnector1">
            <a:avLst/>
          </a:prstGeom>
          <a:noFill/>
          <a:ln w="349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13138873" name="Google Shape;823;p64"/>
          <p:cNvCxnSpPr/>
          <p:nvPr/>
        </p:nvCxnSpPr>
        <p:spPr bwMode="auto">
          <a:xfrm>
            <a:off x="7394575" y="2057400"/>
            <a:ext cx="0" cy="1846262"/>
          </a:xfrm>
          <a:prstGeom prst="straightConnector1">
            <a:avLst/>
          </a:prstGeom>
          <a:noFill/>
          <a:ln w="34925" cap="flat" cmpd="sng">
            <a:solidFill>
              <a:srgbClr val="CC98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87334078" name="Google Shape;824;p64"/>
          <p:cNvCxnSpPr/>
          <p:nvPr/>
        </p:nvCxnSpPr>
        <p:spPr bwMode="auto">
          <a:xfrm>
            <a:off x="3981450" y="3617912"/>
            <a:ext cx="962025" cy="860425"/>
          </a:xfrm>
          <a:prstGeom prst="straightConnector1">
            <a:avLst/>
          </a:prstGeom>
          <a:noFill/>
          <a:ln w="41275" cap="flat" cmpd="sng">
            <a:solidFill>
              <a:srgbClr val="0070C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cxnSp>
        <p:nvCxnSpPr>
          <p:cNvPr id="1408245024" name="Google Shape;825;p64"/>
          <p:cNvCxnSpPr/>
          <p:nvPr/>
        </p:nvCxnSpPr>
        <p:spPr bwMode="auto">
          <a:xfrm flipH="1">
            <a:off x="5126037" y="3760787"/>
            <a:ext cx="1006474" cy="712787"/>
          </a:xfrm>
          <a:prstGeom prst="straightConnector1">
            <a:avLst/>
          </a:prstGeom>
          <a:noFill/>
          <a:ln w="41275" cap="flat" cmpd="sng">
            <a:solidFill>
              <a:srgbClr val="0070C0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pic>
        <p:nvPicPr>
          <p:cNvPr id="2093680857" name="Google Shape;826;p64" descr="A picture containing text, electronics, calculator&#10;&#10;Description automatically generated"/>
          <p:cNvPicPr/>
          <p:nvPr/>
        </p:nvPicPr>
        <p:blipFill>
          <a:blip r:embed="rId5">
            <a:alphaModFix/>
          </a:blip>
          <a:srcRect l="0" t="0" r="0" b="0"/>
          <a:stretch/>
        </p:blipFill>
        <p:spPr bwMode="auto">
          <a:xfrm>
            <a:off x="5372100" y="2078037"/>
            <a:ext cx="1724025" cy="151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3538066" name="Google Shape;827;p64"/>
          <p:cNvSpPr txBox="1"/>
          <p:nvPr/>
        </p:nvSpPr>
        <p:spPr bwMode="auto">
          <a:xfrm>
            <a:off x="6019800" y="4727575"/>
            <a:ext cx="1935162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Sqrt(345)?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293379039" name="Google Shape;828;p64"/>
          <p:cNvPicPr/>
          <p:nvPr/>
        </p:nvPicPr>
        <p:blipFill>
          <a:blip r:embed="rId6">
            <a:alphaModFix/>
          </a:blip>
          <a:srcRect l="0" t="0" r="0" b="0"/>
          <a:stretch/>
        </p:blipFill>
        <p:spPr bwMode="auto">
          <a:xfrm>
            <a:off x="3290887" y="2144712"/>
            <a:ext cx="1638300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3961615" name="Google Shape;829;p64"/>
          <p:cNvSpPr txBox="1"/>
          <p:nvPr/>
        </p:nvSpPr>
        <p:spPr bwMode="auto">
          <a:xfrm>
            <a:off x="5570537" y="2682875"/>
            <a:ext cx="1214437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MS-Word</a:t>
            </a:r>
            <a:endParaRPr/>
          </a:p>
        </p:txBody>
      </p:sp>
      <p:sp>
        <p:nvSpPr>
          <p:cNvPr id="1908199724" name="Google Shape;830;p64"/>
          <p:cNvSpPr txBox="1"/>
          <p:nvPr/>
        </p:nvSpPr>
        <p:spPr bwMode="auto">
          <a:xfrm>
            <a:off x="685800" y="1433512"/>
            <a:ext cx="4027487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TT to show the </a:t>
            </a:r>
            <a:r>
              <a:rPr lang="en-US" sz="18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calculator is intelligent</a:t>
            </a:r>
            <a:endParaRPr/>
          </a:p>
        </p:txBody>
      </p:sp>
      <p:sp>
        <p:nvSpPr>
          <p:cNvPr id="1438247810" name="Google Shape;831;p64"/>
          <p:cNvSpPr txBox="1"/>
          <p:nvPr/>
        </p:nvSpPr>
        <p:spPr bwMode="auto">
          <a:xfrm>
            <a:off x="238125" y="4259262"/>
            <a:ext cx="4073525" cy="1476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Modify the TT to show that the baby is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Intelligent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Ask the baby and the machine to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to react to a song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046791" name="Google Shape;836;p65"/>
          <p:cNvSpPr txBox="1"/>
          <p:nvPr>
            <p:ph type="title"/>
          </p:nvPr>
        </p:nvSpPr>
        <p:spPr bwMode="auto">
          <a:xfrm>
            <a:off x="431799" y="288924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 8</a:t>
            </a:r>
            <a:endParaRPr/>
          </a:p>
        </p:txBody>
      </p:sp>
      <p:sp>
        <p:nvSpPr>
          <p:cNvPr id="1800963313" name="Google Shape;837;p65"/>
          <p:cNvSpPr txBox="1"/>
          <p:nvPr>
            <p:ph type="body" idx="1"/>
          </p:nvPr>
        </p:nvSpPr>
        <p:spPr bwMode="auto">
          <a:xfrm>
            <a:off x="152400" y="1163637"/>
            <a:ext cx="9118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Construct a Turing Test to show that MS Word is an intelligent machine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MS-Word (task – checking spelling)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With whom MS Word is compared (a non-native English child/ native English baby of age 3))</a:t>
            </a:r>
            <a:endParaRPr/>
          </a:p>
          <a:p>
            <a:pPr marL="342900" marR="0" lvl="0" indent="-22733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MS-Word (task – rephrasing a paragraph)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With whom MS Word is compared (Prof. English)</a:t>
            </a:r>
            <a:endParaRPr/>
          </a:p>
          <a:p>
            <a:pPr marL="342900" marR="0" lvl="0" indent="-22733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9748453" name="Google Shape;838;p65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711411" name="Google Shape;843;p66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916294400" name="Google Shape;844;p66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Implications – The Turing Test</a:t>
            </a:r>
            <a:endParaRPr/>
          </a:p>
        </p:txBody>
      </p:sp>
      <p:sp>
        <p:nvSpPr>
          <p:cNvPr id="2124810609" name="Google Shape;845;p66"/>
          <p:cNvSpPr txBox="1"/>
          <p:nvPr>
            <p:ph type="body" idx="4294967295"/>
          </p:nvPr>
        </p:nvSpPr>
        <p:spPr bwMode="auto">
          <a:xfrm>
            <a:off x="304800" y="1295400"/>
            <a:ext cx="86868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Intelligence is measured comparatively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Can be used to prove that a machine is intelligent, or that a machine is not intelligent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 test depends on the level of 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❑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difficulty of the question being asked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❑"/>
              <a:defRPr/>
            </a:pP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intelligence of the interrogator (Turing said that if the machine can fool the interrogator, then the machine is intelligent)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❑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intelligence of the person with whom the machine is compared </a:t>
            </a:r>
            <a:endParaRPr/>
          </a:p>
          <a:p>
            <a:pPr marL="342900" marR="0" lvl="0" indent="-34290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Task</a:t>
            </a: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and with </a:t>
            </a:r>
            <a:r>
              <a:rPr lang="en-US" sz="2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whom compared</a:t>
            </a:r>
            <a:endParaRPr/>
          </a:p>
          <a:p>
            <a:pPr marL="0" marR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884055" name="Google Shape;850;p67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704399695" name="Google Shape;851;p67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Technological limitations for TT</a:t>
            </a:r>
            <a:endParaRPr/>
          </a:p>
        </p:txBody>
      </p:sp>
      <p:sp>
        <p:nvSpPr>
          <p:cNvPr id="308062790" name="Google Shape;852;p67"/>
          <p:cNvSpPr txBox="1"/>
          <p:nvPr>
            <p:ph type="body" idx="1"/>
          </p:nvPr>
        </p:nvSpPr>
        <p:spPr bwMode="auto">
          <a:xfrm>
            <a:off x="76200" y="1184275"/>
            <a:ext cx="90678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The standard Turing test was limited to asking text-based keyboard entry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The “Total Turing Test” has been improved with</a:t>
            </a:r>
            <a:endParaRPr/>
          </a:p>
          <a:p>
            <a:pPr marL="669925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NLP capacity to communicate in plain English</a:t>
            </a:r>
            <a:endParaRPr/>
          </a:p>
          <a:p>
            <a:pPr marL="669925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Knowledge representation to store knowledge</a:t>
            </a:r>
            <a:endParaRPr/>
          </a:p>
          <a:p>
            <a:pPr marL="669925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Automated reasoning to store knowledge, answer questions, and draw conclusions</a:t>
            </a:r>
            <a:endParaRPr/>
          </a:p>
          <a:p>
            <a:pPr marL="669925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Machine learning to adapt to learn from the past unstructured data</a:t>
            </a:r>
            <a:endParaRPr/>
          </a:p>
          <a:p>
            <a:pPr marL="669925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Computer vision (capturing and processing images</a:t>
            </a:r>
            <a:endParaRPr/>
          </a:p>
          <a:p>
            <a:pPr marL="669925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Image processing (moving/still images)</a:t>
            </a:r>
            <a:endParaRPr/>
          </a:p>
          <a:p>
            <a:pPr marL="669925" lvl="1" indent="-22637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2900" lvl="0" indent="-235583" algn="l">
              <a:spcBef>
                <a:spcPts val="520"/>
              </a:spcBef>
              <a:spcAft>
                <a:spcPts val="0"/>
              </a:spcAft>
              <a:buSzPts val="1690"/>
              <a:buNone/>
              <a:defRPr/>
            </a:pPr>
            <a:endParaRPr sz="2600" b="0" i="0" u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33674" name="Google Shape;857;p68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016799728" name="Google Shape;858;p68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Turing Test Competition</a:t>
            </a:r>
            <a:endParaRPr/>
          </a:p>
        </p:txBody>
      </p:sp>
      <p:sp>
        <p:nvSpPr>
          <p:cNvPr id="804580737" name="Google Shape;859;p68"/>
          <p:cNvSpPr txBox="1"/>
          <p:nvPr>
            <p:ph type="body" idx="4294967295"/>
          </p:nvPr>
        </p:nvSpPr>
        <p:spPr bwMode="auto">
          <a:xfrm>
            <a:off x="76200" y="1219200"/>
            <a:ext cx="99822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Loebner Prize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2600" b="1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Loebner Prize</a:t>
            </a: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is an annual competition that awards prizes to software that could pass the Turing Test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ALICE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is the first intelligent software to pass the TT (</a:t>
            </a: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1995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 2019, Mitsuko won the Loebner Prize for 4</a:t>
            </a:r>
            <a:r>
              <a:rPr lang="en-US" sz="2200" b="0" i="0" u="none" strike="noStrike" cap="none" baseline="30000">
                <a:solidFill>
                  <a:srgbClr val="0070C0"/>
                </a:solidFill>
                <a:latin typeface="Arial"/>
                <a:ea typeface="Arial"/>
                <a:cs typeface="Arial"/>
              </a:rPr>
              <a:t>th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consecutive year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Find the LP winning software during the last 5 years?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669925" marR="0" lvl="1" indent="-22637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616" name="Google Shape;864;p69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9</a:t>
            </a:r>
            <a:endParaRPr/>
          </a:p>
        </p:txBody>
      </p:sp>
      <p:sp>
        <p:nvSpPr>
          <p:cNvPr id="2017752735" name="Google Shape;865;p69"/>
          <p:cNvSpPr txBox="1"/>
          <p:nvPr>
            <p:ph type="body" idx="4294967295"/>
          </p:nvPr>
        </p:nvSpPr>
        <p:spPr bwMode="auto">
          <a:xfrm>
            <a:off x="304800" y="990600"/>
            <a:ext cx="86106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Read about the Loebner Prize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Can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TT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be used to decide on the intelligence of both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symbolic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and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non-symbolic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AI solutions? Justify your answer.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Yes – both Deep Blue and AlphaGo defeated humans</a:t>
            </a:r>
            <a:endParaRPr sz="2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“All </a:t>
            </a:r>
            <a:r>
              <a:rPr lang="en-US" sz="2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programs</a:t>
            </a: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have passed the TT” Do you agree with the statement? Justify your answer. 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Should </a:t>
            </a:r>
            <a:r>
              <a:rPr lang="en-US" sz="2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 program </a:t>
            </a: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pass the TT to claim that it is intelligent?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 – XCON, ELIZA, DART, they have implemented an intelligent feature, but they did not pass the TT.</a:t>
            </a:r>
            <a:endParaRPr/>
          </a:p>
        </p:txBody>
      </p:sp>
      <p:sp>
        <p:nvSpPr>
          <p:cNvPr id="1684970803" name="Google Shape;866;p69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41086" name="Google Shape;871;p70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425532832" name="Google Shape;872;p70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Garamond"/>
              <a:buNone/>
              <a:defRPr/>
            </a:pPr>
            <a:r>
              <a:rPr lang="en-US" sz="36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John Searle’s Chinese room argument</a:t>
            </a:r>
            <a:endParaRPr/>
          </a:p>
        </p:txBody>
      </p:sp>
      <p:sp>
        <p:nvSpPr>
          <p:cNvPr id="2050912303" name="Google Shape;873;p70"/>
          <p:cNvSpPr txBox="1"/>
          <p:nvPr>
            <p:ph type="body" idx="4294967295"/>
          </p:nvPr>
        </p:nvSpPr>
        <p:spPr bwMode="auto">
          <a:xfrm>
            <a:off x="-152400" y="990600"/>
            <a:ext cx="9296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John says that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Intelligence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requires 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awareness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/consciousness</a:t>
            </a:r>
            <a:endParaRPr/>
          </a:p>
          <a:p>
            <a:pPr marL="342900" marR="0" lvl="0" indent="-3429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So, a machine is intelligent only if it knows what it does</a:t>
            </a:r>
            <a:endParaRPr/>
          </a:p>
          <a:p>
            <a:pPr marL="342900" marR="0" lvl="0" indent="-3429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 person who knows neither English nor Chinese is kept in a room with a huge book containing the Chinese translation for any given English phrase, in adjacent pages </a:t>
            </a:r>
            <a:endParaRPr/>
          </a:p>
          <a:p>
            <a:pPr marL="342900" marR="0" lvl="0" indent="-3429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 person can find the correct translation just by </a:t>
            </a:r>
            <a:r>
              <a:rPr lang="en-US" sz="25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manipulating symbols</a:t>
            </a: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, without being aware of what the symbols mean</a:t>
            </a:r>
            <a:endParaRPr/>
          </a:p>
          <a:p>
            <a:pPr marL="342900" marR="0" lvl="0" indent="-3429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Therefore, we may say that man is not intelligent</a:t>
            </a:r>
            <a:endParaRPr/>
          </a:p>
          <a:p>
            <a:pPr marL="342900" marR="0" lvl="0" indent="-34290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On the same token he says, machines can also do symbolic manipulation and give answers, without knowing the meaning of symbols, therefore machines can/</a:t>
            </a:r>
            <a:r>
              <a:rPr lang="en-US" sz="25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cannot</a:t>
            </a: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be intelligent.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917319" name="Google Shape;878;p71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Chinese room</a:t>
            </a:r>
            <a:endParaRPr/>
          </a:p>
        </p:txBody>
      </p:sp>
      <p:sp>
        <p:nvSpPr>
          <p:cNvPr id="174948210" name="Google Shape;879;p71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pic>
        <p:nvPicPr>
          <p:cNvPr id="823203544" name="Google Shape;880;p71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98425" y="1397000"/>
            <a:ext cx="8947150" cy="45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783696" name="Google Shape;885;p72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918619724" name="Google Shape;886;p72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Garamond"/>
              <a:buNone/>
              <a:defRPr/>
            </a:pPr>
            <a:r>
              <a:rPr lang="en-US" sz="34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Implications – Chinese room argument</a:t>
            </a:r>
            <a:endParaRPr/>
          </a:p>
        </p:txBody>
      </p:sp>
      <p:sp>
        <p:nvSpPr>
          <p:cNvPr id="786282931" name="Google Shape;887;p72"/>
          <p:cNvSpPr txBox="1"/>
          <p:nvPr>
            <p:ph type="body" idx="1"/>
          </p:nvPr>
        </p:nvSpPr>
        <p:spPr bwMode="auto">
          <a:xfrm>
            <a:off x="381000" y="116363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Machine can never be intelligent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Should we really bother about whether a submarine can swim when it behaves as if it can swim?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If a cat can catch rats, should we really bother whether the cat is real or a clay cat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Should we ask a student whether you use left brain, when he has secured a grade A for mathematics? 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50"/>
              <a:buNone/>
              <a:defRPr/>
            </a:pPr>
            <a:endParaRPr sz="30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lvl="0" indent="-219074" algn="l">
              <a:spcBef>
                <a:spcPts val="600"/>
              </a:spcBef>
              <a:spcAft>
                <a:spcPts val="0"/>
              </a:spcAft>
              <a:buSzPts val="1950"/>
              <a:buNone/>
              <a:defRPr/>
            </a:pPr>
            <a:endParaRPr sz="30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6322035" name="Google Shape;888;p72"/>
          <p:cNvSpPr txBox="1"/>
          <p:nvPr/>
        </p:nvSpPr>
        <p:spPr bwMode="auto">
          <a:xfrm>
            <a:off x="9906000" y="2209800"/>
            <a:ext cx="3941762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TT – Intelligence is not eternal, but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     depends on the task/person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JS – intelligence requires awareness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848683" name="Google Shape;893;p73"/>
          <p:cNvSpPr txBox="1"/>
          <p:nvPr>
            <p:ph type="title"/>
          </p:nvPr>
        </p:nvSpPr>
        <p:spPr bwMode="auto">
          <a:xfrm>
            <a:off x="457200" y="22860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10</a:t>
            </a:r>
            <a:endParaRPr/>
          </a:p>
        </p:txBody>
      </p:sp>
      <p:sp>
        <p:nvSpPr>
          <p:cNvPr id="1813988606" name="Google Shape;894;p73"/>
          <p:cNvSpPr txBox="1"/>
          <p:nvPr>
            <p:ph type="body" idx="4294967295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“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Unless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0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 program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has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passed the Turing 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Test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it cannot be 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considered an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program.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” Do you agree with this statement? Justify your answer.</a:t>
            </a:r>
            <a:endParaRPr/>
          </a:p>
          <a:p>
            <a:pPr marL="669925" marR="0" lvl="1" indent="-325438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Wrong – passing TT is an additional qualification</a:t>
            </a:r>
            <a:endParaRPr/>
          </a:p>
          <a:p>
            <a:pPr marL="0" marR="0" lvl="0" indent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9747174" name="Google Shape;895;p73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28735" name="Google Shape;900;p74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11</a:t>
            </a:r>
            <a:endParaRPr/>
          </a:p>
        </p:txBody>
      </p:sp>
      <p:sp>
        <p:nvSpPr>
          <p:cNvPr id="310845776" name="Google Shape;901;p74"/>
          <p:cNvSpPr txBox="1"/>
          <p:nvPr>
            <p:ph type="body" idx="1"/>
          </p:nvPr>
        </p:nvSpPr>
        <p:spPr bwMode="auto">
          <a:xfrm>
            <a:off x="0" y="1219200"/>
            <a:ext cx="9144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If you want to show that Atlas is intelligent, explain how you set the TT.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Task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Explaining an unknown environment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Explaining the environment with obstacles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If someone criticizes the TT, what is the best counterargument to support the TT? 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If TT is wrong, we cannot use exams to judge students</a:t>
            </a:r>
            <a:endParaRPr/>
          </a:p>
          <a:p>
            <a:pPr marL="342900" marR="0" lvl="0" indent="-235583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489051" name="Google Shape;902;p74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17423" name="Google Shape;907;p75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980427356" name="Google Shape;908;p75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Four schools of thought of AI</a:t>
            </a:r>
            <a:endParaRPr/>
          </a:p>
        </p:txBody>
      </p:sp>
      <p:sp>
        <p:nvSpPr>
          <p:cNvPr id="172625049" name="Google Shape;909;p75"/>
          <p:cNvSpPr txBox="1"/>
          <p:nvPr>
            <p:ph type="body" idx="1"/>
          </p:nvPr>
        </p:nvSpPr>
        <p:spPr bwMode="auto">
          <a:xfrm>
            <a:off x="0" y="1163637"/>
            <a:ext cx="9448799" cy="4932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 exact definition for intelligence or the role of AI</a:t>
            </a:r>
            <a:endParaRPr/>
          </a:p>
          <a:p>
            <a:pPr marL="34290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Is this a strength/ weakness point of AI? </a:t>
            </a:r>
            <a:endParaRPr/>
          </a:p>
          <a:p>
            <a:pPr marL="669925" lvl="1" indent="-325437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❑"/>
              <a:defRPr/>
            </a:pPr>
            <a:r>
              <a:rPr lang="en-US" sz="28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Atom has 3 different views</a:t>
            </a:r>
            <a:endParaRPr/>
          </a:p>
          <a:p>
            <a:pPr marL="1022350" lvl="2" indent="-3508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Dolton (an atom cannot break)</a:t>
            </a:r>
            <a:endParaRPr/>
          </a:p>
          <a:p>
            <a:pPr marL="1022350" lvl="2" indent="-3508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Einstein (break and generate nuclear energy)</a:t>
            </a:r>
            <a:endParaRPr/>
          </a:p>
          <a:p>
            <a:pPr marL="1022350" lvl="2" indent="-3508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Schrodinger (uncertainty/quantum computer</a:t>
            </a:r>
            <a:r>
              <a:rPr lang="en-US" sz="24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669925" lvl="1" indent="-325437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❑"/>
              <a:defRPr/>
            </a:pPr>
            <a:r>
              <a:rPr lang="en-US" sz="28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During Buddha’s time - 62 views on life/death   </a:t>
            </a:r>
            <a:endParaRPr/>
          </a:p>
          <a:p>
            <a:pPr marL="1022350" lvl="2" indent="-350837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Everything is a conditional phenomenon (හේතු/ඵල) there is no god like a doer</a:t>
            </a:r>
            <a:endParaRPr/>
          </a:p>
          <a:p>
            <a:pPr marL="669925" lvl="1" indent="-325437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❑"/>
              <a:defRPr/>
            </a:pPr>
            <a:r>
              <a:rPr lang="en-US" sz="28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also has 4 views on Intelligent machines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928338" name="Google Shape;914;p76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Four schools of thought of AI</a:t>
            </a:r>
            <a:endParaRPr/>
          </a:p>
        </p:txBody>
      </p:sp>
      <p:sp>
        <p:nvSpPr>
          <p:cNvPr id="1670913782" name="Google Shape;915;p76"/>
          <p:cNvSpPr txBox="1"/>
          <p:nvPr>
            <p:ph type="body" idx="4294967295"/>
          </p:nvPr>
        </p:nvSpPr>
        <p:spPr bwMode="auto">
          <a:xfrm>
            <a:off x="304800" y="1219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Acting humanly (ES)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According to this view AI attempts to build </a:t>
            </a: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machines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that can </a:t>
            </a: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behave like humans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. This is the TT approach</a:t>
            </a:r>
            <a:endParaRPr sz="22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Thinking humanly (Deep Blue)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… machines that can think like humans.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Thinking Rationally (Decision making)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…machines that can think logically.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Acting rationally (doing the right thing)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Doing the right thing. The new approach to AI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6283189" name="Google Shape;916;p76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432294" name="Google Shape;921;p77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Acting Humanly</a:t>
            </a:r>
            <a:endParaRPr/>
          </a:p>
        </p:txBody>
      </p:sp>
      <p:sp>
        <p:nvSpPr>
          <p:cNvPr id="878414255" name="Google Shape;922;p77"/>
          <p:cNvSpPr txBox="1"/>
          <p:nvPr>
            <p:ph type="body" idx="4294967295"/>
          </p:nvPr>
        </p:nvSpPr>
        <p:spPr bwMode="auto">
          <a:xfrm>
            <a:off x="152400" y="1371600"/>
            <a:ext cx="88392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According to this view, AI attempts to build machines that can behave like humans. This is the </a:t>
            </a:r>
            <a:r>
              <a:rPr lang="en-US" sz="2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TT</a:t>
            </a: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approach </a:t>
            </a:r>
            <a:endParaRPr/>
          </a:p>
          <a:p>
            <a:pPr marL="342900" marR="0" lvl="0" indent="-34290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This is the oldest view of AI, and even ordinary people accept this view</a:t>
            </a:r>
            <a:endParaRPr/>
          </a:p>
          <a:p>
            <a:pPr marL="342900" marR="0" lvl="0" indent="-34290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Expert Systems, NLP, and Game Player, Problem Solvers are examples.</a:t>
            </a:r>
            <a:endParaRPr/>
          </a:p>
          <a:p>
            <a:pPr marL="342900" marR="0" lvl="0" indent="-34290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But this view does not promote the value of animal intelligence (Boston Dynamics) to build intelligent machines.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3163159" name="Google Shape;923;p77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567998" name="Google Shape;928;p78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Animal Intelligence?</a:t>
            </a:r>
            <a:endParaRPr/>
          </a:p>
        </p:txBody>
      </p:sp>
      <p:pic>
        <p:nvPicPr>
          <p:cNvPr id="1684317568" name="Google Shape;929;p78" descr="A picture containing text, grass, outdoor&#10;&#10;Description automatically generated"/>
          <p:cNvPicPr/>
          <p:nvPr>
            <p:ph type="body" idx="1"/>
          </p:nvPr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819650" y="1401762"/>
            <a:ext cx="4014787" cy="2960687"/>
          </a:xfrm>
          <a:prstGeom prst="rect">
            <a:avLst/>
          </a:prstGeom>
          <a:noFill/>
          <a:ln>
            <a:noFill/>
          </a:ln>
        </p:spPr>
      </p:pic>
      <p:sp>
        <p:nvSpPr>
          <p:cNvPr id="1456864746" name="Google Shape;930;p78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cxnSp>
        <p:nvCxnSpPr>
          <p:cNvPr id="1403892205" name="Google Shape;931;p78"/>
          <p:cNvCxnSpPr/>
          <p:nvPr/>
        </p:nvCxnSpPr>
        <p:spPr bwMode="auto">
          <a:xfrm rot="10800000" flipH="1">
            <a:off x="5410200" y="1801812"/>
            <a:ext cx="1905000" cy="76200"/>
          </a:xfrm>
          <a:prstGeom prst="straightConnector1">
            <a:avLst/>
          </a:prstGeom>
          <a:noFill/>
          <a:ln w="4445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786354139" name="Google Shape;932;p78"/>
          <p:cNvCxnSpPr/>
          <p:nvPr/>
        </p:nvCxnSpPr>
        <p:spPr bwMode="auto">
          <a:xfrm rot="10800000" flipH="1">
            <a:off x="4795837" y="2894012"/>
            <a:ext cx="1905000" cy="76200"/>
          </a:xfrm>
          <a:prstGeom prst="straightConnector1">
            <a:avLst/>
          </a:prstGeom>
          <a:noFill/>
          <a:ln w="44450" cap="flat" cmpd="sng">
            <a:solidFill>
              <a:srgbClr val="FF00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34461526" name="Google Shape;933;p78"/>
          <p:cNvSpPr txBox="1"/>
          <p:nvPr/>
        </p:nvSpPr>
        <p:spPr bwMode="auto">
          <a:xfrm>
            <a:off x="4056062" y="2600325"/>
            <a:ext cx="72231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V-bot</a:t>
            </a:r>
            <a:endParaRPr/>
          </a:p>
        </p:txBody>
      </p:sp>
      <p:sp>
        <p:nvSpPr>
          <p:cNvPr id="1531950819" name="Google Shape;934;p78"/>
          <p:cNvSpPr txBox="1"/>
          <p:nvPr/>
        </p:nvSpPr>
        <p:spPr bwMode="auto">
          <a:xfrm>
            <a:off x="4060825" y="1617662"/>
            <a:ext cx="722312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V-top</a:t>
            </a:r>
            <a:endParaRPr/>
          </a:p>
        </p:txBody>
      </p:sp>
      <p:sp>
        <p:nvSpPr>
          <p:cNvPr id="1548859636" name="Google Shape;935;p78"/>
          <p:cNvSpPr txBox="1"/>
          <p:nvPr/>
        </p:nvSpPr>
        <p:spPr bwMode="auto">
          <a:xfrm>
            <a:off x="1216025" y="1509712"/>
            <a:ext cx="2736850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    V-top&gt;V-bot   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🡪 P-top&lt;P-bot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then what?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Air flows from the bottom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to the top.  cold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58636660" name="Google Shape;936;p78" descr="A bee on a honeycomb&#10;&#10;Description automatically generated with medium confidence"/>
          <p:cNvPicPr/>
          <p:nvPr/>
        </p:nvPicPr>
        <p:blipFill>
          <a:blip r:embed="rId4">
            <a:alphaModFix/>
          </a:blip>
          <a:srcRect l="0" t="0" r="0" b="58340"/>
          <a:stretch/>
        </p:blipFill>
        <p:spPr bwMode="auto">
          <a:xfrm>
            <a:off x="722312" y="3408362"/>
            <a:ext cx="3659187" cy="27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866996" name="Google Shape;937;p78"/>
          <p:cNvSpPr/>
          <p:nvPr/>
        </p:nvSpPr>
        <p:spPr bwMode="auto">
          <a:xfrm>
            <a:off x="5610225" y="4900612"/>
            <a:ext cx="471487" cy="528637"/>
          </a:xfrm>
          <a:prstGeom prst="flowChartConnector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8143602" name="Google Shape;938;p78"/>
          <p:cNvSpPr/>
          <p:nvPr/>
        </p:nvSpPr>
        <p:spPr bwMode="auto">
          <a:xfrm>
            <a:off x="6081712" y="4900612"/>
            <a:ext cx="471487" cy="528637"/>
          </a:xfrm>
          <a:prstGeom prst="flowChartConnector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8585291" name="Google Shape;939;p78"/>
          <p:cNvSpPr/>
          <p:nvPr/>
        </p:nvSpPr>
        <p:spPr bwMode="auto">
          <a:xfrm>
            <a:off x="5638800" y="5410200"/>
            <a:ext cx="469900" cy="528637"/>
          </a:xfrm>
          <a:prstGeom prst="flowChartConnector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6642113" name="Google Shape;940;p78"/>
          <p:cNvSpPr/>
          <p:nvPr/>
        </p:nvSpPr>
        <p:spPr bwMode="auto">
          <a:xfrm>
            <a:off x="6096000" y="5410200"/>
            <a:ext cx="471487" cy="528637"/>
          </a:xfrm>
          <a:prstGeom prst="flowChartConnector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4992400" name="Google Shape;941;p78"/>
          <p:cNvSpPr txBox="1"/>
          <p:nvPr/>
        </p:nvSpPr>
        <p:spPr bwMode="auto">
          <a:xfrm>
            <a:off x="7308850" y="5226050"/>
            <a:ext cx="304800" cy="52705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3058773" name="Google Shape;942;p78"/>
          <p:cNvSpPr/>
          <p:nvPr/>
        </p:nvSpPr>
        <p:spPr bwMode="auto">
          <a:xfrm>
            <a:off x="7308850" y="5235575"/>
            <a:ext cx="304800" cy="528637"/>
          </a:xfrm>
          <a:prstGeom prst="flowChartConnector">
            <a:avLst/>
          </a:prstGeom>
          <a:solidFill>
            <a:srgbClr val="00B05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4753050" name="Google Shape;943;p78"/>
          <p:cNvSpPr txBox="1"/>
          <p:nvPr/>
        </p:nvSpPr>
        <p:spPr bwMode="auto">
          <a:xfrm>
            <a:off x="7634287" y="5219700"/>
            <a:ext cx="304800" cy="527050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6587969" name="Google Shape;944;p78"/>
          <p:cNvSpPr/>
          <p:nvPr/>
        </p:nvSpPr>
        <p:spPr bwMode="auto">
          <a:xfrm>
            <a:off x="7634287" y="5232400"/>
            <a:ext cx="304800" cy="528637"/>
          </a:xfrm>
          <a:prstGeom prst="flowChartConnector">
            <a:avLst/>
          </a:prstGeom>
          <a:solidFill>
            <a:srgbClr val="00B05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848992" name="Google Shape;949;p79"/>
          <p:cNvSpPr txBox="1"/>
          <p:nvPr>
            <p:ph type="title"/>
          </p:nvPr>
        </p:nvSpPr>
        <p:spPr bwMode="auto">
          <a:xfrm>
            <a:off x="381000" y="96837"/>
            <a:ext cx="8229600" cy="94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000"/>
              <a:buFont typeface="Garamond"/>
              <a:buNone/>
              <a:defRPr/>
            </a:pPr>
            <a:r>
              <a:rPr lang="en-US" sz="40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Thinking Humanly </a:t>
            </a:r>
            <a:endParaRPr/>
          </a:p>
        </p:txBody>
      </p:sp>
      <p:sp>
        <p:nvSpPr>
          <p:cNvPr id="316505012" name="Google Shape;950;p79"/>
          <p:cNvSpPr txBox="1"/>
          <p:nvPr>
            <p:ph type="body" idx="4294967295"/>
          </p:nvPr>
        </p:nvSpPr>
        <p:spPr bwMode="auto">
          <a:xfrm>
            <a:off x="-101600" y="1038225"/>
            <a:ext cx="9230360" cy="5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According to this view AI attempts to build machines that can </a:t>
            </a:r>
            <a:r>
              <a:rPr lang="en-US" sz="22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think (මනසිකාර) like humans</a:t>
            </a:r>
            <a:endParaRPr sz="2200" b="0" i="0" u="none" strike="noStrike" cap="non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</a:endParaRPr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Present knowledge + Past knowledge + Thinking 🡪 understanding </a:t>
            </a:r>
            <a:endParaRPr sz="2200" b="0" i="0" u="none" strike="noStrike" cap="none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This requires theories from cognitive science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Although we don’t know what thinking is, we know tasks involving thinking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Problem-solving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Game playing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Theorem proving</a:t>
            </a:r>
            <a:endParaRPr/>
          </a:p>
          <a:p>
            <a:pPr marL="474662" marR="0" lvl="0" indent="-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There are already problem solvers (GPS), and games (Deep Blue, AlphaGo) come under this school. This school is possible. </a:t>
            </a:r>
            <a:endParaRPr/>
          </a:p>
          <a:p>
            <a:pPr marL="474662" marR="0" lvl="0" indent="-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Since </a:t>
            </a: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thinking is done with awareness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, game players like programs disprove John Searle’s Chinese room argument</a:t>
            </a:r>
            <a:endParaRPr/>
          </a:p>
        </p:txBody>
      </p:sp>
      <p:sp>
        <p:nvSpPr>
          <p:cNvPr id="1834313160" name="Google Shape;951;p79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r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/</a:t>
            </a: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849277" name="Google Shape;956;p80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Thinking Rationally</a:t>
            </a:r>
            <a:endParaRPr/>
          </a:p>
        </p:txBody>
      </p:sp>
      <p:sp>
        <p:nvSpPr>
          <p:cNvPr id="264028927" name="Google Shape;957;p80"/>
          <p:cNvSpPr txBox="1"/>
          <p:nvPr>
            <p:ph type="body" idx="4294967295"/>
          </p:nvPr>
        </p:nvSpPr>
        <p:spPr bwMode="auto">
          <a:xfrm>
            <a:off x="114300" y="1163637"/>
            <a:ext cx="8915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Thinking rationally means, </a:t>
            </a:r>
            <a:r>
              <a:rPr lang="en-US" sz="30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thinking logically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.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Many symbolic programs use Logic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Expert systems, NLP, Robotics, Games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But </a:t>
            </a:r>
            <a:r>
              <a:rPr lang="en-US" sz="30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all knowledge</a:t>
            </a:r>
            <a:r>
              <a:rPr lang="en-US" sz="3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in the world is </a:t>
            </a:r>
            <a:r>
              <a:rPr lang="en-US" sz="30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not logical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Logic also has misleading ideas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Consider the rule P🡪Q, Q🡪R, concludes P🡪R</a:t>
            </a:r>
            <a:endParaRPr/>
          </a:p>
          <a:p>
            <a:pPr marL="344487" marR="0" lvl="1" indent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If the baby is dead (P), then the baby does not cry (Q). </a:t>
            </a:r>
            <a:endParaRPr/>
          </a:p>
          <a:p>
            <a:pPr marL="344487" marR="0" lvl="1" indent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If the baby does not cry(Q), then the mother is happy (R).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It concludes: If the baby is dead, then the mother is happy </a:t>
            </a:r>
            <a:endParaRPr/>
          </a:p>
        </p:txBody>
      </p:sp>
      <p:sp>
        <p:nvSpPr>
          <p:cNvPr id="704926514" name="Google Shape;958;p80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426697" name="Google Shape;963;p81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Acting Rationally</a:t>
            </a:r>
            <a:endParaRPr/>
          </a:p>
        </p:txBody>
      </p:sp>
      <p:sp>
        <p:nvSpPr>
          <p:cNvPr id="980223339" name="Google Shape;964;p81"/>
          <p:cNvSpPr txBox="1"/>
          <p:nvPr>
            <p:ph type="body" idx="4294967295"/>
          </p:nvPr>
        </p:nvSpPr>
        <p:spPr bwMode="auto">
          <a:xfrm>
            <a:off x="304800" y="116363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According to this view AI wants to develop machines that can </a:t>
            </a:r>
            <a:r>
              <a:rPr lang="en-US" sz="30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do the right thing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Here “the right” means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More practical, doable, and less costly, etc…  ….. </a:t>
            </a:r>
            <a:endParaRPr/>
          </a:p>
          <a:p>
            <a:pPr marL="669925" marR="0" lvl="1" indent="-325438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When a building is on fire you disregard behaving like a human, think like a human, or logically instead break the windows as the right thing and jump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Building the </a:t>
            </a:r>
            <a:r>
              <a:rPr lang="en-US" sz="30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machines to do the right thing </a:t>
            </a:r>
            <a:r>
              <a:rPr lang="en-US" sz="3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is considered a modern approach to AI</a:t>
            </a:r>
            <a:endParaRPr/>
          </a:p>
        </p:txBody>
      </p:sp>
      <p:sp>
        <p:nvSpPr>
          <p:cNvPr id="1302361369" name="Google Shape;965;p81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678971286" name="Google Shape;966;p81"/>
          <p:cNvSpPr/>
          <p:nvPr/>
        </p:nvSpPr>
        <p:spPr bwMode="auto">
          <a:xfrm>
            <a:off x="7113587" y="5770562"/>
            <a:ext cx="2030412" cy="946150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16/08/2025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491670" name="Google Shape;971;p82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988078709" name="Google Shape;972;p82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Definitions for AI</a:t>
            </a:r>
            <a:endParaRPr/>
          </a:p>
        </p:txBody>
      </p:sp>
      <p:sp>
        <p:nvSpPr>
          <p:cNvPr id="1543066292" name="Google Shape;973;p82"/>
          <p:cNvSpPr txBox="1"/>
          <p:nvPr>
            <p:ph type="body" idx="4294967295"/>
          </p:nvPr>
        </p:nvSpPr>
        <p:spPr bwMode="auto">
          <a:xfrm>
            <a:off x="-152400" y="1600200"/>
            <a:ext cx="9296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Acting Humanly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 art of creating machines that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perform functions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that require intelligence when performed by people (Kurzweil, 1990)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 study of how to make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computers do things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at which, at the moment, people are better (Rich &amp; Knight, 1991)</a:t>
            </a:r>
            <a:endParaRPr/>
          </a:p>
          <a:p>
            <a:pPr marL="342900" marR="0" lvl="0" indent="-34290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Thinking humanly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The exciting new effort to make computers 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think ……machines with minds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, in the full and literal sense (Haugeland, 1985)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Automation of activities that we associate with </a:t>
            </a:r>
            <a:r>
              <a:rPr lang="en-US" sz="24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human thinking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, activities such as decision-making, problem-solving, and learning (Bellman, 1978)</a:t>
            </a:r>
            <a:endParaRPr/>
          </a:p>
          <a:p>
            <a:pPr marL="342900" marR="0" lvl="0" indent="-235583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604296" name="Google Shape;978;p83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062871389" name="Google Shape;979;p83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Definitions for AI….</a:t>
            </a:r>
            <a:endParaRPr/>
          </a:p>
        </p:txBody>
      </p:sp>
      <p:sp>
        <p:nvSpPr>
          <p:cNvPr id="1523094043" name="Google Shape;980;p83"/>
          <p:cNvSpPr txBox="1"/>
          <p:nvPr>
            <p:ph type="body" idx="4294967295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study of mental faculties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through the use of computational models (Charniak and McDermott, 1985)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 study of computations that make it possible to perceive, reason and act (Winston, 1992)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Computational Intelligence is the study of the design of intelligent agents (Poole et al, 1998)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is concerned with the intelligent behaviour in artifacts (Nilsson, 1998)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013278" name="Google Shape;985;p84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11</a:t>
            </a:r>
            <a:endParaRPr/>
          </a:p>
        </p:txBody>
      </p:sp>
      <p:sp>
        <p:nvSpPr>
          <p:cNvPr id="547609868" name="Google Shape;986;p84"/>
          <p:cNvSpPr txBox="1"/>
          <p:nvPr>
            <p:ph type="body" idx="4294967295"/>
          </p:nvPr>
        </p:nvSpPr>
        <p:spPr bwMode="auto">
          <a:xfrm>
            <a:off x="467360" y="116363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Giving an example, describe why we could consider an AI program more than under one school of thought.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Deep Blue can be considered as Acting humanly:  because it has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defeated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 human being. That means it was able to prove that it can behave like a human.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Deep Blue can be considered as Thinking humanly, it shows the ability to play a game, which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requires thinking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.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Thinking rationally (logical) – symbolic AI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programs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are written using logic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Deep Blue can be considered as acting rationally (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doing the right thing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); because Deep Blue can find the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best option out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of options available</a:t>
            </a:r>
            <a:endParaRPr/>
          </a:p>
        </p:txBody>
      </p:sp>
      <p:sp>
        <p:nvSpPr>
          <p:cNvPr id="346301424" name="Google Shape;987;p84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246637364" name="Google Shape;988;p84"/>
          <p:cNvSpPr txBox="1"/>
          <p:nvPr/>
        </p:nvSpPr>
        <p:spPr bwMode="auto">
          <a:xfrm>
            <a:off x="9982200" y="1676400"/>
            <a:ext cx="3124200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Can Alphago consider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under acting humanly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Yes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Cannot be consider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under thinking rationally – no symbolic logic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Used for decision-making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367731" name="Google Shape;993;p85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0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 12</a:t>
            </a:r>
            <a:endParaRPr/>
          </a:p>
        </p:txBody>
      </p:sp>
      <p:sp>
        <p:nvSpPr>
          <p:cNvPr id="1811082288" name="Google Shape;994;p85"/>
          <p:cNvSpPr txBox="1"/>
          <p:nvPr>
            <p:ph type="body" idx="4294967295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Discuss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TT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and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JS</a:t>
            </a: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arguments under four schools of thought.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TT-acting humanly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JS- does not fall under any school </a:t>
            </a:r>
            <a:endParaRPr sz="3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693659" name="Google Shape;995;p85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473613" name="Google Shape;1000;p86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292103972" name="Google Shape;1001;p86"/>
          <p:cNvSpPr txBox="1"/>
          <p:nvPr>
            <p:ph type="title"/>
          </p:nvPr>
        </p:nvSpPr>
        <p:spPr bwMode="auto">
          <a:xfrm>
            <a:off x="457200" y="142875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History (developments) of AI </a:t>
            </a:r>
            <a:b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</a:br>
            <a:r>
              <a:rPr lang="en-US" sz="28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-how change has happened-</a:t>
            </a:r>
            <a:endParaRPr/>
          </a:p>
        </p:txBody>
      </p:sp>
      <p:sp>
        <p:nvSpPr>
          <p:cNvPr id="1969263972" name="Google Shape;1002;p86"/>
          <p:cNvSpPr txBox="1"/>
          <p:nvPr>
            <p:ph type="body" idx="4294967295"/>
          </p:nvPr>
        </p:nvSpPr>
        <p:spPr bwMode="auto">
          <a:xfrm>
            <a:off x="-304800" y="1143000"/>
            <a:ext cx="9982200" cy="497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The Gestation of AI (1943-1955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After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World War 2</a:t>
            </a:r>
            <a:r>
              <a:rPr lang="en-US" sz="22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lot of enthusiasm to discover knowledge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Curiosity about constructing  </a:t>
            </a:r>
            <a:r>
              <a:rPr lang="en-US" sz="22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machines</a:t>
            </a:r>
            <a:endParaRPr sz="22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 1936,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Turing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developed the Turing Machine to demonstrate computability (using paper and pencil)</a:t>
            </a:r>
            <a:endParaRPr/>
          </a:p>
          <a:p>
            <a:pPr marL="1022350" marR="0" lvl="2" indent="-350838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Six primitives: Read, write, left, right, erase, do nothing can computerize anything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 1943,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Turing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decoded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Enigma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using the machine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Bombe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 1943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, McCulloch &amp; Pitts ANN (model of the human brain)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 1945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Von-Neumann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proposed the FDE cycle on CPU and Memory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 </a:t>
            </a:r>
            <a:r>
              <a:rPr lang="en-US" sz="22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1948,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the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transistor was invented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, the digital computer was born (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George Boole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, 1870)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 the 1950s,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John McCarthy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Minsky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completed their Ph.D. at 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Princeton (Turing, Einstein)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University Mathematics Dept.  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McCarthy joined Carnegie Mellon (CMU); Minsky joined MIT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Turing’s (1950)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seminal paper “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Computing Machinery and Intelligence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”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 computer can be programmed for intelligent tasks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Turing Test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is in the above paper</a:t>
            </a:r>
            <a:endParaRPr/>
          </a:p>
          <a:p>
            <a:pPr marL="669925" marR="0" lvl="1" indent="-24161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None/>
              <a:defRPr/>
            </a:pPr>
            <a:endParaRPr sz="22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1854018" name="Google Shape;1003;p86"/>
          <p:cNvSpPr txBox="1"/>
          <p:nvPr/>
        </p:nvSpPr>
        <p:spPr bwMode="auto">
          <a:xfrm flipH="1">
            <a:off x="10287000" y="1273175"/>
            <a:ext cx="2163762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Memory (data, Instruction)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CPU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400588" name="Google Shape;1008;p87"/>
          <p:cNvSpPr txBox="1"/>
          <p:nvPr>
            <p:ph type="title"/>
          </p:nvPr>
        </p:nvSpPr>
        <p:spPr bwMode="auto">
          <a:xfrm>
            <a:off x="457200" y="277812"/>
            <a:ext cx="8229600" cy="788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History of AI</a:t>
            </a:r>
            <a:endParaRPr/>
          </a:p>
        </p:txBody>
      </p:sp>
      <p:sp>
        <p:nvSpPr>
          <p:cNvPr id="576827422" name="Google Shape;1009;p87"/>
          <p:cNvSpPr txBox="1"/>
          <p:nvPr>
            <p:ph type="body" idx="4294967295"/>
          </p:nvPr>
        </p:nvSpPr>
        <p:spPr bwMode="auto">
          <a:xfrm>
            <a:off x="0" y="990600"/>
            <a:ext cx="936752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The birth of AI (1956)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At the Dartmouth conference (10 attendees - MIT, Stanford, CMU, IBM) – </a:t>
            </a:r>
            <a:r>
              <a:rPr lang="en-US" sz="21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McCarthy proposed a </a:t>
            </a:r>
            <a:r>
              <a:rPr lang="en-US" sz="21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distinct subject </a:t>
            </a:r>
            <a:r>
              <a:rPr lang="en-US" sz="21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for </a:t>
            </a:r>
            <a:r>
              <a:rPr lang="en-US" sz="21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machines </a:t>
            </a:r>
            <a:endParaRPr sz="2200" b="0" i="0" u="none" strike="noStrike" cap="none">
              <a:solidFill>
                <a:srgbClr val="0070C0"/>
              </a:solidFill>
              <a:highlight>
                <a:srgbClr val="FFFF00"/>
              </a:highlight>
              <a:latin typeface="Arial"/>
              <a:ea typeface="Arial"/>
              <a:cs typeface="Arial"/>
            </a:endParaRPr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McCarthy coined the name </a:t>
            </a:r>
            <a:r>
              <a:rPr lang="en-US" sz="22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Artificial Intelligence</a:t>
            </a:r>
            <a:r>
              <a:rPr lang="en-US" sz="22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to refer to the area of </a:t>
            </a:r>
            <a:r>
              <a:rPr lang="en-US" sz="22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machines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McCarthy defined AI as the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science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(understanding) and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engineering (construction)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of building intelligent machines.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Synonyms for AI - Intelligent Systems, Computational Intelligence, and Intelligent Machines. Why?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The idea came from Turing to program intelligence into computers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McCarthy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joined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MIT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(where Minsky was) and then to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Stanford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1022350" marR="0" lvl="2" indent="-350838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McCarthy - Intelligent is </a:t>
            </a:r>
            <a:r>
              <a:rPr lang="en-US" sz="1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logic-based</a:t>
            </a: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(symbolic)</a:t>
            </a:r>
            <a:endParaRPr/>
          </a:p>
          <a:p>
            <a:pPr marL="1022350" marR="0" lvl="2" indent="-350838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Minsky  - intelligent is </a:t>
            </a:r>
            <a:r>
              <a:rPr lang="en-US" sz="1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anti-logic based</a:t>
            </a: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(symbolic)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Early development of symbolic AI (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ES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 started at Stanford and CMU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MIT also promoted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NLP and  Robotics</a:t>
            </a:r>
            <a:endParaRPr sz="22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US Defense Ministry funded AI initiatives under DARPA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Author Samuel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(1959) showed that if a computer does something repeatedly, it improves performance (Machine Learning) </a:t>
            </a:r>
            <a:endParaRPr/>
          </a:p>
          <a:p>
            <a:pPr marL="342900" marR="0" lvl="0" indent="-235583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8470917" name="Google Shape;1010;p87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54013" name="Google Shape;1015;p88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History of AI</a:t>
            </a:r>
            <a:endParaRPr/>
          </a:p>
        </p:txBody>
      </p:sp>
      <p:sp>
        <p:nvSpPr>
          <p:cNvPr id="1811153740" name="Google Shape;1016;p88"/>
          <p:cNvSpPr txBox="1"/>
          <p:nvPr>
            <p:ph type="body" idx="4294967295"/>
          </p:nvPr>
        </p:nvSpPr>
        <p:spPr bwMode="auto">
          <a:xfrm>
            <a:off x="76200" y="1295400"/>
            <a:ext cx="90678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Early enthusiasm (1952-1969)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Early AI systems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were very much </a:t>
            </a:r>
            <a:r>
              <a:rPr lang="en-US" sz="2200" b="0" i="0" u="none" strike="noStrike" cap="none">
                <a:solidFill>
                  <a:srgbClr val="00B05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algorithmic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/logic-based</a:t>
            </a:r>
            <a:endParaRPr/>
          </a:p>
          <a:p>
            <a:pPr marL="1022350" marR="0" lvl="2" indent="-350838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General Problem solver (CMU 🡪 MIT 🡪 Stanford)</a:t>
            </a:r>
            <a:endParaRPr/>
          </a:p>
          <a:p>
            <a:pPr marL="1022350" marR="0" lvl="2" indent="-350838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Game playing (CMU🡪IBM – Deep Blue)</a:t>
            </a:r>
            <a:endParaRPr/>
          </a:p>
          <a:p>
            <a:pPr marL="1022350" marR="0" lvl="2" indent="-350838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Theorem provers (IBM)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Note: AI talks of both algorithmic and non-algorithmic approaches because neuroscience identifies left-brain/logical, right-brain/training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 the Early 1960s,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Minsky Criticized ANN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saying it was useless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People gave up research in ANN for nearly 25 years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People continue to maintain an interest in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what intelligence is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sng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Search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was recognized as </a:t>
            </a: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the 1</a:t>
            </a:r>
            <a:r>
              <a:rPr lang="en-US" sz="2200" b="0" i="0" u="none" strike="noStrike" cap="none" baseline="30000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st</a:t>
            </a: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 approach to model intelligence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Because search is a well-known task requiring intelligence</a:t>
            </a:r>
            <a:endParaRPr/>
          </a:p>
          <a:p>
            <a:pPr marL="669925" marR="0" lvl="1" indent="-325438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It is the well-known method of drawing conclusions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407120" name="Google Shape;1017;p88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863244637" name="Google Shape;1018;p88"/>
          <p:cNvSpPr txBox="1"/>
          <p:nvPr/>
        </p:nvSpPr>
        <p:spPr bwMode="auto">
          <a:xfrm>
            <a:off x="10058400" y="3124200"/>
            <a:ext cx="2633662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Prof. Rumelhart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6600"/>
              </a:buClr>
              <a:buSzPts val="1800"/>
              <a:buFont typeface="Arial"/>
              <a:buNone/>
              <a:defRPr/>
            </a:pPr>
            <a:r>
              <a:rPr lang="en-US" sz="1800" b="0" i="0" u="sng">
                <a:solidFill>
                  <a:srgbClr val="996600"/>
                </a:solidFill>
                <a:latin typeface="Arial"/>
                <a:ea typeface="Arial"/>
                <a:cs typeface="Arial"/>
                <a:hlinkClick r:id="rId3" tooltip="https://mitpress.mit.edu/author/james-l-mcclelland-5325"/>
              </a:rPr>
              <a:t> </a:t>
            </a:r>
            <a:r>
              <a:rPr lang="en-US" sz="1800" b="0" i="0" u="sng">
                <a:solidFill>
                  <a:srgbClr val="FFFF00"/>
                </a:solidFill>
                <a:latin typeface="Arial"/>
                <a:ea typeface="Arial"/>
                <a:cs typeface="Arial"/>
                <a:hlinkClick r:id="rId3" tooltip="https://mitpress.mit.edu/author/james-l-mcclelland-5325"/>
              </a:rPr>
              <a:t>McClelland</a:t>
            </a: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(1986) - BP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Jefry  Hinton (2000)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       -Deep Learning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972389" name="Google Shape;1023;p89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552247683" name="Google Shape;1024;p89"/>
          <p:cNvSpPr txBox="1"/>
          <p:nvPr>
            <p:ph type="title"/>
          </p:nvPr>
        </p:nvSpPr>
        <p:spPr bwMode="auto">
          <a:xfrm>
            <a:off x="304800" y="15716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History of AI….</a:t>
            </a:r>
            <a:b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</a:br>
            <a:r>
              <a:rPr lang="en-US" sz="24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Intelligence 🡪 Knowledge 🡪 Data 🡪 EEG</a:t>
            </a:r>
            <a:endParaRPr/>
          </a:p>
        </p:txBody>
      </p:sp>
      <p:sp>
        <p:nvSpPr>
          <p:cNvPr id="1936117984" name="Google Shape;1025;p89"/>
          <p:cNvSpPr txBox="1"/>
          <p:nvPr>
            <p:ph type="body" idx="4294967295"/>
          </p:nvPr>
        </p:nvSpPr>
        <p:spPr bwMode="auto">
          <a:xfrm>
            <a:off x="0" y="1163637"/>
            <a:ext cx="9448799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Knowledge Based systems (1969-1979)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People realized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knowledge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as the main ingredient of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intelligence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</a:rPr>
              <a:t>Knowledge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is everywhere: learning, books, papers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Modelling knowledge 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instead of intelligence is very practical to build intelligent machines (Allan Newell- </a:t>
            </a: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CMU</a:t>
            </a: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Area of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Knowledge representation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came as the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2</a:t>
            </a:r>
            <a:r>
              <a:rPr lang="en-US" sz="2200" b="0" i="0" u="none" strike="noStrike" cap="none" baseline="30000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nd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approach to AI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Under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knowledge modeling,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many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symbolic AI programs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were developed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Natural Language Processing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(ELIZA – first chatbot by MIT 1964)</a:t>
            </a:r>
            <a:endParaRPr/>
          </a:p>
          <a:p>
            <a:pPr marL="1022350" marR="0" lvl="2" indent="-350838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/>
            </a:pPr>
            <a:r>
              <a:rPr lang="en-US" sz="18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hlinkClick r:id="rId3" tooltip="http://psych.fullerton.edu/mbirnbaum/psych101/Eliza.htm"/>
              </a:rPr>
              <a:t>http://psych.fullerton.edu/mbirnbaum/psych101/Eliza.htm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Natural Language understanding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- SHRDLU (MIT 1968) </a:t>
            </a:r>
            <a:endParaRPr sz="1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Birth of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Expert systems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: [DENDRAL(1965), MYCIN] (Stanford, CMU)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For knowledge modelling Minsky (1975) proposed </a:t>
            </a:r>
            <a:r>
              <a:rPr lang="en-US" sz="22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Frames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344487" marR="0" lvl="1" indent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None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    further to </a:t>
            </a:r>
            <a:r>
              <a:rPr lang="en-US" sz="22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Logic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and </a:t>
            </a:r>
            <a:r>
              <a:rPr lang="en-US" sz="22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Rules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for representing knowledge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None/>
              <a:defRPr/>
            </a:pPr>
            <a:endParaRPr sz="22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35583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149687" name="Google Shape;1026;p89"/>
          <p:cNvSpPr txBox="1"/>
          <p:nvPr/>
        </p:nvSpPr>
        <p:spPr bwMode="auto">
          <a:xfrm>
            <a:off x="10134600" y="1447800"/>
            <a:ext cx="1766887" cy="20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Allan Newell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1</a:t>
            </a:r>
            <a:r>
              <a:rPr lang="en-US" sz="1800" b="0" i="0" u="none" baseline="30000">
                <a:solidFill>
                  <a:srgbClr val="FFFF00"/>
                </a:solidFill>
                <a:latin typeface="Arial"/>
                <a:ea typeface="Arial"/>
                <a:cs typeface="Arial"/>
              </a:rPr>
              <a:t>st</a:t>
            </a: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president of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 AAAI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We also have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 SLAAI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42540" name="Google Shape;1031;p90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History of AI….</a:t>
            </a:r>
            <a:endParaRPr/>
          </a:p>
        </p:txBody>
      </p:sp>
      <p:sp>
        <p:nvSpPr>
          <p:cNvPr id="1339390551" name="Google Shape;1032;p90"/>
          <p:cNvSpPr txBox="1"/>
          <p:nvPr>
            <p:ph type="body" idx="4294967295"/>
          </p:nvPr>
        </p:nvSpPr>
        <p:spPr bwMode="auto">
          <a:xfrm>
            <a:off x="342900" y="1066800"/>
            <a:ext cx="84582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becomes an </a:t>
            </a:r>
            <a:r>
              <a:rPr lang="en-US" sz="2600" b="1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industry</a:t>
            </a:r>
            <a:r>
              <a:rPr lang="en-US" sz="2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(1980-present)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For 30 years AI was not appreciated by the industry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This is called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AI-Winter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1988 (no funding)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XCON (1987) 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Expert Systems (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ES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 to configure minicomputers were developed for DEC (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CMU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XCON could configure a computer in a couple of minutes with almost 100% accuracy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DEC earns millions of dollars due to XCON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Even today ES is the most commercially viable AI technique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Return of ANN (1986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  with </a:t>
            </a:r>
            <a:r>
              <a:rPr lang="en-US" sz="22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Backpropagation</a:t>
            </a: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algorithm</a:t>
            </a:r>
            <a:endParaRPr/>
          </a:p>
          <a:p>
            <a:pPr marL="1022350" marR="0" lvl="2" indent="-3508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/>
            </a:pPr>
            <a:r>
              <a:rPr lang="en-US" sz="1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Rumelhart and </a:t>
            </a:r>
            <a:r>
              <a:rPr lang="en-US" sz="22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hlinkClick r:id="rId3" tooltip="https://mitpress.mit.edu/author/james-l-mcclelland-5325"/>
              </a:rPr>
              <a:t> McClelland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1022350" marR="0" lvl="2" indent="-350838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Turning point in Machine Learning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 1989, CMU introduce the 1</a:t>
            </a:r>
            <a:r>
              <a:rPr lang="en-US" sz="2600" b="0" i="0" u="none" strike="noStrike" cap="none" baseline="30000">
                <a:solidFill>
                  <a:srgbClr val="0070C0"/>
                </a:solidFill>
                <a:latin typeface="Arial"/>
                <a:ea typeface="Arial"/>
                <a:cs typeface="Arial"/>
              </a:rPr>
              <a:t>st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unman land vehicle using ML. </a:t>
            </a:r>
            <a:endParaRPr/>
          </a:p>
          <a:p>
            <a:pPr marL="1022350" marR="0" lvl="2" indent="-35083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Noto Sans Symbols"/>
              <a:buChar char="■"/>
              <a:defRPr/>
            </a:pP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utonomous 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L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and 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V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ehicle 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 a 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eural 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N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etwork</a:t>
            </a:r>
            <a:endParaRPr sz="20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3354753" name="Google Shape;1033;p90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46027" name="Google Shape;1038;p91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674010159" name="Google Shape;1039;p91"/>
          <p:cNvSpPr txBox="1"/>
          <p:nvPr>
            <p:ph type="title"/>
          </p:nvPr>
        </p:nvSpPr>
        <p:spPr bwMode="auto">
          <a:xfrm>
            <a:off x="457200" y="15716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History of AI…</a:t>
            </a:r>
            <a:endParaRPr/>
          </a:p>
        </p:txBody>
      </p:sp>
      <p:sp>
        <p:nvSpPr>
          <p:cNvPr id="1673044177" name="Google Shape;1040;p91"/>
          <p:cNvSpPr txBox="1"/>
          <p:nvPr>
            <p:ph type="body" idx="4294967295"/>
          </p:nvPr>
        </p:nvSpPr>
        <p:spPr bwMode="auto">
          <a:xfrm>
            <a:off x="-152400" y="893445"/>
            <a:ext cx="9448799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becomes a </a:t>
            </a:r>
            <a:r>
              <a:rPr lang="en-US" sz="3000" b="1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science</a:t>
            </a:r>
            <a:r>
              <a:rPr lang="en-US" sz="3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(1990s-)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started to use the scientific method (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experiment-based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testing,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explanations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, and prediction were possible)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Making hypothesis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Setting experiments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Statistical analysis of results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E.g. speech recognition using Hidden Markov Model) 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E.g. Data mining using Artificial Neural Networks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E.g. Bayesian networks for uncertainty handling 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When AI became a science, people began to respect AI</a:t>
            </a:r>
            <a:endParaRPr/>
          </a:p>
          <a:p>
            <a:pPr marL="669925" marR="0" lvl="1" indent="-325438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Note: When we say, now AI is a science, how do we say ML solutions cannot be explained?</a:t>
            </a:r>
            <a:endParaRPr/>
          </a:p>
          <a:p>
            <a:pPr marL="342900" marR="0" lvl="0" indent="-219074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560991" name="Google Shape;1045;p92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737527864" name="Google Shape;1046;p92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History of AI…</a:t>
            </a:r>
            <a:endParaRPr/>
          </a:p>
        </p:txBody>
      </p:sp>
      <p:sp>
        <p:nvSpPr>
          <p:cNvPr id="176408594" name="Google Shape;1047;p92"/>
          <p:cNvSpPr txBox="1"/>
          <p:nvPr>
            <p:ph type="body" idx="4294967295"/>
          </p:nvPr>
        </p:nvSpPr>
        <p:spPr bwMode="auto">
          <a:xfrm>
            <a:off x="-76199" y="1163637"/>
            <a:ext cx="92202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Emergence of Intelligent </a:t>
            </a:r>
            <a:r>
              <a:rPr lang="en-US" sz="3000" b="1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Agent</a:t>
            </a:r>
            <a:r>
              <a:rPr lang="en-US" sz="30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(1995-)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We know that thinking in terms of objects is a paradigm for programming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Nowadays thinking of anything as an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agent 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(an entity doing something) become a paradigm for AI programming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Allen Newell (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CMU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), Laird, and Rosenbloom have proposed the first known complete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Agent architecture (1987)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Agent has been considered a Modern approach to AI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The concept of Agent has also evolved as Robotics (Boston Dynamics, 1995 🡪 inside the lab) </a:t>
            </a:r>
            <a:endParaRPr/>
          </a:p>
        </p:txBody>
      </p:sp>
      <p:sp>
        <p:nvSpPr>
          <p:cNvPr id="914346229" name="Google Shape;1048;p92"/>
          <p:cNvSpPr txBox="1"/>
          <p:nvPr/>
        </p:nvSpPr>
        <p:spPr bwMode="auto">
          <a:xfrm>
            <a:off x="10210800" y="1417637"/>
            <a:ext cx="1300162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DART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ALICE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Deep Blue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Path finder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018384" name="Google Shape;1053;p93"/>
          <p:cNvSpPr txBox="1"/>
          <p:nvPr>
            <p:ph type="title"/>
          </p:nvPr>
        </p:nvSpPr>
        <p:spPr bwMode="auto">
          <a:xfrm>
            <a:off x="381000" y="238125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</a:t>
            </a:r>
            <a:endParaRPr/>
          </a:p>
        </p:txBody>
      </p:sp>
      <p:sp>
        <p:nvSpPr>
          <p:cNvPr id="739618613" name="Google Shape;1054;p93"/>
          <p:cNvSpPr txBox="1"/>
          <p:nvPr>
            <p:ph type="body" idx="4294967295"/>
          </p:nvPr>
        </p:nvSpPr>
        <p:spPr bwMode="auto">
          <a:xfrm>
            <a:off x="0" y="881063"/>
            <a:ext cx="9372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Discuss why AI took such a long time to </a:t>
            </a:r>
            <a:r>
              <a:rPr lang="en-US" sz="2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win industry recognition.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was not a science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Discuss why AI took such a long time to win industry recognition and </a:t>
            </a:r>
            <a:r>
              <a:rPr lang="en-US" sz="2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popularity among the public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Due to military intervention, the development of AI was invisible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 wars to test the AI weapons until the Gulf War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Fear due to AI has power and control built together (autonomy)</a:t>
            </a:r>
            <a:endParaRPr/>
          </a:p>
          <a:p>
            <a:pPr marL="342900" marR="0" lvl="0" indent="-342900" algn="just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Which of the </a:t>
            </a:r>
            <a:r>
              <a:rPr lang="en-US" sz="23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Machine Learning </a:t>
            </a: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(non-symbolic) or </a:t>
            </a:r>
            <a:r>
              <a:rPr lang="en-US" sz="23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Artificial Cognitive Systems</a:t>
            </a: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(symbolic-AI) has been more influential to the development in AI </a:t>
            </a:r>
            <a:r>
              <a:rPr lang="en-US" sz="23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before 1990</a:t>
            </a:r>
            <a:r>
              <a:rPr lang="en-US" sz="23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?</a:t>
            </a:r>
            <a:endParaRPr/>
          </a:p>
          <a:p>
            <a:pPr marL="344487" marR="0" lvl="1" indent="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2733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2733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/>
            </a:pPr>
            <a:endParaRPr sz="28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5571117" name="Google Shape;1055;p93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885572585" name="Google Shape;1056;p93"/>
          <p:cNvSpPr txBox="1"/>
          <p:nvPr/>
        </p:nvSpPr>
        <p:spPr bwMode="auto">
          <a:xfrm>
            <a:off x="9753600" y="2514600"/>
            <a:ext cx="249299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Weapons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Pharmaceutical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Education/Automobile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rgbClr val="FF0000"/>
              </a:solidFill>
              <a:highlight>
                <a:srgbClr val="FFFF00"/>
              </a:highlight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898671" name="Google Shape;1061;p94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/>
            </a:pPr>
            <a:fld id="{00000000-1234-1234-1234-123412341234}" type="slidenum">
              <a:rPr lang="en-US" sz="9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118294774" name="Google Shape;1062;p94"/>
          <p:cNvSpPr txBox="1"/>
          <p:nvPr>
            <p:ph type="title"/>
          </p:nvPr>
        </p:nvSpPr>
        <p:spPr bwMode="auto">
          <a:xfrm>
            <a:off x="436562" y="141287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The state of the Art</a:t>
            </a:r>
            <a:endParaRPr/>
          </a:p>
        </p:txBody>
      </p:sp>
      <p:sp>
        <p:nvSpPr>
          <p:cNvPr id="1690201230" name="Google Shape;1063;p94"/>
          <p:cNvSpPr txBox="1"/>
          <p:nvPr>
            <p:ph type="body" idx="4294967295"/>
          </p:nvPr>
        </p:nvSpPr>
        <p:spPr bwMode="auto">
          <a:xfrm>
            <a:off x="92869" y="1066800"/>
            <a:ext cx="8916988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9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Autonomous control</a:t>
            </a:r>
            <a:r>
              <a:rPr lang="en-US" sz="9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ct val="59999"/>
              <a:buFont typeface="Noto Sans Symbols"/>
              <a:buChar char="❑"/>
              <a:defRPr/>
            </a:pP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Autonomous Land Vehicle in Neural Networks</a:t>
            </a:r>
            <a:r>
              <a:rPr lang="en-US" sz="8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(</a:t>
            </a: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ALVINN) (</a:t>
            </a:r>
            <a:r>
              <a:rPr lang="en-US" sz="8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1989</a:t>
            </a: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 computer </a:t>
            </a:r>
            <a:r>
              <a:rPr lang="en-US" sz="88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vision system</a:t>
            </a: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(by NAVLAB of </a:t>
            </a:r>
            <a:r>
              <a:rPr lang="en-US" sz="8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CMU</a:t>
            </a: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 to steer the car to keep it following a lane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9600" b="0" i="0" u="sng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Autonomous</a:t>
            </a:r>
            <a:r>
              <a:rPr lang="en-US" sz="9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planning and scheduling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ct val="59999"/>
              <a:buFont typeface="Noto Sans Symbols"/>
              <a:buChar char="❑"/>
              <a:defRPr/>
            </a:pP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NASA has developed several remote </a:t>
            </a:r>
            <a:r>
              <a:rPr lang="en-US" sz="88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agent programs </a:t>
            </a: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for on-board autonomous planning …. (Jonsson, et al 2000)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ct val="59999"/>
              <a:buFont typeface="Noto Sans Symbols"/>
              <a:buChar char="❑"/>
              <a:defRPr/>
            </a:pP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Mars Pathfinder (</a:t>
            </a:r>
            <a:r>
              <a:rPr lang="en-US" sz="8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1996</a:t>
            </a: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9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Game playing</a:t>
            </a:r>
            <a:endParaRPr/>
          </a:p>
          <a:p>
            <a:pPr marL="1022350" marR="0" lvl="2" indent="-350838" algn="just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ans Symbols"/>
              <a:buChar char="■"/>
              <a:defRPr/>
            </a:pPr>
            <a:r>
              <a:rPr lang="en-US" sz="9200" b="0" i="0" u="sng" strike="noStrike" cap="none">
                <a:solidFill>
                  <a:srgbClr val="00B050"/>
                </a:solidFill>
                <a:latin typeface="Arial"/>
                <a:ea typeface="Arial"/>
                <a:cs typeface="Arial"/>
              </a:rPr>
              <a:t>IBM Deep Blue</a:t>
            </a:r>
            <a:r>
              <a:rPr lang="en-US" sz="92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</a:t>
            </a:r>
            <a:r>
              <a:rPr lang="en-US" sz="9200" b="0" i="0" u="sng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1997</a:t>
            </a:r>
            <a:r>
              <a:rPr lang="en-US" sz="92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r>
              <a:rPr lang="en-US" sz="9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defeated the chess grandmaster. </a:t>
            </a:r>
            <a:endParaRPr/>
          </a:p>
          <a:p>
            <a:pPr marL="1022350" marR="0" lvl="2" indent="-350838" algn="just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ans Symbols"/>
              <a:buChar char="■"/>
              <a:defRPr/>
            </a:pPr>
            <a:r>
              <a:rPr lang="en-US" sz="9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IBM’s stock increased by $18 billion.</a:t>
            </a:r>
            <a:endParaRPr/>
          </a:p>
          <a:p>
            <a:pPr marL="1022350" marR="0" lvl="2" indent="-350838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Started at </a:t>
            </a:r>
            <a:r>
              <a:rPr lang="en-US" sz="8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CMU</a:t>
            </a: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in 1985 under the name </a:t>
            </a:r>
            <a:r>
              <a:rPr lang="en-US" sz="88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Chip Test</a:t>
            </a:r>
            <a:endParaRPr/>
          </a:p>
          <a:p>
            <a:pPr marL="1022350" marR="0" lvl="2" indent="-350838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Deep Blue could visualize multiple steps ahead beyond human capacity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Char char="■"/>
              <a:defRPr/>
            </a:pPr>
            <a:r>
              <a:rPr lang="en-US" sz="8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Note Deep Blue is a rule/logic-based symbolic-AI solution</a:t>
            </a:r>
            <a:endParaRPr/>
          </a:p>
          <a:p>
            <a:pPr marL="1022350" marR="0" lvl="2" indent="-251777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ct val="65000"/>
              <a:buFont typeface="Noto Sans Symbols"/>
              <a:buNone/>
              <a:defRPr/>
            </a:pPr>
            <a:endParaRPr sz="9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accent1"/>
              </a:buClr>
              <a:buSzPct val="64999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defeated</a:t>
            </a:r>
            <a:endParaRPr/>
          </a:p>
        </p:txBody>
      </p:sp>
      <p:sp>
        <p:nvSpPr>
          <p:cNvPr id="1297421295" name="Google Shape;1064;p94"/>
          <p:cNvSpPr txBox="1"/>
          <p:nvPr/>
        </p:nvSpPr>
        <p:spPr bwMode="auto">
          <a:xfrm>
            <a:off x="9677400" y="1066800"/>
            <a:ext cx="3249612" cy="397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Why AI can offer autonomous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solutions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Power + Control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Autonomy (+)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Singularity (-)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Automatic – washing machine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Autonomous – self-driving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(adjusting to environment …)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3957387" name="Google Shape;1069;p95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/>
            </a:pPr>
            <a:fld id="{00000000-1234-1234-1234-123412341234}" type="slidenum">
              <a:rPr lang="en-US" sz="9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399509435" name="Google Shape;1070;p95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The state of the Art….</a:t>
            </a:r>
            <a:endParaRPr/>
          </a:p>
        </p:txBody>
      </p:sp>
      <p:sp>
        <p:nvSpPr>
          <p:cNvPr id="1068699337" name="Google Shape;1071;p95"/>
          <p:cNvSpPr txBox="1"/>
          <p:nvPr>
            <p:ph type="body" idx="4294967295"/>
          </p:nvPr>
        </p:nvSpPr>
        <p:spPr bwMode="auto">
          <a:xfrm>
            <a:off x="20320" y="1219200"/>
            <a:ext cx="91440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Robotic Vehicles</a:t>
            </a: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(driverless due to  power + control)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First Driverless robotic car STANLEY by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CMU</a:t>
            </a: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(2005)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Tesla, Google self-driving, drones, and many  </a:t>
            </a:r>
            <a:endParaRPr sz="2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just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chemeClr val="accent1"/>
              </a:buClr>
              <a:buSzPts val="1755"/>
              <a:buFont typeface="Noto Sans Symbols"/>
              <a:buChar char="■"/>
              <a:defRPr/>
            </a:pPr>
            <a:r>
              <a:rPr lang="en-US" sz="27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Logistic Planning Expert System</a:t>
            </a:r>
            <a:r>
              <a:rPr lang="en-US" sz="27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: </a:t>
            </a:r>
            <a:r>
              <a:rPr lang="en-US" sz="27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Dynamic Analysis and Replanning Tool</a:t>
            </a:r>
            <a:r>
              <a:rPr lang="en-US" sz="27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(</a:t>
            </a:r>
            <a:r>
              <a:rPr lang="en-US" sz="2700" b="0" i="0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</a:rPr>
              <a:t>DART) (1991) </a:t>
            </a:r>
            <a:r>
              <a:rPr lang="en-US" sz="27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by DARPA for logistic planning during the </a:t>
            </a:r>
            <a:r>
              <a:rPr lang="en-US" sz="27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Gulf War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DART could handle more than 50000 entities of tri-forces, weapons, vehicles, civilians, ambulances, medicine, water,  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By this program, DARPA recovered all investments in AI research for </a:t>
            </a:r>
            <a:r>
              <a:rPr lang="en-US" sz="24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30 years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Recall DARPA-funded AI research since 1956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855414" name="Google Shape;1076;p96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aramond"/>
              <a:buNone/>
              <a:defRPr/>
            </a:pPr>
            <a:fld id="{00000000-1234-1234-1234-123412341234}" type="slidenum">
              <a:rPr lang="en-US" sz="9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430301868" name="Google Shape;1077;p96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The state of the Art…</a:t>
            </a:r>
            <a:endParaRPr/>
          </a:p>
        </p:txBody>
      </p:sp>
      <p:sp>
        <p:nvSpPr>
          <p:cNvPr id="256970501" name="Google Shape;1078;p96"/>
          <p:cNvSpPr txBox="1"/>
          <p:nvPr>
            <p:ph type="body" idx="4294967295"/>
          </p:nvPr>
        </p:nvSpPr>
        <p:spPr bwMode="auto">
          <a:xfrm>
            <a:off x="44450" y="914400"/>
            <a:ext cx="90995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Robotics:</a:t>
            </a: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iRobot corporation sold over two million 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Roomba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robotic vacuum cleaners. Humanoid robots are also used in kindergartens to elder homes. Medical surgeries are now with robots. Further robots attend hazardous, explosive, etc.  </a:t>
            </a:r>
            <a:endParaRPr/>
          </a:p>
          <a:p>
            <a:pPr marL="669925" marR="0" lvl="1" indent="-325438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Discuss the specificity of Boston Dynamics robots (stability of motion)</a:t>
            </a:r>
            <a:endParaRPr/>
          </a:p>
          <a:p>
            <a:pPr marL="342900" marR="0" lvl="0" indent="-342900" algn="just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Machine translation: 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Natural Language Processing, understanding, and translation have revolutionized modern AI. The initial symbolic-AI approach (rule-based MT) to those areas has now become a machine-learning exercise. Chatbots are popular for interacting with people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Latest developments: 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AlphaGo, Watson, Sophia, Atlas, Deep Learning, LLM, Transformer, ChatGPT, Agentic AI</a:t>
            </a:r>
            <a:endParaRPr/>
          </a:p>
        </p:txBody>
      </p:sp>
      <p:sp>
        <p:nvSpPr>
          <p:cNvPr id="1515617920" name="Google Shape;1079;p96"/>
          <p:cNvSpPr/>
          <p:nvPr/>
        </p:nvSpPr>
        <p:spPr bwMode="auto">
          <a:xfrm>
            <a:off x="8934450" y="5943600"/>
            <a:ext cx="2030412" cy="946150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23/08/2025</a:t>
            </a:r>
            <a:endParaRPr/>
          </a:p>
        </p:txBody>
      </p:sp>
      <p:sp>
        <p:nvSpPr>
          <p:cNvPr id="1479432990" name="Google Shape;1080;p96"/>
          <p:cNvSpPr txBox="1"/>
          <p:nvPr/>
        </p:nvSpPr>
        <p:spPr bwMode="auto">
          <a:xfrm>
            <a:off x="9448799" y="4038600"/>
            <a:ext cx="3032125" cy="17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Machine translation by ANN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      Ray Kurzweil (Google)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CAS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SLAS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0648319" name="Google Shape;1081;p96"/>
          <p:cNvSpPr txBox="1"/>
          <p:nvPr/>
        </p:nvSpPr>
        <p:spPr bwMode="auto">
          <a:xfrm>
            <a:off x="12268200" y="4500562"/>
            <a:ext cx="18415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997397" name="Google Shape;1086;p97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  <a:defRPr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</a:rPr>
              <a:t>Notes</a:t>
            </a:r>
            <a:endParaRPr/>
          </a:p>
        </p:txBody>
      </p:sp>
      <p:sp>
        <p:nvSpPr>
          <p:cNvPr id="631464002" name="Google Shape;1087;p97"/>
          <p:cNvSpPr txBox="1"/>
          <p:nvPr>
            <p:ph type="body" idx="4294967295"/>
          </p:nvPr>
        </p:nvSpPr>
        <p:spPr bwMode="auto">
          <a:xfrm>
            <a:off x="152400" y="1600200"/>
            <a:ext cx="9144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Humanity has been well ahead of other animals because of its </a:t>
            </a:r>
            <a:r>
              <a:rPr lang="en-US" sz="23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communication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ability using symbols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Humans have already been able to </a:t>
            </a:r>
            <a:r>
              <a:rPr lang="en-US" sz="23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communicate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with </a:t>
            </a:r>
            <a:r>
              <a:rPr lang="en-US" sz="23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machines 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using programming languages. 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Man-machine, machine-machine (networking)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Humans are enabling to communicate with </a:t>
            </a:r>
            <a:r>
              <a:rPr lang="en-US" sz="23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biological systems </a:t>
            </a: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(plants/animals) by modifying gene-level instructions, biological programming (MIT)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Man-machine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Machine-Plant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Machine-animal</a:t>
            </a:r>
            <a:endParaRPr/>
          </a:p>
          <a:p>
            <a:pPr marL="1022350" marR="0" lvl="2" indent="-3508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495"/>
              <a:buFont typeface="Noto Sans Symbols"/>
              <a:buChar char="■"/>
              <a:defRPr/>
            </a:pPr>
            <a:r>
              <a:rPr lang="en-US"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Plant-animal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4602805" name="Google Shape;1088;p97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947576084" name="Google Shape;1089;p97"/>
          <p:cNvSpPr txBox="1"/>
          <p:nvPr/>
        </p:nvSpPr>
        <p:spPr bwMode="auto">
          <a:xfrm>
            <a:off x="9601200" y="914400"/>
            <a:ext cx="3403496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Humanity has developed to this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Level due to </a:t>
            </a:r>
            <a:r>
              <a:rPr lang="en-US" sz="1800" b="0" i="0" u="none" strike="noStrike" cap="none">
                <a:solidFill>
                  <a:srgbClr val="FFFF00"/>
                </a:solidFill>
                <a:highlight>
                  <a:srgbClr val="0000FF"/>
                </a:highlight>
                <a:latin typeface="Arial"/>
                <a:ea typeface="Arial"/>
                <a:cs typeface="Arial"/>
              </a:rPr>
              <a:t>communicatio</a:t>
            </a: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Capacity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Computer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 strike="noStrike" cap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Networking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460143" name="Google Shape;1094;p98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Some future developments</a:t>
            </a:r>
            <a:endParaRPr/>
          </a:p>
        </p:txBody>
      </p:sp>
      <p:sp>
        <p:nvSpPr>
          <p:cNvPr id="1138290195" name="Google Shape;1095;p98"/>
          <p:cNvSpPr txBox="1"/>
          <p:nvPr>
            <p:ph type="body" idx="4294967295"/>
          </p:nvPr>
        </p:nvSpPr>
        <p:spPr bwMode="auto">
          <a:xfrm>
            <a:off x="-76200" y="1143000"/>
            <a:ext cx="9753600" cy="4948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Influence of </a:t>
            </a: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Neuroscience (PET, fMRI, EEG)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Neurons in the brain emit electrical signals when we do various tasks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BC I (when you think open the door, the door will open)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Mind uploading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Brain-1🡪</a:t>
            </a:r>
            <a:r>
              <a:rPr lang="en-US" sz="2600" b="0" i="0" u="sng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(using 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EEG creadt ANN) 🡪 stimulates Brain-2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Trained dog 🡪  ANN 🡪 Puppy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Muscle memory (EMG)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Neurons in the muscle also emit an electrical  Signal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Humans with extended physical/mental abilities (</a:t>
            </a: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Cyborgs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9694757" name="Google Shape;1096;p98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320787756" name="Google Shape;1097;p98"/>
          <p:cNvSpPr txBox="1"/>
          <p:nvPr/>
        </p:nvSpPr>
        <p:spPr bwMode="auto">
          <a:xfrm>
            <a:off x="9601200" y="3733800"/>
            <a:ext cx="3762375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Is that uploading all the information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of one brain to another brain?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825949" name="Google Shape;1102;p99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Some future developments</a:t>
            </a:r>
            <a:endParaRPr/>
          </a:p>
        </p:txBody>
      </p:sp>
      <p:sp>
        <p:nvSpPr>
          <p:cNvPr id="568082007" name="Google Shape;1103;p99"/>
          <p:cNvSpPr txBox="1"/>
          <p:nvPr>
            <p:ph type="body" idx="4294967295"/>
          </p:nvPr>
        </p:nvSpPr>
        <p:spPr bwMode="auto">
          <a:xfrm>
            <a:off x="223520" y="1132205"/>
            <a:ext cx="8915400" cy="5319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Reducing the gap between man and machine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This leads to </a:t>
            </a:r>
            <a:r>
              <a:rPr lang="en-US" sz="2400" b="0" i="0" u="sng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Man-machine co-existence</a:t>
            </a:r>
            <a:r>
              <a:rPr lang="en-US" sz="2400" b="0" i="0" u="sng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(cyborgs, iRobot move policeman as a robot arm)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Machines with biological brains (Rat brain, Terminator)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❑"/>
              <a:defRPr/>
            </a:pPr>
            <a:r>
              <a:rPr lang="en-US" sz="20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Biological brains with AI chips (Neuralink)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sng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Biological Programming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Instructing biological systems by modifying data in genes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Already languages, compilers, and OS are developed at MIT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 the future, medical treatments will be a programming exercise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Char char="■"/>
              <a:defRPr/>
            </a:pPr>
            <a:r>
              <a:rPr lang="en-US" sz="2400" b="0" i="0" u="sng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Hybrid Intelligence (HI)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– Brian + AI Chip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One at a time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When the brain is exhausted, the AI chip takeover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560"/>
              <a:buFont typeface="Noto Sans Symbols"/>
              <a:buNone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0546452" name="Google Shape;1104;p99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146237" name="Google Shape;1109;p100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Some future developments</a:t>
            </a:r>
            <a:endParaRPr/>
          </a:p>
        </p:txBody>
      </p:sp>
      <p:sp>
        <p:nvSpPr>
          <p:cNvPr id="15616042" name="Google Shape;1110;p100"/>
          <p:cNvSpPr txBox="1"/>
          <p:nvPr>
            <p:ph type="body" idx="1"/>
          </p:nvPr>
        </p:nvSpPr>
        <p:spPr bwMode="auto">
          <a:xfrm>
            <a:off x="152400" y="1219200"/>
            <a:ext cx="8991600" cy="4948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Human-centered AI 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People do not want machines to make decisions on their own, leading to the singularity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Instead,  people want to intervene in decision-making by AI system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Explainable AI (introducing expandability for ML)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❑"/>
              <a:defRPr/>
            </a:pP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Similar to a doctor explaining/interpreting a report by looking at   data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❑"/>
              <a:defRPr/>
            </a:pP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This is a big issue in LLM applications like ChatGPT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❑"/>
              <a:defRPr/>
            </a:pPr>
            <a:r>
              <a:rPr lang="en-US" sz="21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Solutions – Use ES like symbolic AI to explain, build explanations into training data, use of pictures to explain</a:t>
            </a:r>
            <a:endParaRPr sz="21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Responsible AI</a:t>
            </a:r>
            <a:endParaRPr/>
          </a:p>
          <a:p>
            <a:pPr marL="669925" marR="0" lvl="1" indent="-325436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❑"/>
              <a:defRPr/>
            </a:pPr>
            <a:r>
              <a:rPr lang="en-US" sz="21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Explainability, human-centered, accountability, privacy, security, fairness,  ethical/legal concerns</a:t>
            </a:r>
            <a:endParaRPr/>
          </a:p>
          <a:p>
            <a:pPr marL="342900" marR="0" lvl="0" indent="-23971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None/>
              <a:defRPr/>
            </a:pPr>
            <a:endParaRPr sz="25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39712" algn="l"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None/>
              <a:defRPr/>
            </a:pPr>
            <a:endParaRPr sz="25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5641393" name="Google Shape;1111;p100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663525" name="Google Shape;1116;p101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Some future developments</a:t>
            </a:r>
            <a:endParaRPr/>
          </a:p>
        </p:txBody>
      </p:sp>
      <p:sp>
        <p:nvSpPr>
          <p:cNvPr id="1493943308" name="Google Shape;1117;p101"/>
          <p:cNvSpPr txBox="1"/>
          <p:nvPr>
            <p:ph type="body" idx="4294967295"/>
          </p:nvPr>
        </p:nvSpPr>
        <p:spPr bwMode="auto">
          <a:xfrm>
            <a:off x="152400" y="1408113"/>
            <a:ext cx="90678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Technological singularity (machine supersedes humanity)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Noto Sans Symbols"/>
              <a:buChar char="❑"/>
              <a:defRPr/>
            </a:pPr>
            <a:r>
              <a:rPr lang="en-US" sz="25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AI community promotes man-machine co-existence, but not the singularity (explainable AI, human-centered AI, Cyborgs)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25"/>
              <a:buFont typeface="Noto Sans Symbols"/>
              <a:buChar char="■"/>
              <a:defRPr/>
            </a:pP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AI has achieved the aim of building </a:t>
            </a:r>
            <a:r>
              <a:rPr lang="en-US" sz="25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intelligent machines beyond expectations.</a:t>
            </a:r>
            <a:r>
              <a:rPr lang="en-US" sz="25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AI can be a threat to humanity if we are not careful.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❑"/>
              <a:defRPr/>
            </a:pPr>
            <a:r>
              <a:rPr lang="en-US" sz="21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While building intelligence into machines, the AI community should develop cognitive tools to improve thinking, memory, reaction time, mathematical skill, abstraction, reading comprehension, articulation, and imagination.  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834350" name="Google Shape;1118;p101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986871" name="Google Shape;1123;p102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  <a:defRPr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</a:rPr>
              <a:t>Exercise</a:t>
            </a:r>
            <a:endParaRPr/>
          </a:p>
        </p:txBody>
      </p:sp>
      <p:sp>
        <p:nvSpPr>
          <p:cNvPr id="1732324784" name="Google Shape;1124;p102"/>
          <p:cNvSpPr txBox="1"/>
          <p:nvPr>
            <p:ph type="body" idx="4294967295"/>
          </p:nvPr>
        </p:nvSpPr>
        <p:spPr bwMode="auto">
          <a:xfrm>
            <a:off x="-152400" y="1600200"/>
            <a:ext cx="92964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We can’t avoid </a:t>
            </a:r>
            <a:r>
              <a:rPr lang="en-US" sz="30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AI</a:t>
            </a:r>
            <a: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due to its ability to </a:t>
            </a:r>
            <a:r>
              <a:rPr lang="en-US" sz="30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outperform humanity</a:t>
            </a:r>
            <a: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given the </a:t>
            </a:r>
            <a:r>
              <a:rPr lang="en-US" sz="3000" b="0" i="0" u="none" strike="noStrike" cap="non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biological limitations of humanity</a:t>
            </a:r>
            <a:r>
              <a:rPr lang="en-US"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. Support this statement.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Reaction time (XCON, Deep Blue,  Watson, 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Large no of parameters/Options (DART, Deep Blue, 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Exploring unknown environments (Pathfinder)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/>
            </a:pPr>
            <a:r>
              <a:rPr lang="en-US"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Working in a hazardous environment (Atlas)</a:t>
            </a:r>
            <a:endParaRPr/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857683" name="Google Shape;1125;p102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95854" name="Google Shape;1130;p103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Agent Technology – an inspiration </a:t>
            </a:r>
            <a:endParaRPr/>
          </a:p>
        </p:txBody>
      </p:sp>
      <p:sp>
        <p:nvSpPr>
          <p:cNvPr id="1212957904" name="Google Shape;1131;p103"/>
          <p:cNvSpPr txBox="1"/>
          <p:nvPr>
            <p:ph type="body" idx="4294967295"/>
          </p:nvPr>
        </p:nvSpPr>
        <p:spPr bwMode="auto">
          <a:xfrm>
            <a:off x="20320" y="1209675"/>
            <a:ext cx="9144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Char char="■"/>
              <a:defRPr/>
            </a:pPr>
            <a:r>
              <a:rPr lang="en-US" sz="28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Massive systems (sun, human body, solar system, country, ) are governed by computing/operations taking place at the minute (tiny) level entities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Atomic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level actions in the sun (</a:t>
            </a:r>
            <a:r>
              <a:rPr lang="en-US" sz="23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↔</a:t>
            </a:r>
            <a:r>
              <a:rPr lang="en-US" sz="23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He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Molecules</a:t>
            </a:r>
            <a:endParaRPr/>
          </a:p>
          <a:p>
            <a:pPr marL="669925" marR="0" lvl="1" indent="-23780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None/>
              <a:defRPr/>
            </a:pPr>
            <a:endParaRPr sz="23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669925" marR="0" lvl="1" indent="-23780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None/>
              <a:defRPr/>
            </a:pPr>
            <a:endParaRPr sz="23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4487" marR="0" lvl="1" indent="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None/>
              <a:defRPr/>
            </a:pPr>
            <a:endParaRPr sz="23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Cells 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(In the body glucose is burnt and produce energy)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Ants, Bees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These tiny entities are called </a:t>
            </a:r>
            <a:r>
              <a:rPr lang="en-US" sz="23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Agent</a:t>
            </a: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accent2"/>
              </a:buClr>
              <a:buSzPts val="1380"/>
              <a:buFont typeface="Noto Sans Symbols"/>
              <a:buChar char="❑"/>
              <a:defRPr/>
            </a:pPr>
            <a:r>
              <a:rPr lang="en-US" sz="23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Agent technology promote to write small AI programs like agent</a:t>
            </a:r>
            <a:endParaRPr/>
          </a:p>
        </p:txBody>
      </p:sp>
      <p:pic>
        <p:nvPicPr>
          <p:cNvPr id="1393807206" name="Google Shape;1132;p103" descr="Photosynthesis – Definition, Steps, and Formula with Diagram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2400300" y="3048000"/>
            <a:ext cx="4343400" cy="173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94255" name="Google Shape;1137;p104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1363364891" name="Google Shape;1138;p104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Understanding Agent (Robotics)</a:t>
            </a:r>
            <a:endParaRPr/>
          </a:p>
        </p:txBody>
      </p:sp>
      <p:sp>
        <p:nvSpPr>
          <p:cNvPr id="1683422423" name="Google Shape;1139;p104"/>
          <p:cNvSpPr txBox="1"/>
          <p:nvPr>
            <p:ph type="body" idx="4294967295"/>
          </p:nvPr>
        </p:nvSpPr>
        <p:spPr bwMode="auto">
          <a:xfrm>
            <a:off x="0" y="990600"/>
            <a:ext cx="9574213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When you say to a travel agent “I won’t go to a conference in London”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Then a </a:t>
            </a:r>
            <a:r>
              <a:rPr lang="en-US" sz="2600" b="0" i="0" u="none" strike="noStrike" cap="none">
                <a:solidFill>
                  <a:srgbClr val="3333FF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Travel Agent </a:t>
            </a:r>
            <a:r>
              <a:rPr lang="en-US" sz="26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does the following related thing without bothering the client very much: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Flight booking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Hotel reservation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Taxi booking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Conference registration</a:t>
            </a:r>
            <a:endParaRPr sz="2600" b="0" i="0" u="none" strike="noStrike" cap="none">
              <a:solidFill>
                <a:srgbClr val="3333FF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He may get support from another agent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Upon completing a task with a client, the agent switches to the next client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How can we develop software that mimics agent behavior</a:t>
            </a:r>
            <a:endParaRPr/>
          </a:p>
          <a:p>
            <a:pPr marL="342900" marR="0" lvl="0" indent="-235583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rgbClr val="3333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975421" name="Google Shape;1144;p105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chemeClr val="dk2"/>
                </a:solidFill>
                <a:latin typeface="Garamond"/>
                <a:ea typeface="Garamond"/>
                <a:cs typeface="Garamond"/>
              </a:rPr>
              <a:t>Exercise</a:t>
            </a:r>
            <a:endParaRPr/>
          </a:p>
        </p:txBody>
      </p:sp>
      <p:sp>
        <p:nvSpPr>
          <p:cNvPr id="1983374069" name="Google Shape;1145;p105"/>
          <p:cNvSpPr txBox="1"/>
          <p:nvPr>
            <p:ph type="body" idx="1"/>
          </p:nvPr>
        </p:nvSpPr>
        <p:spPr bwMode="auto">
          <a:xfrm>
            <a:off x="304800" y="914400"/>
            <a:ext cx="82296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Name FIVE agents that you have seen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Policeman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Layer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CIA Agent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Security officer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Insurance Agent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Travel Agent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Servant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Car/Drone/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Dog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Cat 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Mobile Phone</a:t>
            </a:r>
            <a:endParaRPr/>
          </a:p>
          <a:p>
            <a:pPr marL="669925" marR="0" lvl="1" indent="-325437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None/>
              <a:defRPr/>
            </a:pPr>
            <a:endParaRPr sz="24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669925" marR="0" lvl="1" indent="-226376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None/>
              <a:defRPr/>
            </a:pPr>
            <a:endParaRPr sz="2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35583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822007" name="Google Shape;1146;p105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361731" name="Google Shape;1151;p106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320362872" name="Google Shape;1152;p106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Some characteristics of Agents</a:t>
            </a:r>
            <a:endParaRPr/>
          </a:p>
        </p:txBody>
      </p:sp>
      <p:sp>
        <p:nvSpPr>
          <p:cNvPr id="1772500388" name="Google Shape;1153;p106"/>
          <p:cNvSpPr txBox="1"/>
          <p:nvPr>
            <p:ph type="body" idx="4294967295"/>
          </p:nvPr>
        </p:nvSpPr>
        <p:spPr bwMode="auto">
          <a:xfrm>
            <a:off x="9525" y="1058863"/>
            <a:ext cx="9715500" cy="474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sng" strike="noStrike" cap="none">
                <a:solidFill>
                  <a:srgbClr val="FF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</a:rPr>
              <a:t>Situatedness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- works in a </a:t>
            </a: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specific environment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Dog looks after a particular house</a:t>
            </a:r>
            <a:endParaRPr sz="2200" b="0" i="0" u="none" strike="noStrike" cap="none">
              <a:solidFill>
                <a:srgbClr val="FF0000"/>
              </a:solidFill>
              <a:highlight>
                <a:srgbClr val="FFFF00"/>
              </a:highlight>
              <a:latin typeface="Arial"/>
              <a:ea typeface="Arial"/>
              <a:cs typeface="Arial"/>
            </a:endParaRPr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The action/presence of Agent is influential to the environment</a:t>
            </a:r>
            <a:endParaRPr sz="22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/>
            </a:pPr>
            <a:r>
              <a:rPr lang="en-US" sz="22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Act on behalf of a master – agent works for a master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  <a:defRPr/>
            </a:pPr>
            <a:r>
              <a:rPr lang="en-US" sz="18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2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Dog </a:t>
            </a:r>
            <a:r>
              <a:rPr lang="en-US" sz="2200" b="0" i="0" u="none" strike="noStrike" cap="none">
                <a:solidFill>
                  <a:srgbClr val="3333FF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only listens to one master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sng" strike="noStrike" cap="none">
                <a:solidFill>
                  <a:srgbClr val="FF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</a:rPr>
              <a:t>Autonomous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– act with little/no instruction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When a visitor comes a dog starts barking without the master’s order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Consume fewer resources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Food, locations, etc. are minimal (</a:t>
            </a:r>
            <a:r>
              <a:rPr lang="en-US" sz="2200" b="0" i="0" u="none" strike="noStrike" cap="none">
                <a:solidFill>
                  <a:srgbClr val="3333FF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less use of CPU and Memory</a:t>
            </a:r>
            <a:r>
              <a:rPr lang="en-US" sz="22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)</a:t>
            </a:r>
            <a:endParaRPr sz="2200" b="0" i="0" u="none" strike="noStrike" cap="none">
              <a:solidFill>
                <a:srgbClr val="3333FF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sng" strike="noStrike" cap="none">
                <a:solidFill>
                  <a:srgbClr val="FF0000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</a:rPr>
              <a:t>Adaptivity </a:t>
            </a:r>
            <a:r>
              <a:rPr lang="en-US" sz="2600" b="0" i="0" u="sng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– 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adjustable to the situation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Initially barking at a person, slowly became friendly with ..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Activate </a:t>
            </a: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when required, execute, and disappear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When a Sound comes, the dog gets up, barks, no sound/sleeps again</a:t>
            </a:r>
            <a:endParaRPr/>
          </a:p>
          <a:p>
            <a:pPr marL="669925" marR="0" lvl="1" indent="-24161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None/>
              <a:defRPr/>
            </a:pPr>
            <a:endParaRPr sz="22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</a:endParaRPr>
          </a:p>
          <a:p>
            <a:pPr marL="344487" marR="0" lvl="1" indent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None/>
              <a:defRPr/>
            </a:pPr>
            <a:endParaRPr sz="2200" b="0" i="0" u="none" strike="noStrike" cap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3686247" name="Google Shape;1154;p106"/>
          <p:cNvSpPr txBox="1"/>
          <p:nvPr/>
        </p:nvSpPr>
        <p:spPr bwMode="auto">
          <a:xfrm flipH="1">
            <a:off x="9571037" y="1295400"/>
            <a:ext cx="3459162" cy="258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Self-driving car as an Agent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Roads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If an accident happens, the master is responsible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864365" name="Google Shape;1159;p107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Some characteristics of Agents</a:t>
            </a:r>
            <a:endParaRPr/>
          </a:p>
        </p:txBody>
      </p:sp>
      <p:sp>
        <p:nvSpPr>
          <p:cNvPr id="1260543318" name="Google Shape;1160;p107"/>
          <p:cNvSpPr txBox="1"/>
          <p:nvPr>
            <p:ph type="body" idx="4294967295"/>
          </p:nvPr>
        </p:nvSpPr>
        <p:spPr bwMode="auto">
          <a:xfrm>
            <a:off x="25400" y="1163638"/>
            <a:ext cx="91440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0070C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Reactive</a:t>
            </a:r>
            <a:r>
              <a:rPr lang="en-US" sz="26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 - stop ongoing work and attend the master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Barking dog stops when the master calls the dog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</a:rPr>
              <a:t>Proactive</a:t>
            </a: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 - attending related tasks when there is free time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Dog walks around the house, and garden looks over the wall/gate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Intelligent, Knowledge, Rationality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 The dog does not bark at a visitor when a visitor is with the master, but the dog is watchful 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440"/>
              <a:buFont typeface="Noto Sans Symbols"/>
              <a:buChar char="❑"/>
              <a:defRPr/>
            </a:pPr>
            <a:r>
              <a:rPr lang="en-US" sz="24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It is expected the agents to do the right thing</a:t>
            </a:r>
            <a:endParaRPr sz="2200" b="0" i="0" u="none" strike="noStrike" cap="none">
              <a:solidFill>
                <a:srgbClr val="3333FF"/>
              </a:solidFill>
              <a:latin typeface="Arial"/>
              <a:ea typeface="Arial"/>
              <a:cs typeface="Arial"/>
            </a:endParaRPr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Able to move</a:t>
            </a:r>
            <a:endParaRPr/>
          </a:p>
          <a:p>
            <a:pPr marL="669925" marR="0" lvl="1" indent="-32543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Char char="❑"/>
              <a:defRPr/>
            </a:pPr>
            <a:r>
              <a:rPr lang="en-US" sz="22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</a:rPr>
              <a:t>within the its master’s area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Char char="■"/>
              <a:defRPr/>
            </a:pPr>
            <a:r>
              <a:rPr lang="en-US" sz="2600" b="0" i="0" u="sng" strike="noStrike" cap="none">
                <a:solidFill>
                  <a:srgbClr val="3333FF"/>
                </a:solidFill>
                <a:highlight>
                  <a:srgbClr val="00FF00"/>
                </a:highlight>
                <a:latin typeface="Arial"/>
                <a:ea typeface="Arial"/>
                <a:cs typeface="Arial"/>
              </a:rPr>
              <a:t>Interact or sociability</a:t>
            </a:r>
            <a:r>
              <a:rPr lang="en-US" sz="2600" b="0" i="0" u="sng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2600" b="0" i="0" u="none" strike="noStrike" cap="none">
                <a:solidFill>
                  <a:srgbClr val="3333FF"/>
                </a:solidFill>
                <a:latin typeface="Arial"/>
                <a:ea typeface="Arial"/>
                <a:cs typeface="Arial"/>
              </a:rPr>
              <a:t>(cooperate, coordinate, negotiate)</a:t>
            </a:r>
            <a:endParaRPr/>
          </a:p>
          <a:p>
            <a:pPr marL="669925" marR="0" lvl="1" indent="-24161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None/>
              <a:defRPr/>
            </a:pPr>
            <a:endParaRPr sz="2200" b="0" i="0" u="none" strike="noStrike" cap="none">
              <a:solidFill>
                <a:srgbClr val="3333FF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690"/>
              <a:buFont typeface="Noto Sans Symbols"/>
              <a:buNone/>
              <a:defRPr/>
            </a:pPr>
            <a:endParaRPr sz="2600" b="0" i="0" u="none" strike="noStrike" cap="none">
              <a:solidFill>
                <a:srgbClr val="3333FF"/>
              </a:solidFill>
              <a:latin typeface="Arial"/>
              <a:ea typeface="Arial"/>
              <a:cs typeface="Arial"/>
            </a:endParaRPr>
          </a:p>
          <a:p>
            <a:pPr marL="669925" marR="0" lvl="1" indent="-241618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1320"/>
              <a:buFont typeface="Noto Sans Symbols"/>
              <a:buNone/>
              <a:defRPr/>
            </a:pPr>
            <a:endParaRPr sz="2200" b="0" i="0" u="none" strike="noStrike" cap="none">
              <a:solidFill>
                <a:srgbClr val="3333FF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900506" name="Google Shape;1161;p107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2058443761" name="Google Shape;1162;p107"/>
          <p:cNvSpPr txBox="1"/>
          <p:nvPr/>
        </p:nvSpPr>
        <p:spPr bwMode="auto">
          <a:xfrm>
            <a:off x="9601200" y="1828800"/>
            <a:ext cx="3211512" cy="258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Think of an Agent application 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for Planning a batch-trip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Location Agent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Transportation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Accommodation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Costing agent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928232" name="Google Shape;1167;p108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Exercise</a:t>
            </a:r>
            <a:endParaRPr/>
          </a:p>
        </p:txBody>
      </p:sp>
      <p:sp>
        <p:nvSpPr>
          <p:cNvPr id="1009581797" name="Google Shape;1168;p108"/>
          <p:cNvSpPr txBox="1"/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Considering the following entities as agents, describe features of agent technology.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security officer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Self-driving car 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rgbClr val="0070C0"/>
                </a:solidFill>
                <a:latin typeface="Arial"/>
                <a:ea typeface="Arial"/>
                <a:cs typeface="Arial"/>
              </a:rPr>
              <a:t>Savant at home</a:t>
            </a:r>
            <a:endParaRPr/>
          </a:p>
          <a:p>
            <a:pPr marL="342900" marR="0" lvl="0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  <a:p>
            <a:pPr marL="342900" marR="0" lvl="0" indent="-219074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  <a:defRPr/>
            </a:pPr>
            <a:endParaRPr sz="3000" b="0" i="0" u="none">
              <a:solidFill>
                <a:srgbClr val="0070C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1800131" name="Google Shape;1169;p108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608364" name="Google Shape;1174;p109"/>
          <p:cNvSpPr txBox="1"/>
          <p:nvPr>
            <p:ph type="title"/>
          </p:nvPr>
        </p:nvSpPr>
        <p:spPr bwMode="auto"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  <a:defRPr/>
            </a:pPr>
            <a:r>
              <a:rPr lang="en-US" sz="4200" b="0" i="0" u="none">
                <a:solidFill>
                  <a:schemeClr val="dk2"/>
                </a:solidFill>
                <a:latin typeface="Garamond"/>
                <a:ea typeface="Garamond"/>
                <a:cs typeface="Garamond"/>
              </a:rPr>
              <a:t>Exercise </a:t>
            </a:r>
            <a:endParaRPr/>
          </a:p>
        </p:txBody>
      </p:sp>
      <p:sp>
        <p:nvSpPr>
          <p:cNvPr id="2029232509" name="Google Shape;1175;p109"/>
          <p:cNvSpPr txBox="1"/>
          <p:nvPr>
            <p:ph type="body" idx="1"/>
          </p:nvPr>
        </p:nvSpPr>
        <p:spPr bwMode="auto">
          <a:xfrm>
            <a:off x="471487" y="1116012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/>
            </a:pPr>
            <a:r>
              <a:rPr lang="en-US" sz="30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Develop a concept map for this section of the module.</a:t>
            </a:r>
            <a:endParaRPr/>
          </a:p>
        </p:txBody>
      </p:sp>
      <p:sp>
        <p:nvSpPr>
          <p:cNvPr id="910274441" name="Google Shape;1176;p109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sp>
        <p:nvSpPr>
          <p:cNvPr id="988663319" name="Google Shape;1177;p109"/>
          <p:cNvSpPr/>
          <p:nvPr/>
        </p:nvSpPr>
        <p:spPr bwMode="auto">
          <a:xfrm>
            <a:off x="-1781175" y="5191125"/>
            <a:ext cx="1819275" cy="1381125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XCON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DART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DeepB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Pathfinder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700" b="0" i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201746" name="Google Shape;1178;p109"/>
          <p:cNvSpPr/>
          <p:nvPr/>
        </p:nvSpPr>
        <p:spPr bwMode="auto">
          <a:xfrm>
            <a:off x="-739775" y="2047875"/>
            <a:ext cx="1905000" cy="609600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Foundation</a:t>
            </a:r>
            <a:endParaRPr/>
          </a:p>
        </p:txBody>
      </p:sp>
      <p:sp>
        <p:nvSpPr>
          <p:cNvPr id="1720498643" name="Google Shape;1179;p109"/>
          <p:cNvSpPr/>
          <p:nvPr/>
        </p:nvSpPr>
        <p:spPr bwMode="auto">
          <a:xfrm>
            <a:off x="8853487" y="3914775"/>
            <a:ext cx="2409825" cy="962025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representation</a:t>
            </a:r>
            <a:endParaRPr/>
          </a:p>
        </p:txBody>
      </p:sp>
      <p:sp>
        <p:nvSpPr>
          <p:cNvPr id="1057133723" name="Google Shape;1180;p109"/>
          <p:cNvSpPr/>
          <p:nvPr/>
        </p:nvSpPr>
        <p:spPr bwMode="auto">
          <a:xfrm>
            <a:off x="5991225" y="4799012"/>
            <a:ext cx="2019300" cy="609600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Major Areas</a:t>
            </a:r>
            <a:endParaRPr/>
          </a:p>
        </p:txBody>
      </p:sp>
      <p:sp>
        <p:nvSpPr>
          <p:cNvPr id="1441730215" name="Google Shape;1181;p109"/>
          <p:cNvSpPr/>
          <p:nvPr/>
        </p:nvSpPr>
        <p:spPr bwMode="auto">
          <a:xfrm>
            <a:off x="7627937" y="3013075"/>
            <a:ext cx="1524000" cy="609600"/>
          </a:xfrm>
          <a:prstGeom prst="ellipse">
            <a:avLst/>
          </a:prstGeom>
          <a:solidFill>
            <a:srgbClr val="00B05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</a:t>
            </a:r>
            <a:endParaRPr/>
          </a:p>
        </p:txBody>
      </p:sp>
      <p:sp>
        <p:nvSpPr>
          <p:cNvPr id="1673111079" name="Google Shape;1182;p109"/>
          <p:cNvSpPr/>
          <p:nvPr/>
        </p:nvSpPr>
        <p:spPr bwMode="auto">
          <a:xfrm>
            <a:off x="1670050" y="2222500"/>
            <a:ext cx="1219200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History of AI</a:t>
            </a:r>
            <a:endParaRPr/>
          </a:p>
        </p:txBody>
      </p:sp>
      <p:sp>
        <p:nvSpPr>
          <p:cNvPr id="121008106" name="Google Shape;1183;p109"/>
          <p:cNvSpPr/>
          <p:nvPr/>
        </p:nvSpPr>
        <p:spPr bwMode="auto">
          <a:xfrm>
            <a:off x="-622300" y="4457700"/>
            <a:ext cx="1860550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symbolic</a:t>
            </a:r>
            <a:endParaRPr/>
          </a:p>
        </p:txBody>
      </p:sp>
      <p:sp>
        <p:nvSpPr>
          <p:cNvPr id="1297679183" name="Google Shape;1184;p109"/>
          <p:cNvSpPr/>
          <p:nvPr/>
        </p:nvSpPr>
        <p:spPr bwMode="auto">
          <a:xfrm>
            <a:off x="1630362" y="3330575"/>
            <a:ext cx="1852612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Non-symbolic</a:t>
            </a:r>
            <a:endParaRPr/>
          </a:p>
        </p:txBody>
      </p:sp>
      <p:sp>
        <p:nvSpPr>
          <p:cNvPr id="668739693" name="Google Shape;1185;p109"/>
          <p:cNvSpPr/>
          <p:nvPr/>
        </p:nvSpPr>
        <p:spPr bwMode="auto">
          <a:xfrm>
            <a:off x="1019174" y="5073650"/>
            <a:ext cx="1981200" cy="808037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schools of thoughts</a:t>
            </a:r>
            <a:endParaRPr/>
          </a:p>
        </p:txBody>
      </p:sp>
      <p:sp>
        <p:nvSpPr>
          <p:cNvPr id="917059397" name="Google Shape;1186;p109"/>
          <p:cNvSpPr/>
          <p:nvPr/>
        </p:nvSpPr>
        <p:spPr bwMode="auto">
          <a:xfrm>
            <a:off x="-2286000" y="1417637"/>
            <a:ext cx="1219200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TT</a:t>
            </a:r>
            <a:endParaRPr/>
          </a:p>
        </p:txBody>
      </p:sp>
      <p:sp>
        <p:nvSpPr>
          <p:cNvPr id="832792880" name="Google Shape;1187;p109"/>
          <p:cNvSpPr/>
          <p:nvPr/>
        </p:nvSpPr>
        <p:spPr bwMode="auto">
          <a:xfrm>
            <a:off x="-2466975" y="2730500"/>
            <a:ext cx="1852612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Chinese room</a:t>
            </a:r>
            <a:endParaRPr/>
          </a:p>
        </p:txBody>
      </p:sp>
      <p:sp>
        <p:nvSpPr>
          <p:cNvPr id="1097442148" name="Google Shape;1188;p109"/>
          <p:cNvSpPr/>
          <p:nvPr/>
        </p:nvSpPr>
        <p:spPr bwMode="auto">
          <a:xfrm>
            <a:off x="-2133600" y="3741737"/>
            <a:ext cx="1219200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</a:t>
            </a:r>
            <a:endParaRPr/>
          </a:p>
        </p:txBody>
      </p:sp>
      <p:sp>
        <p:nvSpPr>
          <p:cNvPr id="368751286" name="Google Shape;1189;p109"/>
          <p:cNvSpPr/>
          <p:nvPr/>
        </p:nvSpPr>
        <p:spPr bwMode="auto">
          <a:xfrm>
            <a:off x="-571500" y="3213100"/>
            <a:ext cx="1851025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AI Techniques</a:t>
            </a:r>
            <a:endParaRPr/>
          </a:p>
        </p:txBody>
      </p:sp>
      <p:cxnSp>
        <p:nvCxnSpPr>
          <p:cNvPr id="1138571775" name="Google Shape;1190;p109"/>
          <p:cNvCxnSpPr/>
          <p:nvPr/>
        </p:nvCxnSpPr>
        <p:spPr bwMode="auto">
          <a:xfrm rot="10800000">
            <a:off x="-1244600" y="1938337"/>
            <a:ext cx="558800" cy="271462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86057398" name="Google Shape;1191;p109"/>
          <p:cNvCxnSpPr/>
          <p:nvPr/>
        </p:nvCxnSpPr>
        <p:spPr bwMode="auto">
          <a:xfrm>
            <a:off x="354012" y="2722562"/>
            <a:ext cx="0" cy="490536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31070405" name="Google Shape;1192;p109"/>
          <p:cNvCxnSpPr/>
          <p:nvPr/>
        </p:nvCxnSpPr>
        <p:spPr bwMode="auto">
          <a:xfrm>
            <a:off x="1279525" y="3517900"/>
            <a:ext cx="350837" cy="117475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91754386" name="Google Shape;1193;p109"/>
          <p:cNvCxnSpPr/>
          <p:nvPr/>
        </p:nvCxnSpPr>
        <p:spPr bwMode="auto">
          <a:xfrm>
            <a:off x="212725" y="3940175"/>
            <a:ext cx="0" cy="490536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763236583" name="Google Shape;1194;p109"/>
          <p:cNvCxnSpPr/>
          <p:nvPr/>
        </p:nvCxnSpPr>
        <p:spPr bwMode="auto">
          <a:xfrm flipH="1">
            <a:off x="2373312" y="3960812"/>
            <a:ext cx="157162" cy="1058862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256892016" name="Google Shape;1195;p109"/>
          <p:cNvCxnSpPr/>
          <p:nvPr/>
        </p:nvCxnSpPr>
        <p:spPr bwMode="auto">
          <a:xfrm>
            <a:off x="1238250" y="4870450"/>
            <a:ext cx="431799" cy="19685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868154833" name="Google Shape;1196;p109"/>
          <p:cNvSpPr/>
          <p:nvPr/>
        </p:nvSpPr>
        <p:spPr bwMode="auto">
          <a:xfrm>
            <a:off x="2963862" y="1620837"/>
            <a:ext cx="4656137" cy="14605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McCarthy-Princeton-CMU-MIT-Stanford (ES) + CMU (Game/ALVIN)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Minsky-Princeton-MIT (NLP)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Intelligence - Knowledge</a:t>
            </a:r>
            <a:endParaRPr/>
          </a:p>
        </p:txBody>
      </p:sp>
      <p:sp>
        <p:nvSpPr>
          <p:cNvPr id="1014920397" name="Google Shape;1197;p109"/>
          <p:cNvSpPr txBox="1"/>
          <p:nvPr/>
        </p:nvSpPr>
        <p:spPr bwMode="auto">
          <a:xfrm>
            <a:off x="1447800" y="152400"/>
            <a:ext cx="3079750" cy="1239837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1.Turing Machine (1936) – computability2.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2. Breaking ENIGMA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3. Paper - Computing Machinery and Intelligence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4. Turing Test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0890022" name="Google Shape;1198;p109"/>
          <p:cNvSpPr/>
          <p:nvPr/>
        </p:nvSpPr>
        <p:spPr bwMode="auto">
          <a:xfrm>
            <a:off x="5326062" y="3576637"/>
            <a:ext cx="1219200" cy="609600"/>
          </a:xfrm>
          <a:prstGeom prst="ellipse">
            <a:avLst/>
          </a:prstGeom>
          <a:solidFill>
            <a:srgbClr val="0070C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IT5421</a:t>
            </a:r>
            <a:endParaRPr/>
          </a:p>
        </p:txBody>
      </p:sp>
      <p:sp>
        <p:nvSpPr>
          <p:cNvPr id="116975069" name="Google Shape;1199;p109"/>
          <p:cNvSpPr/>
          <p:nvPr/>
        </p:nvSpPr>
        <p:spPr bwMode="auto">
          <a:xfrm>
            <a:off x="2889250" y="4117975"/>
            <a:ext cx="2232025" cy="1381125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ALVIN</a:t>
            </a:r>
            <a:b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AlphaGo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Watson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Google Assistant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GTP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/>
            </a:pPr>
            <a:endParaRPr sz="1700" b="0" i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/>
            </a:pPr>
            <a:endParaRPr sz="1700" b="0" i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PT</a:t>
            </a:r>
            <a:endParaRPr/>
          </a:p>
        </p:txBody>
      </p:sp>
      <p:cxnSp>
        <p:nvCxnSpPr>
          <p:cNvPr id="458161113" name="Google Shape;1200;p109"/>
          <p:cNvCxnSpPr/>
          <p:nvPr/>
        </p:nvCxnSpPr>
        <p:spPr bwMode="auto">
          <a:xfrm rot="10800000">
            <a:off x="838200" y="2657475"/>
            <a:ext cx="4438650" cy="1125537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654209747" name="Google Shape;1201;p109"/>
          <p:cNvCxnSpPr/>
          <p:nvPr/>
        </p:nvCxnSpPr>
        <p:spPr bwMode="auto">
          <a:xfrm rot="10800000" flipH="1">
            <a:off x="5865812" y="3473450"/>
            <a:ext cx="1774825" cy="385762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536894555" name="Google Shape;1202;p109"/>
          <p:cNvCxnSpPr/>
          <p:nvPr/>
        </p:nvCxnSpPr>
        <p:spPr bwMode="auto">
          <a:xfrm>
            <a:off x="5656262" y="3817937"/>
            <a:ext cx="992187" cy="95250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948760159" name="Google Shape;1203;p109"/>
          <p:cNvCxnSpPr/>
          <p:nvPr/>
        </p:nvCxnSpPr>
        <p:spPr bwMode="auto">
          <a:xfrm>
            <a:off x="5656262" y="3817937"/>
            <a:ext cx="3133725" cy="414337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794323688" name="Google Shape;1204;p109"/>
          <p:cNvCxnSpPr/>
          <p:nvPr/>
        </p:nvCxnSpPr>
        <p:spPr bwMode="auto">
          <a:xfrm>
            <a:off x="2809875" y="3779837"/>
            <a:ext cx="671512" cy="354012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514880025" name="Google Shape;1205;p109"/>
          <p:cNvCxnSpPr/>
          <p:nvPr/>
        </p:nvCxnSpPr>
        <p:spPr bwMode="auto">
          <a:xfrm flipH="1">
            <a:off x="1165225" y="3940175"/>
            <a:ext cx="1390650" cy="655637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434387615" name="Google Shape;1206;p109"/>
          <p:cNvSpPr/>
          <p:nvPr/>
        </p:nvSpPr>
        <p:spPr bwMode="auto">
          <a:xfrm>
            <a:off x="7148512" y="769937"/>
            <a:ext cx="2790824" cy="944562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State/Action/Path/</a:t>
            </a:r>
            <a:endParaRPr/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Goal</a:t>
            </a:r>
            <a:endParaRPr/>
          </a:p>
        </p:txBody>
      </p:sp>
      <p:sp>
        <p:nvSpPr>
          <p:cNvPr id="1180290699" name="Google Shape;1207;p109"/>
          <p:cNvSpPr/>
          <p:nvPr/>
        </p:nvSpPr>
        <p:spPr bwMode="auto">
          <a:xfrm>
            <a:off x="10310812" y="814387"/>
            <a:ext cx="1219200" cy="60325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space</a:t>
            </a:r>
            <a:endParaRPr/>
          </a:p>
        </p:txBody>
      </p:sp>
      <p:sp>
        <p:nvSpPr>
          <p:cNvPr id="514666567" name="Google Shape;1208;p109"/>
          <p:cNvSpPr/>
          <p:nvPr/>
        </p:nvSpPr>
        <p:spPr bwMode="auto">
          <a:xfrm>
            <a:off x="8389937" y="2006600"/>
            <a:ext cx="2790824" cy="60325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algorithms</a:t>
            </a:r>
            <a:endParaRPr/>
          </a:p>
        </p:txBody>
      </p:sp>
      <p:sp>
        <p:nvSpPr>
          <p:cNvPr id="2142415049" name="Google Shape;1209;p109"/>
          <p:cNvSpPr/>
          <p:nvPr/>
        </p:nvSpPr>
        <p:spPr bwMode="auto">
          <a:xfrm>
            <a:off x="9402762" y="2786062"/>
            <a:ext cx="1690687" cy="604837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Evaluation</a:t>
            </a:r>
            <a:endParaRPr/>
          </a:p>
        </p:txBody>
      </p:sp>
      <p:sp>
        <p:nvSpPr>
          <p:cNvPr id="632337228" name="Google Shape;1210;p109"/>
          <p:cNvSpPr/>
          <p:nvPr/>
        </p:nvSpPr>
        <p:spPr bwMode="auto">
          <a:xfrm>
            <a:off x="9421812" y="3465512"/>
            <a:ext cx="403225" cy="276225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  <a:endParaRPr/>
          </a:p>
        </p:txBody>
      </p:sp>
      <p:sp>
        <p:nvSpPr>
          <p:cNvPr id="713991666" name="Google Shape;1211;p109"/>
          <p:cNvSpPr/>
          <p:nvPr/>
        </p:nvSpPr>
        <p:spPr bwMode="auto">
          <a:xfrm>
            <a:off x="9906000" y="3505199"/>
            <a:ext cx="404812" cy="276225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</a:t>
            </a:r>
            <a:endParaRPr/>
          </a:p>
        </p:txBody>
      </p:sp>
      <p:sp>
        <p:nvSpPr>
          <p:cNvPr id="1549650491" name="Google Shape;1212;p109"/>
          <p:cNvSpPr/>
          <p:nvPr/>
        </p:nvSpPr>
        <p:spPr bwMode="auto">
          <a:xfrm>
            <a:off x="10415587" y="3484562"/>
            <a:ext cx="404812" cy="276225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  <a:endParaRPr/>
          </a:p>
        </p:txBody>
      </p:sp>
      <p:sp>
        <p:nvSpPr>
          <p:cNvPr id="1349247497" name="Google Shape;1213;p109"/>
          <p:cNvSpPr/>
          <p:nvPr/>
        </p:nvSpPr>
        <p:spPr bwMode="auto">
          <a:xfrm>
            <a:off x="10948987" y="3505199"/>
            <a:ext cx="404812" cy="276225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  <a:endParaRPr/>
          </a:p>
        </p:txBody>
      </p:sp>
      <p:sp>
        <p:nvSpPr>
          <p:cNvPr id="1147672789" name="Google Shape;1214;p109"/>
          <p:cNvSpPr/>
          <p:nvPr/>
        </p:nvSpPr>
        <p:spPr bwMode="auto">
          <a:xfrm>
            <a:off x="11236325" y="1662111"/>
            <a:ext cx="1947861" cy="442912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Informed (2)</a:t>
            </a:r>
            <a:endParaRPr/>
          </a:p>
        </p:txBody>
      </p:sp>
      <p:sp>
        <p:nvSpPr>
          <p:cNvPr id="1494318270" name="Google Shape;1215;p109"/>
          <p:cNvSpPr/>
          <p:nvPr/>
        </p:nvSpPr>
        <p:spPr bwMode="auto">
          <a:xfrm>
            <a:off x="11093450" y="2509837"/>
            <a:ext cx="2311399" cy="474662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Uninformed (6)</a:t>
            </a:r>
            <a:endParaRPr/>
          </a:p>
        </p:txBody>
      </p:sp>
      <p:cxnSp>
        <p:nvCxnSpPr>
          <p:cNvPr id="385880166" name="Google Shape;1216;p109"/>
          <p:cNvCxnSpPr/>
          <p:nvPr/>
        </p:nvCxnSpPr>
        <p:spPr bwMode="auto">
          <a:xfrm rot="10800000" flipH="1">
            <a:off x="11093450" y="2057400"/>
            <a:ext cx="260350" cy="15240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363394857" name="Google Shape;1217;p109"/>
          <p:cNvCxnSpPr/>
          <p:nvPr/>
        </p:nvCxnSpPr>
        <p:spPr bwMode="auto">
          <a:xfrm>
            <a:off x="10964862" y="2478087"/>
            <a:ext cx="271462" cy="165100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277556295" name="Google Shape;1218;p109"/>
          <p:cNvCxnSpPr/>
          <p:nvPr/>
        </p:nvCxnSpPr>
        <p:spPr bwMode="auto">
          <a:xfrm>
            <a:off x="10453687" y="2643187"/>
            <a:ext cx="161925" cy="138112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554650302" name="Google Shape;1219;p109"/>
          <p:cNvSpPr/>
          <p:nvPr/>
        </p:nvSpPr>
        <p:spPr bwMode="auto">
          <a:xfrm>
            <a:off x="11830050" y="701675"/>
            <a:ext cx="1219200" cy="604837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OPEN/Closed</a:t>
            </a:r>
            <a:endParaRPr/>
          </a:p>
        </p:txBody>
      </p:sp>
      <p:cxnSp>
        <p:nvCxnSpPr>
          <p:cNvPr id="1249729464" name="Google Shape;1220;p109"/>
          <p:cNvCxnSpPr/>
          <p:nvPr/>
        </p:nvCxnSpPr>
        <p:spPr bwMode="auto">
          <a:xfrm rot="10800000" flipH="1">
            <a:off x="10615612" y="1116012"/>
            <a:ext cx="1214437" cy="911225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685281579" name="Google Shape;1221;p109"/>
          <p:cNvSpPr/>
          <p:nvPr/>
        </p:nvSpPr>
        <p:spPr bwMode="auto">
          <a:xfrm>
            <a:off x="13311187" y="1166812"/>
            <a:ext cx="404812" cy="277812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G</a:t>
            </a:r>
            <a:endParaRPr/>
          </a:p>
        </p:txBody>
      </p:sp>
      <p:sp>
        <p:nvSpPr>
          <p:cNvPr id="103143462" name="Google Shape;1222;p109"/>
          <p:cNvSpPr/>
          <p:nvPr/>
        </p:nvSpPr>
        <p:spPr bwMode="auto">
          <a:xfrm>
            <a:off x="13184187" y="1989137"/>
            <a:ext cx="622300" cy="474662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A*</a:t>
            </a:r>
            <a:endParaRPr/>
          </a:p>
        </p:txBody>
      </p:sp>
      <p:sp>
        <p:nvSpPr>
          <p:cNvPr id="1869329513" name="Google Shape;1223;p109"/>
          <p:cNvSpPr/>
          <p:nvPr/>
        </p:nvSpPr>
        <p:spPr bwMode="auto">
          <a:xfrm>
            <a:off x="12212637" y="3344862"/>
            <a:ext cx="969962" cy="277812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BF</a:t>
            </a:r>
            <a:endParaRPr/>
          </a:p>
        </p:txBody>
      </p:sp>
      <p:sp>
        <p:nvSpPr>
          <p:cNvPr id="1231227685" name="Google Shape;1224;p109"/>
          <p:cNvSpPr/>
          <p:nvPr/>
        </p:nvSpPr>
        <p:spPr bwMode="auto">
          <a:xfrm>
            <a:off x="-1581150" y="373062"/>
            <a:ext cx="1830387" cy="885825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Influential Areas</a:t>
            </a:r>
            <a:endParaRPr/>
          </a:p>
        </p:txBody>
      </p:sp>
      <p:cxnSp>
        <p:nvCxnSpPr>
          <p:cNvPr id="1735819785" name="Google Shape;1225;p109"/>
          <p:cNvCxnSpPr/>
          <p:nvPr/>
        </p:nvCxnSpPr>
        <p:spPr bwMode="auto">
          <a:xfrm rot="10800000">
            <a:off x="-228600" y="1258887"/>
            <a:ext cx="266700" cy="798512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837472525" name="Google Shape;1226;p109"/>
          <p:cNvSpPr/>
          <p:nvPr/>
        </p:nvSpPr>
        <p:spPr bwMode="auto">
          <a:xfrm>
            <a:off x="11374437" y="4151312"/>
            <a:ext cx="2646362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Representation</a:t>
            </a:r>
            <a:endParaRPr/>
          </a:p>
        </p:txBody>
      </p:sp>
      <p:sp>
        <p:nvSpPr>
          <p:cNvPr id="633178282" name="Google Shape;1227;p109"/>
          <p:cNvSpPr/>
          <p:nvPr/>
        </p:nvSpPr>
        <p:spPr bwMode="auto">
          <a:xfrm>
            <a:off x="11707812" y="4995862"/>
            <a:ext cx="1981200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Inference</a:t>
            </a:r>
            <a:endParaRPr/>
          </a:p>
        </p:txBody>
      </p:sp>
      <p:sp>
        <p:nvSpPr>
          <p:cNvPr id="253844476" name="Google Shape;1228;p109"/>
          <p:cNvSpPr/>
          <p:nvPr/>
        </p:nvSpPr>
        <p:spPr bwMode="auto">
          <a:xfrm>
            <a:off x="8966200" y="5126037"/>
            <a:ext cx="2646362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Techniques</a:t>
            </a:r>
            <a:endParaRPr/>
          </a:p>
        </p:txBody>
      </p:sp>
      <p:sp>
        <p:nvSpPr>
          <p:cNvPr id="38666303" name="Google Shape;1229;p109"/>
          <p:cNvSpPr/>
          <p:nvPr/>
        </p:nvSpPr>
        <p:spPr bwMode="auto">
          <a:xfrm>
            <a:off x="9024937" y="5962650"/>
            <a:ext cx="1331912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Logic</a:t>
            </a:r>
            <a:endParaRPr/>
          </a:p>
        </p:txBody>
      </p:sp>
      <p:sp>
        <p:nvSpPr>
          <p:cNvPr id="1948206925" name="Google Shape;1230;p109"/>
          <p:cNvSpPr/>
          <p:nvPr/>
        </p:nvSpPr>
        <p:spPr bwMode="auto">
          <a:xfrm>
            <a:off x="10598150" y="5989637"/>
            <a:ext cx="1330325" cy="609600"/>
          </a:xfrm>
          <a:prstGeom prst="ellipse">
            <a:avLst/>
          </a:prstGeom>
          <a:solidFill>
            <a:srgbClr val="7030A0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Rules</a:t>
            </a:r>
            <a:endParaRPr/>
          </a:p>
        </p:txBody>
      </p:sp>
      <p:sp>
        <p:nvSpPr>
          <p:cNvPr id="1689516179" name="Google Shape;1231;p109"/>
          <p:cNvSpPr/>
          <p:nvPr/>
        </p:nvSpPr>
        <p:spPr bwMode="auto">
          <a:xfrm>
            <a:off x="12072937" y="5962650"/>
            <a:ext cx="1331912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SN</a:t>
            </a:r>
            <a:endParaRPr/>
          </a:p>
        </p:txBody>
      </p:sp>
      <p:sp>
        <p:nvSpPr>
          <p:cNvPr id="1844445951" name="Google Shape;1232;p109"/>
          <p:cNvSpPr/>
          <p:nvPr/>
        </p:nvSpPr>
        <p:spPr bwMode="auto">
          <a:xfrm>
            <a:off x="4649787" y="5437187"/>
            <a:ext cx="1938337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Techniques</a:t>
            </a:r>
            <a:endParaRPr/>
          </a:p>
        </p:txBody>
      </p:sp>
      <p:sp>
        <p:nvSpPr>
          <p:cNvPr id="1392706185" name="Google Shape;1233;p109"/>
          <p:cNvSpPr/>
          <p:nvPr/>
        </p:nvSpPr>
        <p:spPr bwMode="auto">
          <a:xfrm>
            <a:off x="7108825" y="5548312"/>
            <a:ext cx="1763712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Application</a:t>
            </a:r>
            <a:endParaRPr/>
          </a:p>
        </p:txBody>
      </p:sp>
      <p:sp>
        <p:nvSpPr>
          <p:cNvPr id="1818786797" name="Google Shape;1234;p109"/>
          <p:cNvSpPr/>
          <p:nvPr/>
        </p:nvSpPr>
        <p:spPr bwMode="auto">
          <a:xfrm>
            <a:off x="5802312" y="6157912"/>
            <a:ext cx="1506537" cy="6096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956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  <a:defRPr/>
            </a:pPr>
            <a:r>
              <a:rPr lang="en-US" sz="17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</a:t>
            </a:r>
            <a:endParaRPr/>
          </a:p>
        </p:txBody>
      </p:sp>
      <p:cxnSp>
        <p:nvCxnSpPr>
          <p:cNvPr id="9230076" name="Google Shape;1235;p109"/>
          <p:cNvCxnSpPr/>
          <p:nvPr/>
        </p:nvCxnSpPr>
        <p:spPr bwMode="auto">
          <a:xfrm>
            <a:off x="520700" y="2670175"/>
            <a:ext cx="5783262" cy="2128837"/>
          </a:xfrm>
          <a:prstGeom prst="straightConnector1">
            <a:avLst/>
          </a:prstGeom>
          <a:noFill/>
          <a:ln w="9525" cap="flat" cmpd="sng">
            <a:solidFill>
              <a:srgbClr val="CC9800"/>
            </a:solidFill>
            <a:prstDash val="solid"/>
            <a:miter lim="800000"/>
            <a:headEnd type="non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253215" name="Google Shape;1240;p110"/>
          <p:cNvSpPr txBox="1"/>
          <p:nvPr>
            <p:ph type="title"/>
          </p:nvPr>
        </p:nvSpPr>
        <p:spPr bwMode="auto">
          <a:xfrm>
            <a:off x="457200" y="307975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4200"/>
              <a:buFont typeface="Garamond"/>
              <a:buNone/>
              <a:defRPr/>
            </a:pPr>
            <a:r>
              <a:rPr lang="en-US" sz="4200" b="1" i="0" u="none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Two ways of </a:t>
            </a:r>
            <a:r>
              <a:rPr lang="en-US" sz="4200" b="1" i="0" u="sng">
                <a:solidFill>
                  <a:srgbClr val="00B050"/>
                </a:solidFill>
                <a:latin typeface="Garamond"/>
                <a:ea typeface="Garamond"/>
                <a:cs typeface="Garamond"/>
              </a:rPr>
              <a:t>Intelligence</a:t>
            </a:r>
            <a:endParaRPr/>
          </a:p>
        </p:txBody>
      </p:sp>
      <p:sp>
        <p:nvSpPr>
          <p:cNvPr id="1230478854" name="Google Shape;1241;p110"/>
          <p:cNvSpPr txBox="1"/>
          <p:nvPr/>
        </p:nvSpPr>
        <p:spPr bwMode="auto"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/>
            </a:pPr>
            <a:fld id="{00000000-1234-1234-1234-123412341234}" type="slidenum">
              <a:rPr lang="en-US" sz="1200" b="0" i="0" u="none">
                <a:solidFill>
                  <a:schemeClr val="dk1"/>
                </a:solidFill>
                <a:latin typeface="Garamond"/>
                <a:ea typeface="Garamond"/>
                <a:cs typeface="Garamond"/>
              </a:rPr>
              <a:t>‹#›</a:t>
            </a:fld>
            <a:endParaRPr/>
          </a:p>
        </p:txBody>
      </p:sp>
      <p:pic>
        <p:nvPicPr>
          <p:cNvPr id="1218295764" name="Google Shape;1242;p110" descr="Right Brain Development - Left Brain Right Brain Kids, HD Png Download -  kindpng"/>
          <p:cNvPicPr/>
          <p:nvPr>
            <p:ph type="body" idx="1"/>
          </p:nvPr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95300" y="1117600"/>
            <a:ext cx="8191500" cy="43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4935817" name="Google Shape;1243;p110"/>
          <p:cNvSpPr txBox="1"/>
          <p:nvPr/>
        </p:nvSpPr>
        <p:spPr bwMode="auto">
          <a:xfrm>
            <a:off x="-2133600" y="1219200"/>
            <a:ext cx="1890712" cy="424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Logica/analytical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Symbolic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Algorithmic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Formal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ACS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ES (XCON)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ELIZA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TT (Deep Blue)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NLP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Games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Robotics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Knowledge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Turing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353995" name="Google Shape;1244;p110"/>
          <p:cNvSpPr txBox="1"/>
          <p:nvPr/>
        </p:nvSpPr>
        <p:spPr bwMode="auto">
          <a:xfrm>
            <a:off x="9601200" y="1195387"/>
            <a:ext cx="1916112" cy="452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Training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Non-Symbolic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Non-Algorithmic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Informal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ML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ES (Watson)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Google Assistant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TT (AlphaGo)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NLP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Games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Robotics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Data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Font typeface="Arial"/>
              <a:buNone/>
              <a:defRPr/>
            </a:pPr>
            <a:r>
              <a:rPr lang="en-US" sz="1800" b="0" i="0" u="none">
                <a:solidFill>
                  <a:srgbClr val="FFFF00"/>
                </a:solidFill>
                <a:latin typeface="Arial"/>
                <a:ea typeface="Arial"/>
                <a:cs typeface="Arial"/>
              </a:rPr>
              <a:t>Samuel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>
              <a:solidFill>
                <a:srgbClr val="FFFF00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110</Slides>
  <Notes>110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110</vt:i4>
      </vt:variant>
    </vt:vector>
  </HeadingPairs>
  <TitlesOfParts>
    <vt:vector size="112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Prof. Karunananda</dc:creator>
  <cp:lastModifiedBy/>
  <cp:revision>1</cp:revision>
  <dcterms:created xsi:type="dcterms:W3CDTF">1601-01-01T00:00:00Z</dcterms:created>
  <dcterms:modified xsi:type="dcterms:W3CDTF">2025-09-15T15:58:03Z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